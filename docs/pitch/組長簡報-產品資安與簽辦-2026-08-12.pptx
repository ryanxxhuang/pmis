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開場：今天想講三件事——功能、資安、簽辦。重點在最後一頁的四個問題，特別是引薦計網中心。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這頁講完直接問引薦。這是今天最重要的一個 ask。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收尾一定要問到這四題。第四題（引薦計網中心）價值最高。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Microsoft JhengHe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封面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01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公共工程專案管理　·　雲端訂閱服務（SaaS）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10578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46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每一個承辦人，</a:t>
            </a:r>
            <a:endParaRPr lang="en-US" sz="4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6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配一個懂他業務的 Agent。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66928" y="395020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這份簡報講三件事：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系統有哪些功能</a:t>
            </a:r>
            <a:pPr indent="0" marL="0">
              <a:buNone/>
            </a:pPr>
            <a:r>
              <a:rPr lang="en-US" sz="17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、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資安怎麼過</a:t>
            </a:r>
            <a:pPr indent="0" marL="0">
              <a:buNone/>
            </a:pPr>
            <a:r>
              <a:rPr lang="en-US" sz="17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、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簽辦要引哪些規範</a:t>
            </a:r>
            <a:pPr indent="0" marL="0">
              <a:buNone/>
            </a:pPr>
            <a:r>
              <a:rPr lang="en-US" sz="17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512064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　·　2026 年 8 月 12 日　·　中央大學總務處營繕組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導覽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02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本簡報架構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把三個問題一次講完。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42991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664208"/>
            <a:ext cx="1186434" cy="237744"/>
          </a:xfrm>
          <a:prstGeom prst="roundRect">
            <a:avLst>
              <a:gd name="adj" fmla="val 11538"/>
            </a:avLst>
          </a:prstGeom>
          <a:solidFill>
            <a:srgbClr val="E5EEF5"/>
          </a:solidFill>
          <a:ln>
            <a:solidFill>
              <a:srgbClr val="E5EE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P04–P09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20116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系統有哪些功能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02757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九個功能面、十六個可獨立開關的 AI 模組、四個角色各一個 Agent。重點在「少輸入、多產出」。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0890" y="1517904"/>
            <a:ext cx="342991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82058" y="1664208"/>
            <a:ext cx="1186434" cy="237744"/>
          </a:xfrm>
          <a:prstGeom prst="roundRect">
            <a:avLst>
              <a:gd name="adj" fmla="val 11538"/>
            </a:avLst>
          </a:prstGeom>
          <a:solidFill>
            <a:srgbClr val="FDEADD"/>
          </a:solidFill>
          <a:ln>
            <a:solidFill>
              <a:srgbClr val="FDEAD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P11–P17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82058" y="20116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資安怎麼過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340864"/>
            <a:ext cx="302757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工程會一覽表歸類、普級 11 項逐項回覆、境外資料、弱點掃描、日誌、AI 的信任設計。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94853" y="1517904"/>
            <a:ext cx="342991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96021" y="1664208"/>
            <a:ext cx="1186434" cy="237744"/>
          </a:xfrm>
          <a:prstGeom prst="roundRect">
            <a:avLst>
              <a:gd name="adj" fmla="val 11538"/>
            </a:avLst>
          </a:prstGeom>
          <a:solidFill>
            <a:srgbClr val="E5EEF5"/>
          </a:solidFill>
          <a:ln>
            <a:solidFill>
              <a:srgbClr val="E5EE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P19–P22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96021" y="20116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簽辦要引哪些規範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6021" y="2340864"/>
            <a:ext cx="302757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採購方式法源、簽稿七段骨架、七份附件與現況、會辦動線與時程。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096512"/>
            <a:ext cx="11057839" cy="960120"/>
          </a:xfrm>
          <a:prstGeom prst="roundRect">
            <a:avLst>
              <a:gd name="adj" fmla="val 3810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4169664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先說結論：資安不是這個案子的風險，歸類才是。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　同一套系統歸到不同的表，普級要求差好幾倍——所以第二幕的第一頁在講歸類，不是在講技術。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03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 一 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74320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系統有哪些功能。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7961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九個功能面、四個角色、十六個 AI 模組——重點是「少輸入、多產出」。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04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現況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資料不是沒有，是散在四個地方。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25587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57276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施工日誌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901952"/>
            <a:ext cx="21563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廠商每月印一疊 PDF 送來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99968" y="1426464"/>
            <a:ext cx="25587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01136" y="157276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估驗計價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01136" y="1901952"/>
            <a:ext cx="21563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Excel，每期一個檔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33008" y="1426464"/>
            <a:ext cx="25587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4176" y="157276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查驗紀錄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34176" y="1901952"/>
            <a:ext cx="21563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紙本，放監造那邊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66047" y="1426464"/>
            <a:ext cx="255872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67215" y="157276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工地照片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267215" y="1901952"/>
            <a:ext cx="21563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LINE 群組，翻不到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752344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68096" y="2898648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估驗核定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8096" y="3227832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廠商報這期做了多少，要人工翻日誌回頭對數量。對不完，就只能相信。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56506" y="2752344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57674" y="2898648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稽核與審計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57674" y="3227832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被問「這期估驗的依據在哪」，得從四個地方重新湊一份出來。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46085" y="2752344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47253" y="2898648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法定期限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7253" y="3227832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送審、月報、竣工文件、逾期違約金——沒有人在幫你算日子。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352544"/>
            <a:ext cx="11057839" cy="658368"/>
          </a:xfrm>
          <a:prstGeom prst="roundRect">
            <a:avLst>
              <a:gd name="adj" fmla="val 5556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4352544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四份文件本來就應該互相對得上，但沒有人有時間逐工項去對。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05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功能全覽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九個功能面，一條資料脊椎串起來。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572768"/>
            <a:ext cx="4663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92024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Agent 主控台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2249424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依角色的今日待辦、草稿收件匣、對話式查詢。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4314" y="1426464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5482" y="1572768"/>
            <a:ext cx="4663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總覽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45482" y="192024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跨案總覽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5482" y="2249424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機關端多案進度、金流與逾期一頁看完。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1701" y="1426464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2869" y="1572768"/>
            <a:ext cx="4663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總覽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2869" y="192024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專案儀表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2869" y="2249424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Dashboard、活動紀錄、施工月報、監造報表。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962656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68096" y="3108960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成本與進度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68096" y="345643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標單工項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8096" y="3785616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PCCES 預算書匯入展成工項樹，全案數字的來源。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4314" y="2962656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45482" y="3108960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成本與進度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45482" y="345643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估驗與金流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45482" y="3785616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估驗計價、請款收款、成本管理、進度 S 曲線、逐工項排程。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1701" y="2962656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322869" y="3108960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成本與進度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22869" y="345643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施工日誌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22869" y="3785616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現場當天填，數量直接累計到估驗。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498848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8096" y="4645152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品質與工安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8096" y="4992624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品質與工安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8096" y="5321808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品質查驗、檢驗停留點（ITP）、工安管理與缺失追蹤。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44314" y="4498848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45482" y="4645152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契約與協作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45482" y="4992624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契約與協作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45482" y="5321808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專案文件、履約需求、送審文件、工程疑義（RFI）、變更設計、風險稽核。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121701" y="4498848"/>
            <a:ext cx="3503066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322869" y="4645152"/>
            <a:ext cx="8092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契約與協作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22869" y="4992624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驗收結算與成員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22869" y="5321808"/>
            <a:ext cx="310073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法定期限倒數、驗收流程、專案成員與權限。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59893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資料脊椎：</a:t>
            </a:r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標單工項 → 施工日誌數量 → 估驗計價 → 請款</a:t>
            </a:r>
            <a:pPr indent="0" marL="0">
              <a:buNone/>
            </a:pPr>
            <a:r>
              <a:rPr lang="en-US" sz="11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，全線以同一個工項識別碼串接，所以才對得起來。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06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角色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Agent 做草稿，人做決定。</a:t>
            </a:r>
            <a:endParaRPr lang="en-US" sz="3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63624"/>
          <a:ext cx="11057839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6583680"/>
                <a:gridCol w="30568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角色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Agent 幫他做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他自己做（Agent 沒有這個工具）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現場（廠商）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日誌零輸入（複製昨日、常用班組機具自學、依座標帶入當日天氣）；工地照片批次辨識，逐張產說明並配到工項；估驗數量從日誌累計帶出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確認、送出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品管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自主檢查表依契約規範生成；缺失照片產描述草稿；混凝土試體齡期到期提醒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判定合格與否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監造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送審文件逐項比對契約規範，出審查要點與意見草稿；RFI 回覆草稿；施工月報草稿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審定、核備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機關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佐證鏈逐工項對帳；稽核意見草稿；法定期限倒數與逾期違約金試算；跨案總覽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核定、驗收、結案</a:t>
                      </a:r>
                      <a:endParaRPr lang="en-US" sz="11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28600" marB="2286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4406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加一個角色＝加一份人格設定與工具白名單，不是另外做一套系統。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07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機關最有感的一頁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佐證鏈：逐工項把四份文件對起來。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CLAIM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4708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估驗數量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2584643" y="191109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40675" y="151790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0675" y="162763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LOG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840675" y="184708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日誌累計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858390" y="191109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14422" y="151790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14422" y="162763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INSPECT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14422" y="184708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查驗紀錄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137" y="191109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388169" y="151790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88169" y="162763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TEST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88169" y="184708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試體強度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405884" y="191109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61916" y="151790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61916" y="162763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PHOTO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661916" y="184708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現場照片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66928" y="2651760"/>
            <a:ext cx="5336896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6384" y="2779776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六項對帳，全部是程式算的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86384" y="314553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" y="3145536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本期估驗量超過日誌累計量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6384" y="341071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05840" y="3410712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混凝土澆置日沒有對應試體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86384" y="367588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05840" y="3675888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估驗的工項沒有查驗紀錄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" y="394106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05840" y="3941064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品質缺失未結案就進入計價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86384" y="420624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05840" y="4206240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照片沒有對應到任何工項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86384" y="447141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05840" y="4471416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變更設計未核准就計價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87872" y="2651760"/>
            <a:ext cx="5336896" cy="2331720"/>
          </a:xfrm>
          <a:prstGeom prst="roundRect">
            <a:avLst>
              <a:gd name="adj" fmla="val 1569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89040" y="2798064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判定確定性，AI 只寫文字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489040" y="3127248"/>
            <a:ext cx="49345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哪裡對不上，是資料庫算出來的，數字永遠可回溯。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的工作只有一件：把對不上的地方寫成一段人看得懂的稽核意見草稿——而且只建議查證，不寫剔除、補強、停工、罰款。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08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AI 模組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十六個 AI 模組，每一個都可以單獨關掉。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255872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591056"/>
            <a:ext cx="4663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對話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9933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69264" y="1993392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Agent 主控台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9264" y="2258568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問答助理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9968" y="1426464"/>
            <a:ext cx="255872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01136" y="1591056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讀文件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82848" y="19933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802304" y="1993392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契約解析（時程／罰則）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82848" y="2258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02304" y="2258568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規範需求抽取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82848" y="2523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802304" y="2523744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送審文件讀取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3008" y="1426464"/>
            <a:ext cx="255872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34176" y="1591056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產草稿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15888" y="19933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35344" y="1993392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監造送審審查意見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15888" y="2258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635344" y="2258568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RFI 回覆草稿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15888" y="2523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35344" y="2523744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機關稽核意見草稿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15888" y="2788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635344" y="2788920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施工月報草稿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15888" y="3054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35344" y="3054096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估驗施工說明草稿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66047" y="1426464"/>
            <a:ext cx="255872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67215" y="1591056"/>
            <a:ext cx="990981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看照片 · 介接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248927" y="19933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468383" y="1993392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工程告示板辨識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248927" y="2258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68383" y="2258568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缺失照片描述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248927" y="2523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468383" y="2523744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施工照片分類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248927" y="2788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468383" y="2788920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工安照片判讀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248927" y="3054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468383" y="3054096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天氣帶入（中央氣象署）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248927" y="33192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68383" y="3319272"/>
            <a:ext cx="197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每日 agent 早報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3968496"/>
            <a:ext cx="5336896" cy="1207008"/>
          </a:xfrm>
          <a:prstGeom prst="roundRect">
            <a:avLst>
              <a:gd name="adj" fmla="val 3030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8096" y="4114800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關掉之後，系統照常運作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68096" y="4443984"/>
            <a:ext cx="493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關閉只是少了草稿，估驗、日誌、查驗、驗收全部照走。若貴校不接受把資料送到境外的模型，十六個模組可以整組關掉。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287872" y="3968496"/>
            <a:ext cx="5336896" cy="120700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489040" y="4114800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每一次呼叫都計量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489040" y="4443984"/>
            <a:ext cx="493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功能、使用者、專案、耗用量與成本逐次入庫，機關看得到自己用了多少、花了多少——這也是後續編列預算的依據。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09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第一幕 · 工程狀態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不是原型，是可以放真案的系統。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609344"/>
            <a:ext cx="27644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36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66928" y="2249424"/>
            <a:ext cx="2764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功能頁面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331388" y="1609344"/>
            <a:ext cx="27644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31388" y="2249424"/>
            <a:ext cx="2764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95848" y="1609344"/>
            <a:ext cx="27644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503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095848" y="2249424"/>
            <a:ext cx="2764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計算引擎單元測試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860307" y="1609344"/>
            <a:ext cx="27644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860307" y="2249424"/>
            <a:ext cx="2764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套資料庫權限測試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" y="2798064"/>
            <a:ext cx="5336896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8096" y="294436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權限不在前端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8096" y="3273552"/>
            <a:ext cx="493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誰能看、誰能寫、誰能改狀態，全部在資料庫層以資料列權限（RLS）與狀態轉移規則實作，逐角色逐表自動化實測（20 套、六百餘項）。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把前端按鈕藏起來不算安全——這也是工程會一覽表「帳號控管措施」那一列的實質內容。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87872" y="2798064"/>
            <a:ext cx="5336896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89040" y="2944368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數字由確定性引擎算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9040" y="3273552"/>
            <a:ext cx="493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金額、數量、期限、逾期違約金由程式計算，503 項單元測試釘住。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只能複述引擎回傳的數字，不准自己乘除，也不准自己編法規條號。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10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 二 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74320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資安怎麼過。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7961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普級 11 項要求、High 0、日誌六個月——記住這三個數字就夠了。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11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第一件事是歸類，不是技術。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11057839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481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依據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行政院公共工程委員會 112 年 9 月 25 日工程企字第 1120022701 號函檢送之「各類資訊(服務)採購之共通性資通安全基本要求參考一覽表」（普級部分自 113 年 3 月 1 日施行）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一覽表共 9 張表，依「資料或系統類型」分。</a:t>
            </a:r>
            <a:pPr indent="0" marL="0">
              <a:buNone/>
            </a:pPr>
            <a:r>
              <a:rPr lang="en-US" sz="1250" b="1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同一套系統歸到不同的表，普級要求差好幾倍。</a:t>
            </a:r>
            <a:pPr indent="0" marL="0">
              <a:buNone/>
            </a:pPr>
            <a:r>
              <a:rPr lang="en-US" sz="12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本案應歸「雲端微服務（SaaS）套裝型」——這一格由使用單位主動敘明，不要等別人猜。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28543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普級新增的硬要求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本案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雲端微服務（SaaS）套裝型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帳號控管、資料傳輸屬「◎ 個案評估」；全表共 11 列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本案適用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SaaS 辦公室生產力工具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多因子認證 ●、帳號控管 ●、資料傳輸 ●、資料分類與標籤 ●、釣魚郵件過濾 ●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排除：不提供郵件、行事曆、雲端硬碟、即時通訊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雲端平台（PaaS／IaaS）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平台層控制措施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排除：機關不取得平台資源，僅使用應用服務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應用軟體或系統開發服務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附表十全構面 ●、上線前主機弱點掃描 ●、網站弱點掃描 ●、資安維運服務 ●、機關人員教育訓練 ●、SBOM ◎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73A34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須排除：機關不委託開發、不取得原始碼、不驗收程式，僅按期訂閱既有服務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90500" marB="190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66928" y="57424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所以文件用語很重要：</a:t>
            </a:r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標的名稱一律寫「雲端訂閱服務」，全案不出現「開發」「客製」「建置」。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12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逐項回覆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SaaS 套裝型・普級全部 11 列，逐列已備妥。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●＝建議辦理　　◎＝經機關評估個案有必要時　　－＝不適用　　（圖示定義出自一覽表說明欄）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1105783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200400"/>
                <a:gridCol w="548640"/>
                <a:gridCol w="5690311"/>
                <a:gridCol w="1234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項目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普級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我方回覆與佐證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狀態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完善資通安全管理措施（或 ISO 27001）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走前者：資通系統防護基準普通級符合性對照表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已備齊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隱私資訊管理標準（ISO 27701）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個資極少（姓名／職稱／公務聯絡方式／帳號），以個資委外附約替代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可談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非大陸地區廠商、非第三地區含陸資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非陸資廠商聲明書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540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待具結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帳號控管措施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伺服器端 RBAC ＋ 資料列權限逐表隔離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已具備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資料傳輸措施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TLS 1.2 以上，附實測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已具備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事件日誌（含 IP 位址）保存，建議至少六個月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帳號權限變更、登入、時間、IP、資料存取皆入庫且不可竄改；書面留存政策可直接當附件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已備齊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供應商安全 ＋ 產品安全（各擇一）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供應商：公開漏洞回報機制（/security ＋ security.txt）；產品：弱點掃描報告 High 0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已備齊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廠商通過 CMMC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－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普級不適用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不適用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未經機關審查同意，不得移至本國以外地區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主動送資料落地說明書，請機關審查同意（見下頁）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540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請機關核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存取、備份、備援不得位於大陸地區（含港澳）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完全不涉，寫入聲明書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乾淨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虛擬主機映像檔安全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本服務為 SaaS，不提供虛擬主機予機關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不適用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13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最關鍵的一題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境外不是禁止，是「經機關審查同意」。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66928" y="142646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一覽表資料安全欄兩條的措辭刻意寫得不一樣——</a:t>
            </a:r>
            <a:pPr indent="0" marL="0">
              <a:buNone/>
            </a:pPr>
            <a:r>
              <a:rPr lang="en-US" sz="1300" b="1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這個對比是整件事的關鍵。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0512"/>
            <a:ext cx="5336896" cy="1371600"/>
          </a:xfrm>
          <a:prstGeom prst="roundRect">
            <a:avLst>
              <a:gd name="adj" fmla="val 2667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956816"/>
            <a:ext cx="4663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境外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6384" y="2267712"/>
            <a:ext cx="489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「未經機關審查同意，不得將雲端資訊系統或儲存資料移至本國以外地區」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86384" y="2743200"/>
            <a:ext cx="489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→ 經審查同意就可以。要做的不是搬回校內，是備齊材料請機關審查。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87872" y="1810512"/>
            <a:ext cx="5336896" cy="1371600"/>
          </a:xfrm>
          <a:prstGeom prst="roundRect">
            <a:avLst>
              <a:gd name="adj" fmla="val 2667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1956816"/>
            <a:ext cx="694944" cy="237744"/>
          </a:xfrm>
          <a:prstGeom prst="roundRect">
            <a:avLst>
              <a:gd name="adj" fmla="val 11538"/>
            </a:avLst>
          </a:prstGeom>
          <a:solidFill>
            <a:srgbClr val="E4E9EE"/>
          </a:solidFill>
          <a:ln>
            <a:solidFill>
              <a:srgbClr val="E4E9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大陸地區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7328" y="2267712"/>
            <a:ext cx="489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存取、備份及備援之實體所在地「不得」位於大陸地區（含港澳），且不得跨該等境內傳輸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07328" y="2743200"/>
            <a:ext cx="489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→ 絕對禁止、無例外。本服務完全不涉。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19856"/>
            <a:ext cx="5336896" cy="18745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86384" y="3547872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本案的事實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86384" y="3895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3895344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資料庫位於日本；日本有完整個資保護法制（APPI）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6384" y="4160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05840" y="4160520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不涉大陸地區（含港澳），第二條完全乾淨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86384" y="44256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05840" y="4425696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模組可整組關閉，關閉後不對外送任何內容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6384" y="46908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5840" y="4690872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傳輸 TLS 1.2 以上、靜態加密；資料可完整匯出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87872" y="3419856"/>
            <a:ext cx="5336896" cy="1874520"/>
          </a:xfrm>
          <a:prstGeom prst="roundRect">
            <a:avLst>
              <a:gd name="adj" fmla="val 1951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89040" y="3566160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可參照的校內先例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9040" y="3895344"/>
            <a:ext cx="49345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貴校自 112 年 12 月 1 日起全校實施 Office 365 A3（電子計算機中心公告），教職員信箱、行事曆與雲端硬碟均位於境外雲端。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想請教貴校當時審查同意的作業方式，我方比照相同規格備妥文件即可。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14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常被問到的三題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ISO 是「或」，第三方檢測有門檻。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429914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66420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沒有 ISO 27001 可以嗎？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993392"/>
            <a:ext cx="302757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一覽表原文：「須具備完善資通安全管理措施或通過 CNS 27001 或 ISO 27001 等標準、其他具有同等或以上效果之系統或標準」。關鍵是「或」。本案走前者，提供逐項的符合性對照表為佐證。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0890" y="1517904"/>
            <a:ext cx="3429914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82058" y="166420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要不要第三方安全性檢測？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82058" y="1993392"/>
            <a:ext cx="302757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一覽表說明欄：屬機關核心資通系統，或委託金額達新臺幣一千萬元以上者，機關應自行或另行委託第三方檢測。本案兩者皆不是，不適用；改以我方提供的弱點掃描報告佐證。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94853" y="1517904"/>
            <a:ext cx="3429914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96021" y="1664208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萬一有一項真的做不到？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6021" y="1993392"/>
            <a:ext cx="302757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一覽表「供應商及產品安全要求」欄原文開頭即載明：「…提出佐證資料，若無符合條件者提請機關資安長確認風險」。制度設計的出口是風險確認，不是廢標。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11057839" cy="914400"/>
          </a:xfrm>
          <a:prstGeom prst="roundRect">
            <a:avLst>
              <a:gd name="adj" fmla="val 4000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169664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另一個結構性事實：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函文說明一寫明「由機關視個案特性將所列資安事項納入契約辦理」，且圖示 ●＝建議辦理。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這是「參考」一覽表，機關本就有裁量空間挑合理的子集。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15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已完成的技術佐證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能拿出報告的，都已經跑完了。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3429914" cy="32461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" y="1572768"/>
            <a:ext cx="29910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86384" y="2212848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高風險弱點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450592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弱點掃描報告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2779776"/>
            <a:ext cx="299100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OWASP ZAP baseline ＋ AJAX spider，受測標的為正式站。High 0、通過檢測項 60、警告 7 類（均為刻意設計、誤報或資訊性提示，逐項有處置說明）。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另附修補歷程：首次掃描警告 13 類，移轉主機並統一設定安全標頭後複測，7 類根因相同者全部消失（13→7、通過 54→60）。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0890" y="1426464"/>
            <a:ext cx="3429914" cy="32461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0346" y="1572768"/>
            <a:ext cx="29910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6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00346" y="2212848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個月日誌留存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00346" y="2450592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事件日誌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0346" y="2779776"/>
            <a:ext cx="299100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一覽表明文列舉的六類全數入庫：帳號與權限變更、登入名稱、時間、IP 位址、資料存取、重要安全性事件。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IP 由伺服器端解析（前端不得傳入）；紀錄只增不改；無任何自動清除機制；專案刪除亦留痕。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94853" y="1426464"/>
            <a:ext cx="3429914" cy="32461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4309" y="1572768"/>
            <a:ext cx="29910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414309" y="2212848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個公開回報入口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414309" y="2450592"/>
            <a:ext cx="2991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漏洞回報應變機制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4309" y="2779776"/>
            <a:ext cx="299100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公開頁面（不需登入）＋ 依 RFC 9116 的 /.well-known/security.txt，並載明內部應變流程六步與聯絡信箱。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這一項滿足一覽表「供應商安全」的條件之一，不需要第三方檢測團隊。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4855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一句話版本：</a:t>
            </a:r>
            <a:pPr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普級 11 項要求、High 0、日誌六個月</a:t>
            </a:r>
            <a:pPr indent="0" marL="0">
              <a:buNone/>
            </a:pPr>
            <a:r>
              <a:rPr lang="en-US" sz="12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——記住這三個數字就夠了。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16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AI 會不會亂做決定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三條紅線，寫在架構裡，不是寫在簡報上。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" cy="841248"/>
          </a:xfrm>
          <a:prstGeom prst="rect">
            <a:avLst/>
          </a:prstGeom>
          <a:solidFill>
            <a:srgbClr val="E8630C"/>
          </a:solidFill>
          <a:ln w="12700">
            <a:solidFill>
              <a:srgbClr val="E863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264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紅線 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只產生草稿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1938528"/>
            <a:ext cx="106920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核定、判定、結案、驗收、凍結——Agent 的工具箱裡根本沒有這些工具。這是工具白名單保證的，不是靠提示詞叮嚀它。狀態轉移一律走資料庫層規則加上人簽核。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32888"/>
            <a:ext cx="41148" cy="841248"/>
          </a:xfrm>
          <a:prstGeom prst="rect">
            <a:avLst/>
          </a:prstGeom>
          <a:solidFill>
            <a:srgbClr val="E8630C"/>
          </a:solidFill>
          <a:ln w="12700">
            <a:solidFill>
              <a:srgbClr val="E863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78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紅線 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數字永遠由確定性引擎算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2990088"/>
            <a:ext cx="106920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金額、數量、期限、違約金由程式計算後回傳給 AI 複述。AI 不准自己乘除，也不准自己編法規條號——引用不到來源時，它必須寫「依適用條文與現場量測辦理」。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84448"/>
            <a:ext cx="41148" cy="841248"/>
          </a:xfrm>
          <a:prstGeom prst="rect">
            <a:avLst/>
          </a:prstGeom>
          <a:solidFill>
            <a:srgbClr val="E8630C"/>
          </a:solidFill>
          <a:ln w="12700">
            <a:solidFill>
              <a:srgbClr val="E863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29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紅線 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 Agent 動作都留痕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041648"/>
            <a:ext cx="106920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角色、動作種類、目標、理由、引用佐證、人的覆核結果，逐筆入庫可匯出。稽核問「這個數字誰算的」，答案永遠是：程式，而且有紀錄。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718304"/>
            <a:ext cx="11057839" cy="868680"/>
          </a:xfrm>
          <a:prstGeom prst="roundRect">
            <a:avLst>
              <a:gd name="adj" fmla="val 4211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4718304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加上第四條：每個 AI 功能都是可獨立開關的模組。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　十六個模組逐一可關，關閉時系統照常運作。機關不必在「要 AI」和「不要 AI」之間二選一。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資安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17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第二幕 · 個資委外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個資這層是契約題，不是技術題。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11057839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481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個人資料保護法施行細則第 8 條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公務機關委託他人蒐集、處理或利用個人資料者，應對受託者為適當之監督，並明確約定監督事項及方式。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336896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86384" y="2377440"/>
            <a:ext cx="489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本服務涉及的個資範圍很窄：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姓名、職稱、單位、公務聯絡方式、系統帳號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——不涉特種個資、不涉學籍或健康資料，也不以機關資料訓練模型。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172968"/>
            <a:ext cx="489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貴校的個資制度建在教育部「教育體系資通安全暨個人資料管理規範」上，委外附約通常照該規範 B.12.1.2 的八要項撰寫，境外傳輸則對應 B.11.1.1 的五條。</a:t>
            </a:r>
            <a:pPr indent="0" marL="0">
              <a:lnSpc>
                <a:spcPts val="1650"/>
              </a:lnSpc>
              <a:buNone/>
            </a:pPr>
            <a:r>
              <a:rPr lang="en-US" sz="11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我方直接照那些條目先寫好附約草案，法制單位不必起草。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87872" y="2212848"/>
            <a:ext cx="5336896" cy="2286000"/>
          </a:xfrm>
          <a:prstGeom prst="roundRect">
            <a:avLst>
              <a:gd name="adj" fmla="val 1600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2359152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附約會寫進去的事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507328" y="272491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726784" y="2724912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蒐集處理利用之範圍、類別、目的與期間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07328" y="299008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726784" y="2990088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保密義務與事故責任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7328" y="325526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26784" y="3255264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機關保有稽核權（含實地稽核）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07328" y="352044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726784" y="3520440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再委外（分包）之限制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07328" y="378561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726784" y="3785616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資安事故之通知義務與時限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07328" y="40507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26784" y="4050792"/>
            <a:ext cx="46785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契約終止時資料返還、刪除與銷毀切結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4645152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補充：個資法第 21 條（國際傳輸限制）規範對象為非公務機關；國立中央大學屬公務機關，故境外傳輸並無法定禁令，而是回到前頁的「機關審查同意」與本頁的契約約定。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18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 三 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74320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簽辦要引哪些規範。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7961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採購方式法源、簽稿七段骨架、七份附件、會辦動線。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19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採購方式：小額採購逕洽，法源三條。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11057839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481328"/>
            <a:ext cx="106189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政府採購法第 3 條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公立學校辦理採購，依本法之規定。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993392"/>
            <a:ext cx="11057839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048256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工程會 111 年 12 月 23 日工程企字第 1110100798 號令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自 112 年 1 月 1 日起，公告金額為新臺幣 150 萬元；中央機關小額採購金額為新臺幣 15 萬元以下。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761488"/>
            <a:ext cx="11057839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81635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中央機關未達公告金額採購招標辦法第 5 條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公告金額十分之一以下採購之招標，得不經公告程序，逕洽廠商採購，免提供報價或企劃書。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785616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本案規劃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68096" y="4114800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總價壓在 15 萬元以下，以單一在建工程案為試辦標的，走小額採購逕洽。正式估價單另送。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56506" y="3639312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57674" y="3785616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不需要做的事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57674" y="4114800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未逾 15 萬，無採購法第 49 條公開取得三家書面報價之適用；經確認貴校對 15 萬以下亦無加嚴規定。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46085" y="3639312"/>
            <a:ext cx="347868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47253" y="3785616"/>
            <a:ext cx="3076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財產登記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47253" y="4114800"/>
            <a:ext cx="3076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純訂閱服務，機關未取得軟硬體所有權，不涉財產登記——簽裡直接寫明可省一段流程。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175504"/>
            <a:ext cx="11057839" cy="658368"/>
          </a:xfrm>
          <a:prstGeom prst="roundRect">
            <a:avLst>
              <a:gd name="adj" fmla="val 5556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75504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我們不建議、也不配合為了規避公開招標而分批辦理。試辦範圍就是一個案子；需求擴大時，走上一級的程序。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簽稿骨架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七段說明，每一段都有對應的法源。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63624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817747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段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寫什麼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法源／依據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一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需求緣由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現行以紙本與 Excel 彙整進度、估驗、日誌與查驗紀錄，人工重複登打、佐證散落；以某工程為試辦標的，載明服務期間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二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採購方式之依據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採購法 §3 ／ 工程會 111 年令（15 萬）／ 未達公告金額招標辦法 §5 逕洽 ／ 敘明無 §49 適用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三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資安要求之依據及辦理情形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工程會 112/9/25 工程企字第 1120022701 號函；敘明歸屬「SaaS 套裝型」及排除理由；系統防護需求等級評估為普級，請計網中心卓核；廠商逐項回覆詳附件二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四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境外資料之審查同意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一覽表資料安全欄；資料庫位於日本（非大陸地區），廠商提出落地說明（附件四），請計網中心審查，經同意後於契約載明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五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個人資料委外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個資法施行細則 §8；契約附個資委外處理附約（附件五）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六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資安經費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「資訊服務採購作業指引」一、(一)2 要求估算並單獨計列；本案為標準訂閱服務，資安措施已內含於訂閱費用無法拆分，敘明原因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七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履約與驗收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由本組指定人員驗收，以服務可用性及約定功能項目為驗收標準；不涉財產登記</a:t>
                      </a:r>
                      <a:endParaRPr lang="en-US" sz="10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34924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擬辦：</a:t>
            </a:r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一、同意依上開方式辦理小額採購並簽訂服務契約。二、</a:t>
            </a:r>
            <a:pPr indent="0" marL="0">
              <a:buNone/>
            </a:pPr>
            <a:r>
              <a:rPr lang="en-US" sz="1150" b="1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會辦電子計算機中心</a:t>
            </a:r>
            <a:pPr indent="0" marL="0">
              <a:buNone/>
            </a:pPr>
            <a:r>
              <a:rPr lang="en-US" sz="115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（第三、四點）。三、會辦個資業務單位／法制（第五點）。四、奉核後續辦請購。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57058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以上為廠商整理的參考骨架與法源清單，實際簽稿文字仍由貴組承辦人依校內格式撰擬。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21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附件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七份附件，六份在我這邊。</a:t>
            </a:r>
            <a:endParaRPr lang="en-US" sz="3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63624"/>
          <a:ext cx="11057839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4754880"/>
                <a:gridCol w="200527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附件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文件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用途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78848F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狀態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一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廠商估價單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金額與服務期間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540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商業登記核准後即送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二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資安要求逐項回覆表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SaaS 套裝型・普級 11 列（本簡報 P12）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已定稿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三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非陸資廠商聲明書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對應第 3、10 列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540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具結中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四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資料落地與境外傳輸說明書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供計網中心審查同意（第 9 列）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材料齊備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五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個人資料委外處理附約（草案）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個資法施行細則 §8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草案可提供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六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服務條款與隱私權政策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含個資申訴窗口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540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整理中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七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02B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資通系統防護基準普通級符合性對照表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D5C6A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對應第 1 列（走「完善資通安全管理措施」）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已完成</a:t>
                      </a:r>
                      <a:endParaRPr lang="en-US" sz="11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114300" marB="114300" anchor="ctr">
                    <a:lnL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084064"/>
            <a:ext cx="11057839" cy="822960"/>
          </a:xfrm>
          <a:prstGeom prst="roundRect">
            <a:avLst>
              <a:gd name="adj" fmla="val 4444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  <a:effectLst>
            <a:outerShdw sx="100000" sy="100000" kx="0" ky="0" algn="bl" rotWithShape="0" blurRad="76200" dist="381" dir="5400000">
              <a:srgbClr val="9AA7B4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084064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唯一會卡住整案的是附件一。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　本公司商業登記正在辦理中，核准後統一編號、商業登記證明與估價單會一併送達。其餘六份不受影響，可先行提供貴組與計網中心預覽。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簽辦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22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第三幕 · 動線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資訊類採購會會辦計網中心，所以文件要一次到位。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60934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71907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使用單位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93852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營繕組擬簽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2584643" y="200253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40675" y="160934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DEADD"/>
          </a:solidFill>
          <a:ln w="19050">
            <a:solidFill>
              <a:srgbClr val="E863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0675" y="171907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C8540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會辦 · 資安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840675" y="193852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電子計算機中心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858390" y="200253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14422" y="160934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14422" y="171907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會辦 · 個資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14422" y="193852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個資／法制單位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137" y="200253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388169" y="160934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88169" y="171907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核定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88169" y="193852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權責長官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405884" y="2002536"/>
            <a:ext cx="201168" cy="0"/>
          </a:xfrm>
          <a:prstGeom prst="line">
            <a:avLst/>
          </a:prstGeom>
          <a:noFill/>
          <a:ln w="15875">
            <a:solidFill>
              <a:srgbClr val="1E5A8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61916" y="1609344"/>
            <a:ext cx="1962851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8DF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61916" y="1719072"/>
            <a:ext cx="196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78848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續辦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661916" y="1938528"/>
            <a:ext cx="1962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請購 · 簽約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66928" y="2852928"/>
            <a:ext cx="5336896" cy="2011680"/>
          </a:xfrm>
          <a:prstGeom prst="roundRect">
            <a:avLst>
              <a:gd name="adj" fmla="val 1818"/>
            </a:avLst>
          </a:prstGeom>
          <a:solidFill>
            <a:srgbClr val="FDEADD"/>
          </a:solidFill>
          <a:ln w="12700">
            <a:solidFill>
              <a:srgbClr val="FDEA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2999232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關鍵推論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3328416"/>
            <a:ext cx="493456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會辦是必然，所以簽送出去的那一刻，資安文件就必須完整——不能先簽再補，一退件就是一輪時間。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附件二、三、四、七要一次到位，讓會辦是「核對」而不是「索資」。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7872" y="2852928"/>
            <a:ext cx="5336896" cy="2011680"/>
          </a:xfrm>
          <a:prstGeom prst="roundRect">
            <a:avLst>
              <a:gd name="adj" fmla="val 1818"/>
            </a:avLst>
          </a:prstGeom>
          <a:solidFill>
            <a:srgbClr val="E5EEF5"/>
          </a:solidFill>
          <a:ln w="12700">
            <a:solidFill>
              <a:srgbClr val="E5EE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9040" y="2999232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想請組長幫的一件事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89040" y="3328416"/>
            <a:ext cx="493456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與其等會辦時計網中心來要資料，想在正式送簽前先與他們對一次要求。若他們有自己的委外資安檢核表，我照他們的表逐欄對映，不另編一份。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4D5C6A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方便請組長幫忙引薦窗口嗎？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45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結尾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95967" y="6345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60" kern="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23 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685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60818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給我一個案子。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四週後您自己判斷。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2834640"/>
            <a:ext cx="57500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試辦範圍就是一個進行中的工程案。四週後如果承辦人不想繼續用，我們把資料完整匯出給貴組，就結束。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3703320"/>
            <a:ext cx="5750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貴組需要投入的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404164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68096" y="4041648"/>
            <a:ext cx="552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一位承辦人，每週約一小時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431596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68096" y="4315968"/>
            <a:ext cx="552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一個進行中的案子（契約＋標單）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59028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8096" y="4590288"/>
            <a:ext cx="552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廠商與監造各一位聯絡人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980475" y="1097280"/>
            <a:ext cx="4644292" cy="3749040"/>
          </a:xfrm>
          <a:prstGeom prst="roundRect">
            <a:avLst>
              <a:gd name="adj" fmla="val 976"/>
            </a:avLst>
          </a:prstGeom>
          <a:solidFill>
            <a:srgbClr val="1B2833"/>
          </a:solidFill>
          <a:ln w="12700">
            <a:solidFill>
              <a:srgbClr val="2C3D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3083" y="1353312"/>
            <a:ext cx="40590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3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今天想請教的四件事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73083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3979" y="1847088"/>
            <a:ext cx="3729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經費來源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是校務基金、計畫項下，還是單位自籌？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273083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3979" y="2414016"/>
            <a:ext cx="3729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需不需要壓在本年度 12/31 前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驗收結案？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273083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3979" y="2980944"/>
            <a:ext cx="3729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這個金額的核定層級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到哪一級？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73083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583979" y="3547872"/>
            <a:ext cx="3729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能否幫我引薦計網中心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ABB8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，送簽前先對一次資安要求？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273083" y="4279392"/>
            <a:ext cx="4059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最後一題最重要——它決定這個簽會不會被退件。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工程 Agent — 產品、資安與簽辦（組長版）</dc:title>
  <dc:subject>PptxGenJS Presentation</dc:subject>
  <dc:creator>gov-agent.ai</dc:creator>
  <cp:lastModifiedBy>gov-agent.ai</cp:lastModifiedBy>
  <cp:revision>1</cp:revision>
  <dcterms:created xsi:type="dcterms:W3CDTF">2026-08-12T02:47:42Z</dcterms:created>
  <dcterms:modified xsi:type="dcterms:W3CDTF">2026-08-12T02:47:42Z</dcterms:modified>
</cp:coreProperties>
</file>
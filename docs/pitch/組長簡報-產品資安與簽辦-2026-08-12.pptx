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開場：今天講功能、資安、簽辦。最後一頁只剩兩件事要請組長決定——驗收時點，以及引薦計網中心。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這一段講快一點，組長真正在意的是後面兩段。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這一段是重點。第一頁的歸類講清楚，後面才成立。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這一段才是今天的目的。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這頁請組長當場選。若他猶豫，建議乙；若他要保守，丙也完全接受——不要爭。履約期間建議一年，自服務開通日起算。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可用率 99% 與四小時回應是會被寫進契約的義務——講之前先確認自己做得到。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講完直接問引薦。這是今天最重要的一個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2 題價值最高——他會直接告訴你這個簽會卡在哪一關。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icrosoft JhengHei"/>
          <a:cs typeface="Microsoft JhengHei"/>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icrosoft JhengHei"/>
          <a:cs typeface="Microsoft JhengHei"/>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icrosoft JhengHei"/>
          <a:cs typeface="Microsoft JhengHei"/>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icrosoft JhengHei"/>
          <a:cs typeface="Microsoft JhengHei"/>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icrosoft JhengHei"/>
          <a:cs typeface="Microsoft JhengHei"/>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icrosoft JhengHei"/>
          <a:cs typeface="Microsoft JhengHei"/>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icrosoft JhengHei"/>
          <a:cs typeface="Microsoft JhengHei"/>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icrosoft JhengHei"/>
          <a:cs typeface="Microsoft JhengHei"/>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icrosoft JhengHei"/>
          <a:cs typeface="Microsoft JhengHei"/>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icrosoft JhengHei"/>
          <a:cs typeface="Microsoft JhengHei"/>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icrosoft JhengHei"/>
          <a:cs typeface="Microsoft JhengHei"/>
          <a:ea typeface="+mn-ea"/>
          <a:cs typeface="+mn-cs"/>
        </a:defRPr>
      </a:lvl1pPr>
      <a:lvl2pPr marL="457200" algn="l" defTabSz="914400" rtl="0" eaLnBrk="1" latinLnBrk="0" hangingPunct="1">
        <a:defRPr sz="1800" kern="1200">
          <a:solidFill>
            <a:schemeClr val="tx1"/>
          </a:solidFill>
          <a:latin typeface="+mn-lt"/>
          <a:ea typeface="Microsoft JhengHei"/>
          <a:cs typeface="Microsoft JhengHei"/>
          <a:ea typeface="+mn-ea"/>
          <a:cs typeface="+mn-cs"/>
        </a:defRPr>
      </a:lvl2pPr>
      <a:lvl3pPr marL="914400" algn="l" defTabSz="914400" rtl="0" eaLnBrk="1" latinLnBrk="0" hangingPunct="1">
        <a:defRPr sz="1800" kern="1200">
          <a:solidFill>
            <a:schemeClr val="tx1"/>
          </a:solidFill>
          <a:latin typeface="+mn-lt"/>
          <a:ea typeface="Microsoft JhengHei"/>
          <a:cs typeface="Microsoft JhengHei"/>
          <a:ea typeface="+mn-ea"/>
          <a:cs typeface="+mn-cs"/>
        </a:defRPr>
      </a:lvl3pPr>
      <a:lvl4pPr marL="1371600" algn="l" defTabSz="914400" rtl="0" eaLnBrk="1" latinLnBrk="0" hangingPunct="1">
        <a:defRPr sz="1800" kern="1200">
          <a:solidFill>
            <a:schemeClr val="tx1"/>
          </a:solidFill>
          <a:latin typeface="+mn-lt"/>
          <a:ea typeface="Microsoft JhengHei"/>
          <a:cs typeface="Microsoft JhengHei"/>
          <a:ea typeface="+mn-ea"/>
          <a:cs typeface="+mn-cs"/>
        </a:defRPr>
      </a:lvl4pPr>
      <a:lvl5pPr marL="1828800" algn="l" defTabSz="914400" rtl="0" eaLnBrk="1" latinLnBrk="0" hangingPunct="1">
        <a:defRPr sz="1800" kern="1200">
          <a:solidFill>
            <a:schemeClr val="tx1"/>
          </a:solidFill>
          <a:latin typeface="+mn-lt"/>
          <a:ea typeface="Microsoft JhengHei"/>
          <a:cs typeface="Microsoft JhengHei"/>
          <a:ea typeface="+mn-ea"/>
          <a:cs typeface="+mn-cs"/>
        </a:defRPr>
      </a:lvl5pPr>
      <a:lvl6pPr marL="2286000" algn="l" defTabSz="914400" rtl="0" eaLnBrk="1" latinLnBrk="0" hangingPunct="1">
        <a:defRPr sz="1800" kern="1200">
          <a:solidFill>
            <a:schemeClr val="tx1"/>
          </a:solidFill>
          <a:latin typeface="+mn-lt"/>
          <a:ea typeface="Microsoft JhengHei"/>
          <a:cs typeface="Microsoft JhengHei"/>
          <a:ea typeface="+mn-ea"/>
          <a:cs typeface="+mn-cs"/>
        </a:defRPr>
      </a:lvl6pPr>
      <a:lvl7pPr marL="2743200" algn="l" defTabSz="914400" rtl="0" eaLnBrk="1" latinLnBrk="0" hangingPunct="1">
        <a:defRPr sz="1800" kern="1200">
          <a:solidFill>
            <a:schemeClr val="tx1"/>
          </a:solidFill>
          <a:latin typeface="+mn-lt"/>
          <a:ea typeface="Microsoft JhengHei"/>
          <a:cs typeface="Microsoft JhengHei"/>
          <a:ea typeface="+mn-ea"/>
          <a:cs typeface="+mn-cs"/>
        </a:defRPr>
      </a:lvl7pPr>
      <a:lvl8pPr marL="3200400" algn="l" defTabSz="914400" rtl="0" eaLnBrk="1" latinLnBrk="0" hangingPunct="1">
        <a:defRPr sz="1800" kern="1200">
          <a:solidFill>
            <a:schemeClr val="tx1"/>
          </a:solidFill>
          <a:latin typeface="+mn-lt"/>
          <a:ea typeface="Microsoft JhengHei"/>
          <a:cs typeface="Microsoft JhengHei"/>
          <a:ea typeface="+mn-ea"/>
          <a:cs typeface="+mn-cs"/>
        </a:defRPr>
      </a:lvl8pPr>
      <a:lvl9pPr marL="3657600" algn="l" defTabSz="914400" rtl="0" eaLnBrk="1" latinLnBrk="0" hangingPunct="1">
        <a:defRPr sz="1800" kern="1200">
          <a:solidFill>
            <a:schemeClr val="tx1"/>
          </a:solidFill>
          <a:latin typeface="+mn-lt"/>
          <a:ea typeface="Microsoft JhengHei"/>
          <a:cs typeface="Microsoft JhengHei"/>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4C74"/>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A9C8DE"/>
                </a:solidFill>
                <a:latin typeface="Arial" pitchFamily="34" charset="0"/>
                <a:ea typeface="Microsoft JhengHei"/>
                <a:cs typeface="Microsoft JhengHei"/>
                <a:ea typeface="Arial" pitchFamily="34" charset="-122"/>
                <a:cs typeface="Arial" pitchFamily="34" charset="-120"/>
              </a:rPr>
              <a:t>封面</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A9C8DE"/>
                </a:solidFill>
                <a:latin typeface="Arial" pitchFamily="34" charset="0"/>
                <a:ea typeface="Microsoft JhengHei"/>
                <a:cs typeface="Microsoft JhengHei"/>
                <a:ea typeface="Arial" pitchFamily="34" charset="-122"/>
                <a:cs typeface="Arial" pitchFamily="34" charset="-120"/>
              </a:rPr>
              <a:t>01 / 25</a:t>
            </a:r>
            <a:endParaRPr lang="en-US" sz="900" dirty="0"/>
          </a:p>
        </p:txBody>
      </p:sp>
      <p:sp>
        <p:nvSpPr>
          <p:cNvPr id="4" name="Shape 2"/>
          <p:cNvSpPr/>
          <p:nvPr/>
        </p:nvSpPr>
        <p:spPr>
          <a:xfrm>
            <a:off x="0" y="0"/>
            <a:ext cx="4145176" cy="6858000"/>
          </a:xfrm>
          <a:prstGeom prst="rect">
            <a:avLst/>
          </a:prstGeom>
          <a:solidFill>
            <a:srgbClr val="10405F"/>
          </a:solidFill>
          <a:ln w="12700">
            <a:solidFill>
              <a:srgbClr val="10405F"/>
            </a:solidFill>
            <a:prstDash val="solid"/>
          </a:ln>
        </p:spPr>
      </p:sp>
      <p:sp>
        <p:nvSpPr>
          <p:cNvPr id="5" name="Text 3"/>
          <p:cNvSpPr/>
          <p:nvPr/>
        </p:nvSpPr>
        <p:spPr>
          <a:xfrm>
            <a:off x="822960" y="2331720"/>
            <a:ext cx="2773576" cy="292608"/>
          </a:xfrm>
          <a:prstGeom prst="rect">
            <a:avLst/>
          </a:prstGeom>
          <a:noFill/>
          <a:ln/>
        </p:spPr>
        <p:txBody>
          <a:bodyPr wrap="square" lIns="0" tIns="0" rIns="0" bIns="0" rtlCol="0" anchor="ctr"/>
          <a:lstStyle/>
          <a:p>
            <a:pPr indent="0" marL="0">
              <a:buNone/>
            </a:pPr>
            <a:r>
              <a:rPr lang="en-US" sz="1300" b="1" spc="260" kern="0" dirty="0">
                <a:solidFill>
                  <a:srgbClr val="E8630C"/>
                </a:solidFill>
                <a:latin typeface="Arial" pitchFamily="34" charset="0"/>
                <a:ea typeface="Microsoft JhengHei"/>
                <a:cs typeface="Microsoft JhengHei"/>
                <a:ea typeface="Arial" pitchFamily="34" charset="-122"/>
                <a:cs typeface="Arial" pitchFamily="34" charset="-120"/>
              </a:rPr>
              <a:t>公共工程專案管理</a:t>
            </a:r>
            <a:endParaRPr lang="en-US" sz="1300" dirty="0"/>
          </a:p>
        </p:txBody>
      </p:sp>
      <p:sp>
        <p:nvSpPr>
          <p:cNvPr id="6" name="Text 4"/>
          <p:cNvSpPr/>
          <p:nvPr/>
        </p:nvSpPr>
        <p:spPr>
          <a:xfrm>
            <a:off x="822960" y="2706624"/>
            <a:ext cx="2865016" cy="457200"/>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Microsoft JhengHei"/>
                <a:cs typeface="Microsoft JhengHei"/>
                <a:ea typeface="Arial" pitchFamily="34" charset="-122"/>
                <a:cs typeface="Arial" pitchFamily="34" charset="-120"/>
              </a:rPr>
              <a:t>雲端訂閱服務</a:t>
            </a:r>
            <a:endParaRPr lang="en-US" sz="2100" dirty="0"/>
          </a:p>
        </p:txBody>
      </p:sp>
      <p:sp>
        <p:nvSpPr>
          <p:cNvPr id="7" name="Text 5"/>
          <p:cNvSpPr/>
          <p:nvPr/>
        </p:nvSpPr>
        <p:spPr>
          <a:xfrm>
            <a:off x="822960" y="3163824"/>
            <a:ext cx="2865016" cy="292608"/>
          </a:xfrm>
          <a:prstGeom prst="rect">
            <a:avLst/>
          </a:prstGeom>
          <a:noFill/>
          <a:ln/>
        </p:spPr>
        <p:txBody>
          <a:bodyPr wrap="square" lIns="0" tIns="0" rIns="0" bIns="0" rtlCol="0" anchor="ctr"/>
          <a:lstStyle/>
          <a:p>
            <a:pPr indent="0" marL="0">
              <a:buNone/>
            </a:pPr>
            <a:r>
              <a:rPr lang="en-US" sz="1300" b="1" spc="240" kern="0" dirty="0">
                <a:solidFill>
                  <a:srgbClr val="A9C8DE"/>
                </a:solidFill>
                <a:latin typeface="Arial" pitchFamily="34" charset="0"/>
                <a:ea typeface="Microsoft JhengHei"/>
                <a:cs typeface="Microsoft JhengHei"/>
                <a:ea typeface="Arial" pitchFamily="34" charset="-122"/>
                <a:cs typeface="Arial" pitchFamily="34" charset="-120"/>
              </a:rPr>
              <a:t>SaaS</a:t>
            </a:r>
            <a:endParaRPr lang="en-US" sz="1300" dirty="0"/>
          </a:p>
        </p:txBody>
      </p:sp>
      <p:sp>
        <p:nvSpPr>
          <p:cNvPr id="8" name="Text 6"/>
          <p:cNvSpPr/>
          <p:nvPr/>
        </p:nvSpPr>
        <p:spPr>
          <a:xfrm>
            <a:off x="822960" y="3931920"/>
            <a:ext cx="2865016" cy="274320"/>
          </a:xfrm>
          <a:prstGeom prst="rect">
            <a:avLst/>
          </a:prstGeom>
          <a:noFill/>
          <a:ln/>
        </p:spPr>
        <p:txBody>
          <a:bodyPr wrap="square" lIns="0" tIns="0" rIns="0" bIns="0" rtlCol="0" anchor="ctr"/>
          <a:lstStyle/>
          <a:p>
            <a:pPr indent="0" marL="0">
              <a:buNone/>
            </a:pPr>
            <a:r>
              <a:rPr lang="en-US" sz="1250" b="1" spc="120" kern="0" dirty="0">
                <a:solidFill>
                  <a:srgbClr val="A9C8DE"/>
                </a:solidFill>
                <a:latin typeface="Arial" pitchFamily="34" charset="0"/>
                <a:ea typeface="Microsoft JhengHei"/>
                <a:cs typeface="Microsoft JhengHei"/>
                <a:ea typeface="Arial" pitchFamily="34" charset="-122"/>
                <a:cs typeface="Arial" pitchFamily="34" charset="-120"/>
              </a:rPr>
              <a:t>gov-agent.ai</a:t>
            </a:r>
            <a:endParaRPr lang="en-US" sz="1250" dirty="0"/>
          </a:p>
        </p:txBody>
      </p:sp>
      <p:sp>
        <p:nvSpPr>
          <p:cNvPr id="9" name="Text 7"/>
          <p:cNvSpPr/>
          <p:nvPr/>
        </p:nvSpPr>
        <p:spPr>
          <a:xfrm>
            <a:off x="5013856" y="2148840"/>
            <a:ext cx="6446319" cy="1828800"/>
          </a:xfrm>
          <a:prstGeom prst="rect">
            <a:avLst/>
          </a:prstGeom>
          <a:noFill/>
          <a:ln/>
        </p:spPr>
        <p:txBody>
          <a:bodyPr wrap="square" lIns="0" tIns="0" rIns="0" bIns="0" rtlCol="0" anchor="t"/>
          <a:lstStyle/>
          <a:p>
            <a:pPr indent="0" marL="0">
              <a:lnSpc>
                <a:spcPts val="5200"/>
              </a:lnSpc>
              <a:buNone/>
            </a:pPr>
            <a:r>
              <a:rPr lang="en-US" sz="4000" b="1" dirty="0">
                <a:solidFill>
                  <a:srgbClr val="FFFFFF"/>
                </a:solidFill>
                <a:latin typeface="Arial" pitchFamily="34" charset="0"/>
                <a:ea typeface="Microsoft JhengHei"/>
                <a:cs typeface="Microsoft JhengHei"/>
                <a:ea typeface="Arial" pitchFamily="34" charset="-122"/>
                <a:cs typeface="Arial" pitchFamily="34" charset="-120"/>
              </a:rPr>
              <a:t>每一個承辦人，</a:t>
            </a:r>
            <a:endParaRPr lang="en-US" sz="4000" dirty="0"/>
          </a:p>
          <a:p>
            <a:pPr indent="0" marL="0">
              <a:lnSpc>
                <a:spcPts val="5200"/>
              </a:lnSpc>
              <a:buNone/>
            </a:pPr>
            <a:r>
              <a:rPr lang="en-US" sz="4000" b="1" dirty="0">
                <a:solidFill>
                  <a:srgbClr val="FFFFFF"/>
                </a:solidFill>
                <a:latin typeface="Arial" pitchFamily="34" charset="0"/>
                <a:ea typeface="Microsoft JhengHei"/>
                <a:cs typeface="Microsoft JhengHei"/>
                <a:ea typeface="Arial" pitchFamily="34" charset="-122"/>
                <a:cs typeface="Arial" pitchFamily="34" charset="-120"/>
              </a:rPr>
              <a:t>配一個懂他業務的 Agent。</a:t>
            </a:r>
            <a:endParaRPr lang="en-US" sz="4000" dirty="0"/>
          </a:p>
        </p:txBody>
      </p:sp>
      <p:sp>
        <p:nvSpPr>
          <p:cNvPr id="10" name="Text 8"/>
          <p:cNvSpPr/>
          <p:nvPr/>
        </p:nvSpPr>
        <p:spPr>
          <a:xfrm>
            <a:off x="5013856" y="4114800"/>
            <a:ext cx="6446319" cy="658368"/>
          </a:xfrm>
          <a:prstGeom prst="rect">
            <a:avLst/>
          </a:prstGeom>
          <a:noFill/>
          <a:ln/>
        </p:spPr>
        <p:txBody>
          <a:bodyPr wrap="square" lIns="0" tIns="0" rIns="0" bIns="0" rtlCol="0" anchor="t"/>
          <a:lstStyle/>
          <a:p>
            <a:pPr indent="0" marL="0">
              <a:lnSpc>
                <a:spcPts val="2400"/>
              </a:lnSpc>
              <a:buNone/>
            </a:pPr>
            <a:r>
              <a:rPr lang="en-US" sz="1600" dirty="0">
                <a:solidFill>
                  <a:srgbClr val="A9C8DE"/>
                </a:solidFill>
                <a:latin typeface="Arial" pitchFamily="34" charset="0"/>
                <a:ea typeface="Microsoft JhengHei"/>
                <a:cs typeface="Microsoft JhengHei"/>
                <a:ea typeface="Arial" pitchFamily="34" charset="-122"/>
                <a:cs typeface="Arial" pitchFamily="34" charset="-120"/>
              </a:rPr>
              <a:t>這份簡報講三件事：</a:t>
            </a:r>
            <a:pPr indent="0" marL="0">
              <a:lnSpc>
                <a:spcPts val="2400"/>
              </a:lnSpc>
              <a:buNone/>
            </a:pPr>
            <a:r>
              <a:rPr lang="en-US" sz="1600" b="1" dirty="0">
                <a:solidFill>
                  <a:srgbClr val="FFFFFF"/>
                </a:solidFill>
                <a:latin typeface="Arial" pitchFamily="34" charset="0"/>
                <a:ea typeface="Microsoft JhengHei"/>
                <a:cs typeface="Microsoft JhengHei"/>
                <a:ea typeface="Arial" pitchFamily="34" charset="-122"/>
                <a:cs typeface="Arial" pitchFamily="34" charset="-120"/>
              </a:rPr>
              <a:t>系統有哪些功能</a:t>
            </a:r>
            <a:pPr indent="0" marL="0">
              <a:lnSpc>
                <a:spcPts val="2400"/>
              </a:lnSpc>
              <a:buNone/>
            </a:pPr>
            <a:r>
              <a:rPr lang="en-US" sz="1600" dirty="0">
                <a:solidFill>
                  <a:srgbClr val="A9C8DE"/>
                </a:solidFill>
                <a:latin typeface="Arial" pitchFamily="34" charset="0"/>
                <a:ea typeface="Microsoft JhengHei"/>
                <a:cs typeface="Microsoft JhengHei"/>
                <a:ea typeface="Arial" pitchFamily="34" charset="-122"/>
                <a:cs typeface="Arial" pitchFamily="34" charset="-120"/>
              </a:rPr>
              <a:t>、</a:t>
            </a:r>
            <a:pPr indent="0" marL="0">
              <a:lnSpc>
                <a:spcPts val="2400"/>
              </a:lnSpc>
              <a:buNone/>
            </a:pPr>
            <a:r>
              <a:rPr lang="en-US" sz="1600" b="1" dirty="0">
                <a:solidFill>
                  <a:srgbClr val="FFFFFF"/>
                </a:solidFill>
                <a:latin typeface="Arial" pitchFamily="34" charset="0"/>
                <a:ea typeface="Microsoft JhengHei"/>
                <a:cs typeface="Microsoft JhengHei"/>
                <a:ea typeface="Arial" pitchFamily="34" charset="-122"/>
                <a:cs typeface="Arial" pitchFamily="34" charset="-120"/>
              </a:rPr>
              <a:t>資安怎麼過</a:t>
            </a:r>
            <a:pPr indent="0" marL="0">
              <a:lnSpc>
                <a:spcPts val="2400"/>
              </a:lnSpc>
              <a:buNone/>
            </a:pPr>
            <a:r>
              <a:rPr lang="en-US" sz="1600" dirty="0">
                <a:solidFill>
                  <a:srgbClr val="A9C8DE"/>
                </a:solidFill>
                <a:latin typeface="Arial" pitchFamily="34" charset="0"/>
                <a:ea typeface="Microsoft JhengHei"/>
                <a:cs typeface="Microsoft JhengHei"/>
                <a:ea typeface="Arial" pitchFamily="34" charset="-122"/>
                <a:cs typeface="Arial" pitchFamily="34" charset="-120"/>
              </a:rPr>
              <a:t>、</a:t>
            </a:r>
            <a:pPr indent="0" marL="0">
              <a:lnSpc>
                <a:spcPts val="2400"/>
              </a:lnSpc>
              <a:buNone/>
            </a:pPr>
            <a:r>
              <a:rPr lang="en-US" sz="1600" b="1" dirty="0">
                <a:solidFill>
                  <a:srgbClr val="FFFFFF"/>
                </a:solidFill>
                <a:latin typeface="Arial" pitchFamily="34" charset="0"/>
                <a:ea typeface="Microsoft JhengHei"/>
                <a:cs typeface="Microsoft JhengHei"/>
                <a:ea typeface="Arial" pitchFamily="34" charset="-122"/>
                <a:cs typeface="Arial" pitchFamily="34" charset="-120"/>
              </a:rPr>
              <a:t>簽辦要引哪些規範</a:t>
            </a:r>
            <a:pPr indent="0" marL="0">
              <a:lnSpc>
                <a:spcPts val="2400"/>
              </a:lnSpc>
              <a:buNone/>
            </a:pPr>
            <a:r>
              <a:rPr lang="en-US" sz="1600" dirty="0">
                <a:solidFill>
                  <a:srgbClr val="A9C8DE"/>
                </a:solidFill>
                <a:latin typeface="Arial" pitchFamily="34" charset="0"/>
                <a:ea typeface="Microsoft JhengHei"/>
                <a:cs typeface="Microsoft JhengHei"/>
                <a:ea typeface="Arial" pitchFamily="34" charset="-122"/>
                <a:cs typeface="Arial" pitchFamily="34" charset="-120"/>
              </a:rPr>
              <a:t>。</a:t>
            </a:r>
            <a:endParaRPr lang="en-US" sz="1600" dirty="0"/>
          </a:p>
        </p:txBody>
      </p:sp>
      <p:sp>
        <p:nvSpPr>
          <p:cNvPr id="11" name="Text 9"/>
          <p:cNvSpPr/>
          <p:nvPr/>
        </p:nvSpPr>
        <p:spPr>
          <a:xfrm>
            <a:off x="5013856" y="5029200"/>
            <a:ext cx="6446319" cy="274320"/>
          </a:xfrm>
          <a:prstGeom prst="rect">
            <a:avLst/>
          </a:prstGeom>
          <a:noFill/>
          <a:ln/>
        </p:spPr>
        <p:txBody>
          <a:bodyPr wrap="square" lIns="0" tIns="0" rIns="0" bIns="0" rtlCol="0" anchor="ctr"/>
          <a:lstStyle/>
          <a:p>
            <a:pPr indent="0" marL="0">
              <a:buNone/>
            </a:pPr>
            <a:r>
              <a:rPr lang="en-US" sz="1200" b="1" spc="80" kern="0" dirty="0">
                <a:solidFill>
                  <a:srgbClr val="A9C8DE"/>
                </a:solidFill>
                <a:latin typeface="Arial" pitchFamily="34" charset="0"/>
                <a:ea typeface="Microsoft JhengHei"/>
                <a:cs typeface="Microsoft JhengHei"/>
                <a:ea typeface="Arial" pitchFamily="34" charset="-122"/>
                <a:cs typeface="Arial" pitchFamily="34" charset="-120"/>
              </a:rPr>
              <a:t>2026 年 8 月 12 日　·　中央大學總務處營繕組</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導覽</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02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1B5480"/>
                </a:solidFill>
                <a:latin typeface="Arial" pitchFamily="34" charset="0"/>
                <a:ea typeface="Microsoft JhengHei"/>
                <a:cs typeface="Microsoft JhengHei"/>
                <a:ea typeface="Arial" pitchFamily="34" charset="-122"/>
                <a:cs typeface="Arial" pitchFamily="34" charset="-120"/>
              </a:rPr>
              <a:t>本簡報架構</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3100" b="1" dirty="0">
                <a:solidFill>
                  <a:srgbClr val="1D2B39"/>
                </a:solidFill>
                <a:latin typeface="Arial" pitchFamily="34" charset="0"/>
                <a:ea typeface="Microsoft JhengHei"/>
                <a:cs typeface="Microsoft JhengHei"/>
                <a:ea typeface="Arial" pitchFamily="34" charset="-122"/>
                <a:cs typeface="Arial" pitchFamily="34" charset="-120"/>
              </a:rPr>
              <a:t>把三個問題一次講完。</a:t>
            </a:r>
            <a:endParaRPr lang="en-US" sz="3100" dirty="0"/>
          </a:p>
        </p:txBody>
      </p:sp>
      <p:sp>
        <p:nvSpPr>
          <p:cNvPr id="6" name="Shape 4"/>
          <p:cNvSpPr/>
          <p:nvPr/>
        </p:nvSpPr>
        <p:spPr>
          <a:xfrm>
            <a:off x="658368" y="1572768"/>
            <a:ext cx="3368954" cy="2331720"/>
          </a:xfrm>
          <a:prstGeom prst="roundRect">
            <a:avLst>
              <a:gd name="adj" fmla="val 1373"/>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7" name="Text 5"/>
          <p:cNvSpPr/>
          <p:nvPr/>
        </p:nvSpPr>
        <p:spPr>
          <a:xfrm>
            <a:off x="877824" y="1737360"/>
            <a:ext cx="957834" cy="237744"/>
          </a:xfrm>
          <a:prstGeom prst="roundRect">
            <a:avLst>
              <a:gd name="adj" fmla="val 11538"/>
            </a:avLst>
          </a:prstGeom>
          <a:solidFill>
            <a:srgbClr val="E4EDF5"/>
          </a:solidFill>
          <a:ln>
            <a:solidFill>
              <a:srgbClr val="E4EDF5"/>
            </a:solidFill>
          </a:ln>
        </p:spPr>
        <p:txBody>
          <a:bodyPr wrap="square" lIns="0" tIns="0" rIns="0" bIns="0" rtlCol="0" anchor="ctr"/>
          <a:lstStyle/>
          <a:p>
            <a:pPr algn="ctr" indent="0" marL="0">
              <a:buNone/>
            </a:pPr>
            <a:r>
              <a:rPr lang="en-US" sz="900" b="1" spc="60" kern="0" dirty="0">
                <a:solidFill>
                  <a:srgbClr val="1B5480"/>
                </a:solidFill>
                <a:latin typeface="Arial" pitchFamily="34" charset="0"/>
                <a:ea typeface="Microsoft JhengHei"/>
                <a:cs typeface="Microsoft JhengHei"/>
                <a:ea typeface="Arial" pitchFamily="34" charset="-122"/>
                <a:cs typeface="Arial" pitchFamily="34" charset="-120"/>
              </a:rPr>
              <a:t>壹 · P04–P09</a:t>
            </a:r>
            <a:endParaRPr lang="en-US" sz="900" dirty="0"/>
          </a:p>
        </p:txBody>
      </p:sp>
      <p:sp>
        <p:nvSpPr>
          <p:cNvPr id="8" name="Text 6"/>
          <p:cNvSpPr/>
          <p:nvPr/>
        </p:nvSpPr>
        <p:spPr>
          <a:xfrm>
            <a:off x="877824" y="2103120"/>
            <a:ext cx="2930042" cy="274320"/>
          </a:xfrm>
          <a:prstGeom prst="rect">
            <a:avLst/>
          </a:prstGeom>
          <a:noFill/>
          <a:ln/>
        </p:spPr>
        <p:txBody>
          <a:bodyPr wrap="square" lIns="0" tIns="0" rIns="0" bIns="0" rtlCol="0" anchor="ctr"/>
          <a:lstStyle/>
          <a:p>
            <a:pPr indent="0" marL="0">
              <a:buNone/>
            </a:pPr>
            <a:r>
              <a:rPr lang="en-US" sz="1700" b="1" dirty="0">
                <a:solidFill>
                  <a:srgbClr val="1D2B39"/>
                </a:solidFill>
                <a:latin typeface="Arial" pitchFamily="34" charset="0"/>
                <a:ea typeface="Microsoft JhengHei"/>
                <a:cs typeface="Microsoft JhengHei"/>
                <a:ea typeface="Arial" pitchFamily="34" charset="-122"/>
                <a:cs typeface="Arial" pitchFamily="34" charset="-120"/>
              </a:rPr>
              <a:t>系統有哪些功能</a:t>
            </a:r>
            <a:endParaRPr lang="en-US" sz="1700" dirty="0"/>
          </a:p>
        </p:txBody>
      </p:sp>
      <p:sp>
        <p:nvSpPr>
          <p:cNvPr id="9" name="Text 7"/>
          <p:cNvSpPr/>
          <p:nvPr/>
        </p:nvSpPr>
        <p:spPr>
          <a:xfrm>
            <a:off x="877824" y="2450592"/>
            <a:ext cx="2930042" cy="1307592"/>
          </a:xfrm>
          <a:prstGeom prst="rect">
            <a:avLst/>
          </a:prstGeom>
          <a:noFill/>
          <a:ln/>
        </p:spPr>
        <p:txBody>
          <a:bodyPr wrap="square" lIns="0" tIns="0" rIns="0" bIns="0" rtlCol="0" anchor="t"/>
          <a:lstStyle/>
          <a:p>
            <a:pPr indent="0" marL="0">
              <a:lnSpc>
                <a:spcPts val="1584"/>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九個功能面、十六個可獨立開關的 AI 模組、四個角色各一個 Agent。重點在「少輸入、多產出」。</a:t>
            </a:r>
            <a:endParaRPr lang="en-US" sz="1100" dirty="0"/>
          </a:p>
        </p:txBody>
      </p:sp>
      <p:sp>
        <p:nvSpPr>
          <p:cNvPr id="10" name="Shape 8"/>
          <p:cNvSpPr/>
          <p:nvPr/>
        </p:nvSpPr>
        <p:spPr>
          <a:xfrm>
            <a:off x="4411370" y="1572768"/>
            <a:ext cx="3368954" cy="2331720"/>
          </a:xfrm>
          <a:prstGeom prst="roundRect">
            <a:avLst>
              <a:gd name="adj" fmla="val 1373"/>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1" name="Text 9"/>
          <p:cNvSpPr/>
          <p:nvPr/>
        </p:nvSpPr>
        <p:spPr>
          <a:xfrm>
            <a:off x="4630826" y="1737360"/>
            <a:ext cx="957834" cy="237744"/>
          </a:xfrm>
          <a:prstGeom prst="roundRect">
            <a:avLst>
              <a:gd name="adj" fmla="val 11538"/>
            </a:avLst>
          </a:prstGeom>
          <a:solidFill>
            <a:srgbClr val="FCE9DC"/>
          </a:solidFill>
          <a:ln>
            <a:solidFill>
              <a:srgbClr val="FCE9DC"/>
            </a:solidFill>
          </a:ln>
        </p:spPr>
        <p:txBody>
          <a:bodyPr wrap="square" lIns="0" tIns="0" rIns="0" bIns="0" rtlCol="0" anchor="ctr"/>
          <a:lstStyle/>
          <a:p>
            <a:pPr algn="ctr" indent="0" marL="0">
              <a:buNone/>
            </a:pPr>
            <a:r>
              <a:rPr lang="en-US" sz="900" b="1" spc="60" kern="0" dirty="0">
                <a:solidFill>
                  <a:srgbClr val="C05209"/>
                </a:solidFill>
                <a:latin typeface="Arial" pitchFamily="34" charset="0"/>
                <a:ea typeface="Microsoft JhengHei"/>
                <a:cs typeface="Microsoft JhengHei"/>
                <a:ea typeface="Arial" pitchFamily="34" charset="-122"/>
                <a:cs typeface="Arial" pitchFamily="34" charset="-120"/>
              </a:rPr>
              <a:t>貳 · P11–P17</a:t>
            </a:r>
            <a:endParaRPr lang="en-US" sz="900" dirty="0"/>
          </a:p>
        </p:txBody>
      </p:sp>
      <p:sp>
        <p:nvSpPr>
          <p:cNvPr id="12" name="Text 10"/>
          <p:cNvSpPr/>
          <p:nvPr/>
        </p:nvSpPr>
        <p:spPr>
          <a:xfrm>
            <a:off x="4630826" y="2103120"/>
            <a:ext cx="2930042" cy="274320"/>
          </a:xfrm>
          <a:prstGeom prst="rect">
            <a:avLst/>
          </a:prstGeom>
          <a:noFill/>
          <a:ln/>
        </p:spPr>
        <p:txBody>
          <a:bodyPr wrap="square" lIns="0" tIns="0" rIns="0" bIns="0" rtlCol="0" anchor="ctr"/>
          <a:lstStyle/>
          <a:p>
            <a:pPr indent="0" marL="0">
              <a:buNone/>
            </a:pPr>
            <a:r>
              <a:rPr lang="en-US" sz="1700" b="1" dirty="0">
                <a:solidFill>
                  <a:srgbClr val="1D2B39"/>
                </a:solidFill>
                <a:latin typeface="Arial" pitchFamily="34" charset="0"/>
                <a:ea typeface="Microsoft JhengHei"/>
                <a:cs typeface="Microsoft JhengHei"/>
                <a:ea typeface="Arial" pitchFamily="34" charset="-122"/>
                <a:cs typeface="Arial" pitchFamily="34" charset="-120"/>
              </a:rPr>
              <a:t>資安怎麼過</a:t>
            </a:r>
            <a:endParaRPr lang="en-US" sz="1700" dirty="0"/>
          </a:p>
        </p:txBody>
      </p:sp>
      <p:sp>
        <p:nvSpPr>
          <p:cNvPr id="13" name="Text 11"/>
          <p:cNvSpPr/>
          <p:nvPr/>
        </p:nvSpPr>
        <p:spPr>
          <a:xfrm>
            <a:off x="4630826" y="2450592"/>
            <a:ext cx="2930042" cy="1307592"/>
          </a:xfrm>
          <a:prstGeom prst="rect">
            <a:avLst/>
          </a:prstGeom>
          <a:noFill/>
          <a:ln/>
        </p:spPr>
        <p:txBody>
          <a:bodyPr wrap="square" lIns="0" tIns="0" rIns="0" bIns="0" rtlCol="0" anchor="t"/>
          <a:lstStyle/>
          <a:p>
            <a:pPr indent="0" marL="0">
              <a:lnSpc>
                <a:spcPts val="1584"/>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工程會一覽表歸類、普級 11 項逐項回覆、境外資料、弱點掃描、日誌、AI 的信任設計。</a:t>
            </a:r>
            <a:endParaRPr lang="en-US" sz="1100" dirty="0"/>
          </a:p>
        </p:txBody>
      </p:sp>
      <p:sp>
        <p:nvSpPr>
          <p:cNvPr id="14" name="Shape 12"/>
          <p:cNvSpPr/>
          <p:nvPr/>
        </p:nvSpPr>
        <p:spPr>
          <a:xfrm>
            <a:off x="8164373" y="1572768"/>
            <a:ext cx="3368954" cy="2331720"/>
          </a:xfrm>
          <a:prstGeom prst="roundRect">
            <a:avLst>
              <a:gd name="adj" fmla="val 1373"/>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5" name="Text 13"/>
          <p:cNvSpPr/>
          <p:nvPr/>
        </p:nvSpPr>
        <p:spPr>
          <a:xfrm>
            <a:off x="8383829" y="1737360"/>
            <a:ext cx="957834" cy="237744"/>
          </a:xfrm>
          <a:prstGeom prst="roundRect">
            <a:avLst>
              <a:gd name="adj" fmla="val 11538"/>
            </a:avLst>
          </a:prstGeom>
          <a:solidFill>
            <a:srgbClr val="E4EDF5"/>
          </a:solidFill>
          <a:ln>
            <a:solidFill>
              <a:srgbClr val="E4EDF5"/>
            </a:solidFill>
          </a:ln>
        </p:spPr>
        <p:txBody>
          <a:bodyPr wrap="square" lIns="0" tIns="0" rIns="0" bIns="0" rtlCol="0" anchor="ctr"/>
          <a:lstStyle/>
          <a:p>
            <a:pPr algn="ctr" indent="0" marL="0">
              <a:buNone/>
            </a:pPr>
            <a:r>
              <a:rPr lang="en-US" sz="900" b="1" spc="60" kern="0" dirty="0">
                <a:solidFill>
                  <a:srgbClr val="1B5480"/>
                </a:solidFill>
                <a:latin typeface="Arial" pitchFamily="34" charset="0"/>
                <a:ea typeface="Microsoft JhengHei"/>
                <a:cs typeface="Microsoft JhengHei"/>
                <a:ea typeface="Arial" pitchFamily="34" charset="-122"/>
                <a:cs typeface="Arial" pitchFamily="34" charset="-120"/>
              </a:rPr>
              <a:t>參 · P19–P25</a:t>
            </a:r>
            <a:endParaRPr lang="en-US" sz="900" dirty="0"/>
          </a:p>
        </p:txBody>
      </p:sp>
      <p:sp>
        <p:nvSpPr>
          <p:cNvPr id="16" name="Text 14"/>
          <p:cNvSpPr/>
          <p:nvPr/>
        </p:nvSpPr>
        <p:spPr>
          <a:xfrm>
            <a:off x="8383829" y="2103120"/>
            <a:ext cx="2930042" cy="274320"/>
          </a:xfrm>
          <a:prstGeom prst="rect">
            <a:avLst/>
          </a:prstGeom>
          <a:noFill/>
          <a:ln/>
        </p:spPr>
        <p:txBody>
          <a:bodyPr wrap="square" lIns="0" tIns="0" rIns="0" bIns="0" rtlCol="0" anchor="ctr"/>
          <a:lstStyle/>
          <a:p>
            <a:pPr indent="0" marL="0">
              <a:buNone/>
            </a:pPr>
            <a:r>
              <a:rPr lang="en-US" sz="1700" b="1" dirty="0">
                <a:solidFill>
                  <a:srgbClr val="1D2B39"/>
                </a:solidFill>
                <a:latin typeface="Arial" pitchFamily="34" charset="0"/>
                <a:ea typeface="Microsoft JhengHei"/>
                <a:cs typeface="Microsoft JhengHei"/>
                <a:ea typeface="Arial" pitchFamily="34" charset="-122"/>
                <a:cs typeface="Arial" pitchFamily="34" charset="-120"/>
              </a:rPr>
              <a:t>簽辦怎麼走</a:t>
            </a:r>
            <a:endParaRPr lang="en-US" sz="1700" dirty="0"/>
          </a:p>
        </p:txBody>
      </p:sp>
      <p:sp>
        <p:nvSpPr>
          <p:cNvPr id="17" name="Text 15"/>
          <p:cNvSpPr/>
          <p:nvPr/>
        </p:nvSpPr>
        <p:spPr>
          <a:xfrm>
            <a:off x="8383829" y="2450592"/>
            <a:ext cx="2930042" cy="1307592"/>
          </a:xfrm>
          <a:prstGeom prst="rect">
            <a:avLst/>
          </a:prstGeom>
          <a:noFill/>
          <a:ln/>
        </p:spPr>
        <p:txBody>
          <a:bodyPr wrap="square" lIns="0" tIns="0" rIns="0" bIns="0" rtlCol="0" anchor="t"/>
          <a:lstStyle/>
          <a:p>
            <a:pPr indent="0" marL="0">
              <a:lnSpc>
                <a:spcPts val="1584"/>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已確定的事、履約期間與驗收時點、服務承諾、簽稿骨架、七份附件、會辦動線。</a:t>
            </a:r>
            <a:endParaRPr lang="en-US" sz="1100" dirty="0"/>
          </a:p>
        </p:txBody>
      </p:sp>
      <p:sp>
        <p:nvSpPr>
          <p:cNvPr id="18" name="Shape 16"/>
          <p:cNvSpPr/>
          <p:nvPr/>
        </p:nvSpPr>
        <p:spPr>
          <a:xfrm>
            <a:off x="658368" y="4224528"/>
            <a:ext cx="10874959" cy="960120"/>
          </a:xfrm>
          <a:prstGeom prst="roundRect">
            <a:avLst>
              <a:gd name="adj" fmla="val 3333"/>
            </a:avLst>
          </a:prstGeom>
          <a:solidFill>
            <a:srgbClr val="E4EDF5"/>
          </a:solidFill>
          <a:ln w="12700">
            <a:solidFill>
              <a:srgbClr val="E4EDF5"/>
            </a:solidFill>
            <a:prstDash val="solid"/>
          </a:ln>
        </p:spPr>
      </p:sp>
      <p:sp>
        <p:nvSpPr>
          <p:cNvPr id="19" name="Text 17"/>
          <p:cNvSpPr/>
          <p:nvPr/>
        </p:nvSpPr>
        <p:spPr>
          <a:xfrm>
            <a:off x="932688" y="4224528"/>
            <a:ext cx="10326319" cy="960120"/>
          </a:xfrm>
          <a:prstGeom prst="rect">
            <a:avLst/>
          </a:prstGeom>
          <a:noFill/>
          <a:ln/>
        </p:spPr>
        <p:txBody>
          <a:bodyPr wrap="square" lIns="0" tIns="0" rIns="0" bIns="0" rtlCol="0" anchor="ctr"/>
          <a:lstStyle/>
          <a:p>
            <a:pPr indent="0" marL="0">
              <a:lnSpc>
                <a:spcPts val="1900"/>
              </a:lnSpc>
              <a:buNone/>
            </a:pPr>
            <a:r>
              <a:rPr lang="en-US" sz="1300" b="1" dirty="0">
                <a:solidFill>
                  <a:srgbClr val="1D2B39"/>
                </a:solidFill>
                <a:latin typeface="Arial" pitchFamily="34" charset="0"/>
                <a:ea typeface="Microsoft JhengHei"/>
                <a:cs typeface="Microsoft JhengHei"/>
                <a:ea typeface="Arial" pitchFamily="34" charset="-122"/>
                <a:cs typeface="Arial" pitchFamily="34" charset="-120"/>
              </a:rPr>
              <a:t>先說結論：資安不是這個案子的風險，歸類才是。</a:t>
            </a:r>
            <a:pPr indent="0" marL="0">
              <a:lnSpc>
                <a:spcPts val="1900"/>
              </a:lnSpc>
              <a:buNone/>
            </a:pPr>
            <a:r>
              <a:rPr lang="en-US" sz="1300" dirty="0">
                <a:solidFill>
                  <a:srgbClr val="4E5F70"/>
                </a:solidFill>
                <a:latin typeface="Arial" pitchFamily="34" charset="0"/>
                <a:ea typeface="Microsoft JhengHei"/>
                <a:cs typeface="Microsoft JhengHei"/>
                <a:ea typeface="Arial" pitchFamily="34" charset="-122"/>
                <a:cs typeface="Arial" pitchFamily="34" charset="-120"/>
              </a:rPr>
              <a:t>　同一套系統歸到不同的表，普級要求差好幾倍——所以第貳部分的第一頁在講歸類，不是在講技術。</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4C74"/>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A9C8DE"/>
                </a:solidFill>
                <a:latin typeface="Arial" pitchFamily="34" charset="0"/>
                <a:ea typeface="Microsoft JhengHei"/>
                <a:cs typeface="Microsoft JhengHei"/>
                <a:ea typeface="Arial" pitchFamily="34" charset="-122"/>
                <a:cs typeface="Arial" pitchFamily="34" charset="-120"/>
              </a:rPr>
              <a:t>壹 · 產品</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A9C8DE"/>
                </a:solidFill>
                <a:latin typeface="Arial" pitchFamily="34" charset="0"/>
                <a:ea typeface="Microsoft JhengHei"/>
                <a:cs typeface="Microsoft JhengHei"/>
                <a:ea typeface="Arial" pitchFamily="34" charset="-122"/>
                <a:cs typeface="Arial" pitchFamily="34" charset="-120"/>
              </a:rPr>
              <a:t>03 / 25</a:t>
            </a:r>
            <a:endParaRPr lang="en-US" sz="900" dirty="0"/>
          </a:p>
        </p:txBody>
      </p:sp>
      <p:sp>
        <p:nvSpPr>
          <p:cNvPr id="4" name="Text 2"/>
          <p:cNvSpPr/>
          <p:nvPr/>
        </p:nvSpPr>
        <p:spPr>
          <a:xfrm>
            <a:off x="658368" y="2103120"/>
            <a:ext cx="1828800" cy="914400"/>
          </a:xfrm>
          <a:prstGeom prst="rect">
            <a:avLst/>
          </a:prstGeom>
          <a:noFill/>
          <a:ln/>
        </p:spPr>
        <p:txBody>
          <a:bodyPr wrap="square" lIns="0" tIns="0" rIns="0" bIns="0" rtlCol="0" anchor="ctr"/>
          <a:lstStyle/>
          <a:p>
            <a:pPr indent="0" marL="0">
              <a:buNone/>
            </a:pPr>
            <a:r>
              <a:rPr lang="en-US" sz="6200" b="1" dirty="0">
                <a:solidFill>
                  <a:srgbClr val="E8630C"/>
                </a:solidFill>
                <a:latin typeface="Arial" pitchFamily="34" charset="0"/>
                <a:ea typeface="Microsoft JhengHei"/>
                <a:cs typeface="Microsoft JhengHei"/>
                <a:ea typeface="Arial" pitchFamily="34" charset="-122"/>
                <a:cs typeface="Arial" pitchFamily="34" charset="-120"/>
              </a:rPr>
              <a:t>壹</a:t>
            </a:r>
            <a:endParaRPr lang="en-US" sz="6200" dirty="0"/>
          </a:p>
        </p:txBody>
      </p:sp>
      <p:sp>
        <p:nvSpPr>
          <p:cNvPr id="5" name="Text 3"/>
          <p:cNvSpPr/>
          <p:nvPr/>
        </p:nvSpPr>
        <p:spPr>
          <a:xfrm>
            <a:off x="658368" y="3127248"/>
            <a:ext cx="5981228" cy="73152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Microsoft JhengHei"/>
                <a:cs typeface="Microsoft JhengHei"/>
                <a:ea typeface="Arial" pitchFamily="34" charset="-122"/>
                <a:cs typeface="Arial" pitchFamily="34" charset="-120"/>
              </a:rPr>
              <a:t>系統有哪些功能。</a:t>
            </a:r>
            <a:endParaRPr lang="en-US" sz="3600" dirty="0"/>
          </a:p>
        </p:txBody>
      </p:sp>
      <p:sp>
        <p:nvSpPr>
          <p:cNvPr id="6" name="Text 4"/>
          <p:cNvSpPr/>
          <p:nvPr/>
        </p:nvSpPr>
        <p:spPr>
          <a:xfrm>
            <a:off x="658368" y="3913632"/>
            <a:ext cx="5437480" cy="548640"/>
          </a:xfrm>
          <a:prstGeom prst="rect">
            <a:avLst/>
          </a:prstGeom>
          <a:noFill/>
          <a:ln/>
        </p:spPr>
        <p:txBody>
          <a:bodyPr wrap="square" lIns="0" tIns="0" rIns="0" bIns="0" rtlCol="0" anchor="t"/>
          <a:lstStyle/>
          <a:p>
            <a:pPr indent="0" marL="0">
              <a:lnSpc>
                <a:spcPts val="2200"/>
              </a:lnSpc>
              <a:buNone/>
            </a:pPr>
            <a:r>
              <a:rPr lang="en-US" sz="1450" dirty="0">
                <a:solidFill>
                  <a:srgbClr val="A9C8DE"/>
                </a:solidFill>
                <a:latin typeface="Arial" pitchFamily="34" charset="0"/>
                <a:ea typeface="Microsoft JhengHei"/>
                <a:cs typeface="Microsoft JhengHei"/>
                <a:ea typeface="Arial" pitchFamily="34" charset="-122"/>
                <a:cs typeface="Arial" pitchFamily="34" charset="-120"/>
              </a:rPr>
              <a:t>九個功能面、四個角色、十六個 AI 模組。</a:t>
            </a:r>
            <a:endParaRPr lang="en-US" sz="1450" dirty="0"/>
          </a:p>
          <a:p>
            <a:pPr indent="0" marL="0">
              <a:lnSpc>
                <a:spcPts val="2200"/>
              </a:lnSpc>
              <a:buNone/>
            </a:pPr>
            <a:r>
              <a:rPr lang="en-US" sz="1450" dirty="0">
                <a:solidFill>
                  <a:srgbClr val="A9C8DE"/>
                </a:solidFill>
                <a:latin typeface="Arial" pitchFamily="34" charset="0"/>
                <a:ea typeface="Microsoft JhengHei"/>
                <a:cs typeface="Microsoft JhengHei"/>
                <a:ea typeface="Arial" pitchFamily="34" charset="-122"/>
                <a:cs typeface="Arial" pitchFamily="34" charset="-120"/>
              </a:rPr>
              <a:t>重點是「少輸入、多產出」。</a:t>
            </a:r>
            <a:endParaRPr lang="en-US" sz="1450" dirty="0"/>
          </a:p>
        </p:txBody>
      </p:sp>
      <p:sp>
        <p:nvSpPr>
          <p:cNvPr id="7" name="Text 5"/>
          <p:cNvSpPr/>
          <p:nvPr/>
        </p:nvSpPr>
        <p:spPr>
          <a:xfrm>
            <a:off x="7400843" y="2331720"/>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8" name="Text 6"/>
          <p:cNvSpPr/>
          <p:nvPr/>
        </p:nvSpPr>
        <p:spPr>
          <a:xfrm>
            <a:off x="7620299" y="2331720"/>
            <a:ext cx="3913028"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現況：資料散在四個地方</a:t>
            </a:r>
            <a:endParaRPr lang="en-US" sz="1250" dirty="0"/>
          </a:p>
        </p:txBody>
      </p:sp>
      <p:sp>
        <p:nvSpPr>
          <p:cNvPr id="9" name="Text 7"/>
          <p:cNvSpPr/>
          <p:nvPr/>
        </p:nvSpPr>
        <p:spPr>
          <a:xfrm>
            <a:off x="7400843" y="2624328"/>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0" name="Text 8"/>
          <p:cNvSpPr/>
          <p:nvPr/>
        </p:nvSpPr>
        <p:spPr>
          <a:xfrm>
            <a:off x="7620299" y="2624328"/>
            <a:ext cx="3913028"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功能全覽與資料脊椎</a:t>
            </a:r>
            <a:endParaRPr lang="en-US" sz="1250" dirty="0"/>
          </a:p>
        </p:txBody>
      </p:sp>
      <p:sp>
        <p:nvSpPr>
          <p:cNvPr id="11" name="Text 9"/>
          <p:cNvSpPr/>
          <p:nvPr/>
        </p:nvSpPr>
        <p:spPr>
          <a:xfrm>
            <a:off x="7400843" y="2916936"/>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2" name="Text 10"/>
          <p:cNvSpPr/>
          <p:nvPr/>
        </p:nvSpPr>
        <p:spPr>
          <a:xfrm>
            <a:off x="7620299" y="2916936"/>
            <a:ext cx="3913028"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四個角色各一個 Agent</a:t>
            </a:r>
            <a:endParaRPr lang="en-US" sz="1250" dirty="0"/>
          </a:p>
        </p:txBody>
      </p:sp>
      <p:sp>
        <p:nvSpPr>
          <p:cNvPr id="13" name="Text 11"/>
          <p:cNvSpPr/>
          <p:nvPr/>
        </p:nvSpPr>
        <p:spPr>
          <a:xfrm>
            <a:off x="7400843" y="3209544"/>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4" name="Text 12"/>
          <p:cNvSpPr/>
          <p:nvPr/>
        </p:nvSpPr>
        <p:spPr>
          <a:xfrm>
            <a:off x="7620299" y="3209544"/>
            <a:ext cx="3913028"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佐證鏈：逐工項對帳</a:t>
            </a:r>
            <a:endParaRPr lang="en-US" sz="1250" dirty="0"/>
          </a:p>
        </p:txBody>
      </p:sp>
      <p:sp>
        <p:nvSpPr>
          <p:cNvPr id="15" name="Text 13"/>
          <p:cNvSpPr/>
          <p:nvPr/>
        </p:nvSpPr>
        <p:spPr>
          <a:xfrm>
            <a:off x="7400843" y="3502152"/>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6" name="Text 14"/>
          <p:cNvSpPr/>
          <p:nvPr/>
        </p:nvSpPr>
        <p:spPr>
          <a:xfrm>
            <a:off x="7620299" y="3502152"/>
            <a:ext cx="3913028"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AI 模組與開關</a:t>
            </a:r>
            <a:endParaRPr lang="en-US" sz="1250" dirty="0"/>
          </a:p>
        </p:txBody>
      </p:sp>
      <p:sp>
        <p:nvSpPr>
          <p:cNvPr id="17" name="Text 15"/>
          <p:cNvSpPr/>
          <p:nvPr/>
        </p:nvSpPr>
        <p:spPr>
          <a:xfrm>
            <a:off x="7400843" y="3794760"/>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8" name="Text 16"/>
          <p:cNvSpPr/>
          <p:nvPr/>
        </p:nvSpPr>
        <p:spPr>
          <a:xfrm>
            <a:off x="7620299" y="3794760"/>
            <a:ext cx="3913028"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工程完成度</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壹 · 產品</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04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1B5480"/>
                </a:solidFill>
                <a:latin typeface="Arial" pitchFamily="34" charset="0"/>
                <a:ea typeface="Microsoft JhengHei"/>
                <a:cs typeface="Microsoft JhengHei"/>
                <a:ea typeface="Arial" pitchFamily="34" charset="-122"/>
                <a:cs typeface="Arial" pitchFamily="34" charset="-120"/>
              </a:rPr>
              <a:t>現況</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3100" b="1" dirty="0">
                <a:solidFill>
                  <a:srgbClr val="1D2B39"/>
                </a:solidFill>
                <a:latin typeface="Arial" pitchFamily="34" charset="0"/>
                <a:ea typeface="Microsoft JhengHei"/>
                <a:cs typeface="Microsoft JhengHei"/>
                <a:ea typeface="Arial" pitchFamily="34" charset="-122"/>
                <a:cs typeface="Arial" pitchFamily="34" charset="-120"/>
              </a:rPr>
              <a:t>資料不是沒有，是散在四個地方。</a:t>
            </a:r>
            <a:endParaRPr lang="en-US" sz="3100" dirty="0"/>
          </a:p>
        </p:txBody>
      </p:sp>
      <p:sp>
        <p:nvSpPr>
          <p:cNvPr id="6" name="Shape 4"/>
          <p:cNvSpPr/>
          <p:nvPr/>
        </p:nvSpPr>
        <p:spPr>
          <a:xfrm>
            <a:off x="658368" y="1481328"/>
            <a:ext cx="2513000" cy="1051560"/>
          </a:xfrm>
          <a:prstGeom prst="roundRect">
            <a:avLst>
              <a:gd name="adj" fmla="val 3043"/>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7" name="Text 5"/>
          <p:cNvSpPr/>
          <p:nvPr/>
        </p:nvSpPr>
        <p:spPr>
          <a:xfrm>
            <a:off x="877824" y="1645920"/>
            <a:ext cx="2074088"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施工日誌</a:t>
            </a:r>
            <a:endParaRPr lang="en-US" sz="1500" dirty="0"/>
          </a:p>
        </p:txBody>
      </p:sp>
      <p:sp>
        <p:nvSpPr>
          <p:cNvPr id="8" name="Text 6"/>
          <p:cNvSpPr/>
          <p:nvPr/>
        </p:nvSpPr>
        <p:spPr>
          <a:xfrm>
            <a:off x="877824" y="1993392"/>
            <a:ext cx="2074088" cy="393192"/>
          </a:xfrm>
          <a:prstGeom prst="rect">
            <a:avLst/>
          </a:prstGeom>
          <a:noFill/>
          <a:ln/>
        </p:spPr>
        <p:txBody>
          <a:bodyPr wrap="square" lIns="0" tIns="0" rIns="0" bIns="0" rtlCol="0" anchor="t"/>
          <a:lstStyle/>
          <a:p>
            <a:pPr indent="0" marL="0">
              <a:lnSpc>
                <a:spcPts val="1584"/>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廠商每月印一疊 PDF 送來</a:t>
            </a:r>
            <a:endParaRPr lang="en-US" sz="1100" dirty="0"/>
          </a:p>
        </p:txBody>
      </p:sp>
      <p:sp>
        <p:nvSpPr>
          <p:cNvPr id="9" name="Shape 7"/>
          <p:cNvSpPr/>
          <p:nvPr/>
        </p:nvSpPr>
        <p:spPr>
          <a:xfrm>
            <a:off x="3445688" y="1481328"/>
            <a:ext cx="2513000" cy="1051560"/>
          </a:xfrm>
          <a:prstGeom prst="roundRect">
            <a:avLst>
              <a:gd name="adj" fmla="val 3043"/>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0" name="Text 8"/>
          <p:cNvSpPr/>
          <p:nvPr/>
        </p:nvSpPr>
        <p:spPr>
          <a:xfrm>
            <a:off x="3665144" y="1645920"/>
            <a:ext cx="2074088"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估驗計價</a:t>
            </a:r>
            <a:endParaRPr lang="en-US" sz="1500" dirty="0"/>
          </a:p>
        </p:txBody>
      </p:sp>
      <p:sp>
        <p:nvSpPr>
          <p:cNvPr id="11" name="Text 9"/>
          <p:cNvSpPr/>
          <p:nvPr/>
        </p:nvSpPr>
        <p:spPr>
          <a:xfrm>
            <a:off x="3665144" y="1993392"/>
            <a:ext cx="2074088" cy="393192"/>
          </a:xfrm>
          <a:prstGeom prst="rect">
            <a:avLst/>
          </a:prstGeom>
          <a:noFill/>
          <a:ln/>
        </p:spPr>
        <p:txBody>
          <a:bodyPr wrap="square" lIns="0" tIns="0" rIns="0" bIns="0" rtlCol="0" anchor="t"/>
          <a:lstStyle/>
          <a:p>
            <a:pPr indent="0" marL="0">
              <a:lnSpc>
                <a:spcPts val="1584"/>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Excel，每期一個檔</a:t>
            </a:r>
            <a:endParaRPr lang="en-US" sz="1100" dirty="0"/>
          </a:p>
        </p:txBody>
      </p:sp>
      <p:sp>
        <p:nvSpPr>
          <p:cNvPr id="12" name="Shape 10"/>
          <p:cNvSpPr/>
          <p:nvPr/>
        </p:nvSpPr>
        <p:spPr>
          <a:xfrm>
            <a:off x="6233008" y="1481328"/>
            <a:ext cx="2513000" cy="1051560"/>
          </a:xfrm>
          <a:prstGeom prst="roundRect">
            <a:avLst>
              <a:gd name="adj" fmla="val 3043"/>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3" name="Text 11"/>
          <p:cNvSpPr/>
          <p:nvPr/>
        </p:nvSpPr>
        <p:spPr>
          <a:xfrm>
            <a:off x="6452464" y="1645920"/>
            <a:ext cx="2074088"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查驗紀錄</a:t>
            </a:r>
            <a:endParaRPr lang="en-US" sz="1500" dirty="0"/>
          </a:p>
        </p:txBody>
      </p:sp>
      <p:sp>
        <p:nvSpPr>
          <p:cNvPr id="14" name="Text 12"/>
          <p:cNvSpPr/>
          <p:nvPr/>
        </p:nvSpPr>
        <p:spPr>
          <a:xfrm>
            <a:off x="6452464" y="1993392"/>
            <a:ext cx="2074088" cy="393192"/>
          </a:xfrm>
          <a:prstGeom prst="rect">
            <a:avLst/>
          </a:prstGeom>
          <a:noFill/>
          <a:ln/>
        </p:spPr>
        <p:txBody>
          <a:bodyPr wrap="square" lIns="0" tIns="0" rIns="0" bIns="0" rtlCol="0" anchor="t"/>
          <a:lstStyle/>
          <a:p>
            <a:pPr indent="0" marL="0">
              <a:lnSpc>
                <a:spcPts val="1584"/>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紙本，放監造那邊</a:t>
            </a:r>
            <a:endParaRPr lang="en-US" sz="1100" dirty="0"/>
          </a:p>
        </p:txBody>
      </p:sp>
      <p:sp>
        <p:nvSpPr>
          <p:cNvPr id="15" name="Shape 13"/>
          <p:cNvSpPr/>
          <p:nvPr/>
        </p:nvSpPr>
        <p:spPr>
          <a:xfrm>
            <a:off x="9020327" y="1481328"/>
            <a:ext cx="2513000" cy="1051560"/>
          </a:xfrm>
          <a:prstGeom prst="roundRect">
            <a:avLst>
              <a:gd name="adj" fmla="val 3043"/>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6" name="Text 14"/>
          <p:cNvSpPr/>
          <p:nvPr/>
        </p:nvSpPr>
        <p:spPr>
          <a:xfrm>
            <a:off x="9239783" y="1645920"/>
            <a:ext cx="2074088"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工地照片</a:t>
            </a:r>
            <a:endParaRPr lang="en-US" sz="1500" dirty="0"/>
          </a:p>
        </p:txBody>
      </p:sp>
      <p:sp>
        <p:nvSpPr>
          <p:cNvPr id="17" name="Text 15"/>
          <p:cNvSpPr/>
          <p:nvPr/>
        </p:nvSpPr>
        <p:spPr>
          <a:xfrm>
            <a:off x="9239783" y="1993392"/>
            <a:ext cx="2074088" cy="393192"/>
          </a:xfrm>
          <a:prstGeom prst="rect">
            <a:avLst/>
          </a:prstGeom>
          <a:noFill/>
          <a:ln/>
        </p:spPr>
        <p:txBody>
          <a:bodyPr wrap="square" lIns="0" tIns="0" rIns="0" bIns="0" rtlCol="0" anchor="t"/>
          <a:lstStyle/>
          <a:p>
            <a:pPr indent="0" marL="0">
              <a:lnSpc>
                <a:spcPts val="1584"/>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LINE 群組，翻不到</a:t>
            </a:r>
            <a:endParaRPr lang="en-US" sz="1100" dirty="0"/>
          </a:p>
        </p:txBody>
      </p:sp>
      <p:sp>
        <p:nvSpPr>
          <p:cNvPr id="18" name="Shape 16"/>
          <p:cNvSpPr/>
          <p:nvPr/>
        </p:nvSpPr>
        <p:spPr>
          <a:xfrm>
            <a:off x="658368" y="2834640"/>
            <a:ext cx="3417722" cy="1371600"/>
          </a:xfrm>
          <a:prstGeom prst="roundRect">
            <a:avLst>
              <a:gd name="adj" fmla="val 2333"/>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9" name="Text 17"/>
          <p:cNvSpPr/>
          <p:nvPr/>
        </p:nvSpPr>
        <p:spPr>
          <a:xfrm>
            <a:off x="877824" y="2999232"/>
            <a:ext cx="2978810"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估驗核定</a:t>
            </a:r>
            <a:endParaRPr lang="en-US" sz="1500" dirty="0"/>
          </a:p>
        </p:txBody>
      </p:sp>
      <p:sp>
        <p:nvSpPr>
          <p:cNvPr id="20" name="Text 18"/>
          <p:cNvSpPr/>
          <p:nvPr/>
        </p:nvSpPr>
        <p:spPr>
          <a:xfrm>
            <a:off x="877824" y="3346704"/>
            <a:ext cx="2978810" cy="713232"/>
          </a:xfrm>
          <a:prstGeom prst="rect">
            <a:avLst/>
          </a:prstGeom>
          <a:noFill/>
          <a:ln/>
        </p:spPr>
        <p:txBody>
          <a:bodyPr wrap="square" lIns="0" tIns="0" rIns="0" bIns="0" rtlCol="0" anchor="t"/>
          <a:lstStyle/>
          <a:p>
            <a:pPr indent="0" marL="0">
              <a:lnSpc>
                <a:spcPts val="1584"/>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廠商報這期做了多少，要人工翻日誌回頭對數量。對不完，就只能相信。</a:t>
            </a:r>
            <a:endParaRPr lang="en-US" sz="1100" dirty="0"/>
          </a:p>
        </p:txBody>
      </p:sp>
      <p:sp>
        <p:nvSpPr>
          <p:cNvPr id="21" name="Shape 19"/>
          <p:cNvSpPr/>
          <p:nvPr/>
        </p:nvSpPr>
        <p:spPr>
          <a:xfrm>
            <a:off x="4386986" y="2834640"/>
            <a:ext cx="3417722" cy="1371600"/>
          </a:xfrm>
          <a:prstGeom prst="roundRect">
            <a:avLst>
              <a:gd name="adj" fmla="val 2333"/>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22" name="Text 20"/>
          <p:cNvSpPr/>
          <p:nvPr/>
        </p:nvSpPr>
        <p:spPr>
          <a:xfrm>
            <a:off x="4606442" y="2999232"/>
            <a:ext cx="2978810"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稽核與審計</a:t>
            </a:r>
            <a:endParaRPr lang="en-US" sz="1500" dirty="0"/>
          </a:p>
        </p:txBody>
      </p:sp>
      <p:sp>
        <p:nvSpPr>
          <p:cNvPr id="23" name="Text 21"/>
          <p:cNvSpPr/>
          <p:nvPr/>
        </p:nvSpPr>
        <p:spPr>
          <a:xfrm>
            <a:off x="4606442" y="3346704"/>
            <a:ext cx="2978810" cy="713232"/>
          </a:xfrm>
          <a:prstGeom prst="rect">
            <a:avLst/>
          </a:prstGeom>
          <a:noFill/>
          <a:ln/>
        </p:spPr>
        <p:txBody>
          <a:bodyPr wrap="square" lIns="0" tIns="0" rIns="0" bIns="0" rtlCol="0" anchor="t"/>
          <a:lstStyle/>
          <a:p>
            <a:pPr indent="0" marL="0">
              <a:lnSpc>
                <a:spcPts val="1584"/>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被問「這期估驗的依據在哪」，得從四個地方重新湊一份出來。</a:t>
            </a:r>
            <a:endParaRPr lang="en-US" sz="1100" dirty="0"/>
          </a:p>
        </p:txBody>
      </p:sp>
      <p:sp>
        <p:nvSpPr>
          <p:cNvPr id="24" name="Shape 22"/>
          <p:cNvSpPr/>
          <p:nvPr/>
        </p:nvSpPr>
        <p:spPr>
          <a:xfrm>
            <a:off x="8115605" y="2834640"/>
            <a:ext cx="3417722" cy="1371600"/>
          </a:xfrm>
          <a:prstGeom prst="roundRect">
            <a:avLst>
              <a:gd name="adj" fmla="val 2333"/>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25" name="Text 23"/>
          <p:cNvSpPr/>
          <p:nvPr/>
        </p:nvSpPr>
        <p:spPr>
          <a:xfrm>
            <a:off x="8335061" y="2999232"/>
            <a:ext cx="2978810"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法定期限</a:t>
            </a:r>
            <a:endParaRPr lang="en-US" sz="1500" dirty="0"/>
          </a:p>
        </p:txBody>
      </p:sp>
      <p:sp>
        <p:nvSpPr>
          <p:cNvPr id="26" name="Text 24"/>
          <p:cNvSpPr/>
          <p:nvPr/>
        </p:nvSpPr>
        <p:spPr>
          <a:xfrm>
            <a:off x="8335061" y="3346704"/>
            <a:ext cx="2978810" cy="713232"/>
          </a:xfrm>
          <a:prstGeom prst="rect">
            <a:avLst/>
          </a:prstGeom>
          <a:noFill/>
          <a:ln/>
        </p:spPr>
        <p:txBody>
          <a:bodyPr wrap="square" lIns="0" tIns="0" rIns="0" bIns="0" rtlCol="0" anchor="t"/>
          <a:lstStyle/>
          <a:p>
            <a:pPr indent="0" marL="0">
              <a:lnSpc>
                <a:spcPts val="1584"/>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送審、月報、竣工文件、逾期違約金——沒有人在幫你算日子。</a:t>
            </a:r>
            <a:endParaRPr lang="en-US" sz="1100" dirty="0"/>
          </a:p>
        </p:txBody>
      </p:sp>
      <p:sp>
        <p:nvSpPr>
          <p:cNvPr id="27" name="Shape 25"/>
          <p:cNvSpPr/>
          <p:nvPr/>
        </p:nvSpPr>
        <p:spPr>
          <a:xfrm>
            <a:off x="658368" y="4462272"/>
            <a:ext cx="10874959" cy="676656"/>
          </a:xfrm>
          <a:prstGeom prst="roundRect">
            <a:avLst>
              <a:gd name="adj" fmla="val 4730"/>
            </a:avLst>
          </a:prstGeom>
          <a:solidFill>
            <a:srgbClr val="FCE9DC"/>
          </a:solidFill>
          <a:ln w="12700">
            <a:solidFill>
              <a:srgbClr val="FCE9DC"/>
            </a:solidFill>
            <a:prstDash val="solid"/>
          </a:ln>
        </p:spPr>
      </p:sp>
      <p:sp>
        <p:nvSpPr>
          <p:cNvPr id="28" name="Text 26"/>
          <p:cNvSpPr/>
          <p:nvPr/>
        </p:nvSpPr>
        <p:spPr>
          <a:xfrm>
            <a:off x="932688" y="4462272"/>
            <a:ext cx="10326319" cy="676656"/>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四份文件本來就應該互相對得上，但沒有人有時間逐工項去對。</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壹 · 產品</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05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C05209"/>
                </a:solidFill>
                <a:latin typeface="Arial" pitchFamily="34" charset="0"/>
                <a:ea typeface="Microsoft JhengHei"/>
                <a:cs typeface="Microsoft JhengHei"/>
                <a:ea typeface="Arial" pitchFamily="34" charset="-122"/>
                <a:cs typeface="Arial" pitchFamily="34" charset="-120"/>
              </a:rPr>
              <a:t>功能全覽</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3100" b="1" dirty="0">
                <a:solidFill>
                  <a:srgbClr val="1D2B39"/>
                </a:solidFill>
                <a:latin typeface="Arial" pitchFamily="34" charset="0"/>
                <a:ea typeface="Microsoft JhengHei"/>
                <a:cs typeface="Microsoft JhengHei"/>
                <a:ea typeface="Arial" pitchFamily="34" charset="-122"/>
                <a:cs typeface="Arial" pitchFamily="34" charset="-120"/>
              </a:rPr>
              <a:t>九個功能面，一條資料脊椎串起來。</a:t>
            </a:r>
            <a:endParaRPr lang="en-US" sz="3100" dirty="0"/>
          </a:p>
        </p:txBody>
      </p:sp>
      <p:sp>
        <p:nvSpPr>
          <p:cNvPr id="6" name="Shape 4"/>
          <p:cNvSpPr/>
          <p:nvPr/>
        </p:nvSpPr>
        <p:spPr>
          <a:xfrm>
            <a:off x="658368" y="1481328"/>
            <a:ext cx="3442106" cy="1371600"/>
          </a:xfrm>
          <a:prstGeom prst="roundRect">
            <a:avLst>
              <a:gd name="adj" fmla="val 2333"/>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7" name="Text 5"/>
          <p:cNvSpPr/>
          <p:nvPr/>
        </p:nvSpPr>
        <p:spPr>
          <a:xfrm>
            <a:off x="877824" y="1609344"/>
            <a:ext cx="466344" cy="237744"/>
          </a:xfrm>
          <a:prstGeom prst="roundRect">
            <a:avLst>
              <a:gd name="adj" fmla="val 11538"/>
            </a:avLst>
          </a:prstGeom>
          <a:solidFill>
            <a:srgbClr val="E3E9EF"/>
          </a:solidFill>
          <a:ln>
            <a:solidFill>
              <a:srgbClr val="E3E9EF"/>
            </a:solidFill>
          </a:ln>
        </p:spPr>
        <p:txBody>
          <a:bodyPr wrap="square" lIns="0" tIns="0" rIns="0" bIns="0" rtlCol="0" anchor="ctr"/>
          <a:lstStyle/>
          <a:p>
            <a:pPr algn="ctr" indent="0" marL="0">
              <a:buNone/>
            </a:pPr>
            <a:r>
              <a:rPr lang="en-US" sz="900" b="1" spc="60" kern="0" dirty="0">
                <a:solidFill>
                  <a:srgbClr val="7A8794"/>
                </a:solidFill>
                <a:latin typeface="Arial" pitchFamily="34" charset="0"/>
                <a:ea typeface="Microsoft JhengHei"/>
                <a:cs typeface="Microsoft JhengHei"/>
                <a:ea typeface="Arial" pitchFamily="34" charset="-122"/>
                <a:cs typeface="Arial" pitchFamily="34" charset="-120"/>
              </a:rPr>
              <a:t>總覽</a:t>
            </a:r>
            <a:endParaRPr lang="en-US" sz="900" dirty="0"/>
          </a:p>
        </p:txBody>
      </p:sp>
      <p:sp>
        <p:nvSpPr>
          <p:cNvPr id="8" name="Text 6"/>
          <p:cNvSpPr/>
          <p:nvPr/>
        </p:nvSpPr>
        <p:spPr>
          <a:xfrm>
            <a:off x="877824" y="1920240"/>
            <a:ext cx="3003194" cy="274320"/>
          </a:xfrm>
          <a:prstGeom prst="rect">
            <a:avLst/>
          </a:prstGeom>
          <a:noFill/>
          <a:ln/>
        </p:spPr>
        <p:txBody>
          <a:bodyPr wrap="square" lIns="0" tIns="0" rIns="0" bIns="0" rtlCol="0" anchor="ctr"/>
          <a:lstStyle/>
          <a:p>
            <a:pPr indent="0" marL="0">
              <a:buNone/>
            </a:pPr>
            <a:r>
              <a:rPr lang="en-US" sz="1400" b="1" dirty="0">
                <a:solidFill>
                  <a:srgbClr val="1D2B39"/>
                </a:solidFill>
                <a:latin typeface="Arial" pitchFamily="34" charset="0"/>
                <a:ea typeface="Microsoft JhengHei"/>
                <a:cs typeface="Microsoft JhengHei"/>
                <a:ea typeface="Arial" pitchFamily="34" charset="-122"/>
                <a:cs typeface="Arial" pitchFamily="34" charset="-120"/>
              </a:rPr>
              <a:t>AI Agent 主控台</a:t>
            </a:r>
            <a:endParaRPr lang="en-US" sz="1400" dirty="0"/>
          </a:p>
        </p:txBody>
      </p:sp>
      <p:sp>
        <p:nvSpPr>
          <p:cNvPr id="9" name="Text 7"/>
          <p:cNvSpPr/>
          <p:nvPr/>
        </p:nvSpPr>
        <p:spPr>
          <a:xfrm>
            <a:off x="877824" y="2221992"/>
            <a:ext cx="3003194" cy="484632"/>
          </a:xfrm>
          <a:prstGeom prst="rect">
            <a:avLst/>
          </a:prstGeom>
          <a:noFill/>
          <a:ln/>
        </p:spPr>
        <p:txBody>
          <a:bodyPr wrap="square" lIns="0" tIns="0" rIns="0" bIns="0" rtlCol="0" anchor="t"/>
          <a:lstStyle/>
          <a:p>
            <a:pPr indent="0" marL="0">
              <a:lnSpc>
                <a:spcPts val="1512"/>
              </a:lnSpc>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依角色的今日待辦、草稿收件匣、對話式查詢。</a:t>
            </a:r>
            <a:endParaRPr lang="en-US" sz="1050" dirty="0"/>
          </a:p>
        </p:txBody>
      </p:sp>
      <p:sp>
        <p:nvSpPr>
          <p:cNvPr id="10" name="Shape 8"/>
          <p:cNvSpPr/>
          <p:nvPr/>
        </p:nvSpPr>
        <p:spPr>
          <a:xfrm>
            <a:off x="4374794" y="1481328"/>
            <a:ext cx="3442106" cy="1371600"/>
          </a:xfrm>
          <a:prstGeom prst="roundRect">
            <a:avLst>
              <a:gd name="adj" fmla="val 2333"/>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1" name="Text 9"/>
          <p:cNvSpPr/>
          <p:nvPr/>
        </p:nvSpPr>
        <p:spPr>
          <a:xfrm>
            <a:off x="4594250" y="1609344"/>
            <a:ext cx="466344" cy="237744"/>
          </a:xfrm>
          <a:prstGeom prst="roundRect">
            <a:avLst>
              <a:gd name="adj" fmla="val 11538"/>
            </a:avLst>
          </a:prstGeom>
          <a:solidFill>
            <a:srgbClr val="E3E9EF"/>
          </a:solidFill>
          <a:ln>
            <a:solidFill>
              <a:srgbClr val="E3E9EF"/>
            </a:solidFill>
          </a:ln>
        </p:spPr>
        <p:txBody>
          <a:bodyPr wrap="square" lIns="0" tIns="0" rIns="0" bIns="0" rtlCol="0" anchor="ctr"/>
          <a:lstStyle/>
          <a:p>
            <a:pPr algn="ctr" indent="0" marL="0">
              <a:buNone/>
            </a:pPr>
            <a:r>
              <a:rPr lang="en-US" sz="900" b="1" spc="60" kern="0" dirty="0">
                <a:solidFill>
                  <a:srgbClr val="7A8794"/>
                </a:solidFill>
                <a:latin typeface="Arial" pitchFamily="34" charset="0"/>
                <a:ea typeface="Microsoft JhengHei"/>
                <a:cs typeface="Microsoft JhengHei"/>
                <a:ea typeface="Arial" pitchFamily="34" charset="-122"/>
                <a:cs typeface="Arial" pitchFamily="34" charset="-120"/>
              </a:rPr>
              <a:t>總覽</a:t>
            </a:r>
            <a:endParaRPr lang="en-US" sz="900" dirty="0"/>
          </a:p>
        </p:txBody>
      </p:sp>
      <p:sp>
        <p:nvSpPr>
          <p:cNvPr id="12" name="Text 10"/>
          <p:cNvSpPr/>
          <p:nvPr/>
        </p:nvSpPr>
        <p:spPr>
          <a:xfrm>
            <a:off x="4594250" y="1920240"/>
            <a:ext cx="3003194" cy="274320"/>
          </a:xfrm>
          <a:prstGeom prst="rect">
            <a:avLst/>
          </a:prstGeom>
          <a:noFill/>
          <a:ln/>
        </p:spPr>
        <p:txBody>
          <a:bodyPr wrap="square" lIns="0" tIns="0" rIns="0" bIns="0" rtlCol="0" anchor="ctr"/>
          <a:lstStyle/>
          <a:p>
            <a:pPr indent="0" marL="0">
              <a:buNone/>
            </a:pPr>
            <a:r>
              <a:rPr lang="en-US" sz="1400" b="1" dirty="0">
                <a:solidFill>
                  <a:srgbClr val="1D2B39"/>
                </a:solidFill>
                <a:latin typeface="Arial" pitchFamily="34" charset="0"/>
                <a:ea typeface="Microsoft JhengHei"/>
                <a:cs typeface="Microsoft JhengHei"/>
                <a:ea typeface="Arial" pitchFamily="34" charset="-122"/>
                <a:cs typeface="Arial" pitchFamily="34" charset="-120"/>
              </a:rPr>
              <a:t>跨案總覽</a:t>
            </a:r>
            <a:endParaRPr lang="en-US" sz="1400" dirty="0"/>
          </a:p>
        </p:txBody>
      </p:sp>
      <p:sp>
        <p:nvSpPr>
          <p:cNvPr id="13" name="Text 11"/>
          <p:cNvSpPr/>
          <p:nvPr/>
        </p:nvSpPr>
        <p:spPr>
          <a:xfrm>
            <a:off x="4594250" y="2221992"/>
            <a:ext cx="3003194" cy="484632"/>
          </a:xfrm>
          <a:prstGeom prst="rect">
            <a:avLst/>
          </a:prstGeom>
          <a:noFill/>
          <a:ln/>
        </p:spPr>
        <p:txBody>
          <a:bodyPr wrap="square" lIns="0" tIns="0" rIns="0" bIns="0" rtlCol="0" anchor="t"/>
          <a:lstStyle/>
          <a:p>
            <a:pPr indent="0" marL="0">
              <a:lnSpc>
                <a:spcPts val="1512"/>
              </a:lnSpc>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機關端多案進度、金流與逾期一頁看完。</a:t>
            </a:r>
            <a:endParaRPr lang="en-US" sz="1050" dirty="0"/>
          </a:p>
        </p:txBody>
      </p:sp>
      <p:sp>
        <p:nvSpPr>
          <p:cNvPr id="14" name="Shape 12"/>
          <p:cNvSpPr/>
          <p:nvPr/>
        </p:nvSpPr>
        <p:spPr>
          <a:xfrm>
            <a:off x="8091221" y="1481328"/>
            <a:ext cx="3442106" cy="1371600"/>
          </a:xfrm>
          <a:prstGeom prst="roundRect">
            <a:avLst>
              <a:gd name="adj" fmla="val 2333"/>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5" name="Text 13"/>
          <p:cNvSpPr/>
          <p:nvPr/>
        </p:nvSpPr>
        <p:spPr>
          <a:xfrm>
            <a:off x="8310677" y="1609344"/>
            <a:ext cx="466344" cy="237744"/>
          </a:xfrm>
          <a:prstGeom prst="roundRect">
            <a:avLst>
              <a:gd name="adj" fmla="val 11538"/>
            </a:avLst>
          </a:prstGeom>
          <a:solidFill>
            <a:srgbClr val="E3E9EF"/>
          </a:solidFill>
          <a:ln>
            <a:solidFill>
              <a:srgbClr val="E3E9EF"/>
            </a:solidFill>
          </a:ln>
        </p:spPr>
        <p:txBody>
          <a:bodyPr wrap="square" lIns="0" tIns="0" rIns="0" bIns="0" rtlCol="0" anchor="ctr"/>
          <a:lstStyle/>
          <a:p>
            <a:pPr algn="ctr" indent="0" marL="0">
              <a:buNone/>
            </a:pPr>
            <a:r>
              <a:rPr lang="en-US" sz="900" b="1" spc="60" kern="0" dirty="0">
                <a:solidFill>
                  <a:srgbClr val="7A8794"/>
                </a:solidFill>
                <a:latin typeface="Arial" pitchFamily="34" charset="0"/>
                <a:ea typeface="Microsoft JhengHei"/>
                <a:cs typeface="Microsoft JhengHei"/>
                <a:ea typeface="Arial" pitchFamily="34" charset="-122"/>
                <a:cs typeface="Arial" pitchFamily="34" charset="-120"/>
              </a:rPr>
              <a:t>總覽</a:t>
            </a:r>
            <a:endParaRPr lang="en-US" sz="900" dirty="0"/>
          </a:p>
        </p:txBody>
      </p:sp>
      <p:sp>
        <p:nvSpPr>
          <p:cNvPr id="16" name="Text 14"/>
          <p:cNvSpPr/>
          <p:nvPr/>
        </p:nvSpPr>
        <p:spPr>
          <a:xfrm>
            <a:off x="8310677" y="1920240"/>
            <a:ext cx="3003194" cy="274320"/>
          </a:xfrm>
          <a:prstGeom prst="rect">
            <a:avLst/>
          </a:prstGeom>
          <a:noFill/>
          <a:ln/>
        </p:spPr>
        <p:txBody>
          <a:bodyPr wrap="square" lIns="0" tIns="0" rIns="0" bIns="0" rtlCol="0" anchor="ctr"/>
          <a:lstStyle/>
          <a:p>
            <a:pPr indent="0" marL="0">
              <a:buNone/>
            </a:pPr>
            <a:r>
              <a:rPr lang="en-US" sz="1400" b="1" dirty="0">
                <a:solidFill>
                  <a:srgbClr val="1D2B39"/>
                </a:solidFill>
                <a:latin typeface="Arial" pitchFamily="34" charset="0"/>
                <a:ea typeface="Microsoft JhengHei"/>
                <a:cs typeface="Microsoft JhengHei"/>
                <a:ea typeface="Arial" pitchFamily="34" charset="-122"/>
                <a:cs typeface="Arial" pitchFamily="34" charset="-120"/>
              </a:rPr>
              <a:t>專案儀表</a:t>
            </a:r>
            <a:endParaRPr lang="en-US" sz="1400" dirty="0"/>
          </a:p>
        </p:txBody>
      </p:sp>
      <p:sp>
        <p:nvSpPr>
          <p:cNvPr id="17" name="Text 15"/>
          <p:cNvSpPr/>
          <p:nvPr/>
        </p:nvSpPr>
        <p:spPr>
          <a:xfrm>
            <a:off x="8310677" y="2221992"/>
            <a:ext cx="3003194" cy="484632"/>
          </a:xfrm>
          <a:prstGeom prst="rect">
            <a:avLst/>
          </a:prstGeom>
          <a:noFill/>
          <a:ln/>
        </p:spPr>
        <p:txBody>
          <a:bodyPr wrap="square" lIns="0" tIns="0" rIns="0" bIns="0" rtlCol="0" anchor="t"/>
          <a:lstStyle/>
          <a:p>
            <a:pPr indent="0" marL="0">
              <a:lnSpc>
                <a:spcPts val="1512"/>
              </a:lnSpc>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Dashboard、活動紀錄、施工月報、監造報表。</a:t>
            </a:r>
            <a:endParaRPr lang="en-US" sz="1050" dirty="0"/>
          </a:p>
        </p:txBody>
      </p:sp>
      <p:sp>
        <p:nvSpPr>
          <p:cNvPr id="18" name="Shape 16"/>
          <p:cNvSpPr/>
          <p:nvPr/>
        </p:nvSpPr>
        <p:spPr>
          <a:xfrm>
            <a:off x="658368" y="2980944"/>
            <a:ext cx="3442106" cy="1371600"/>
          </a:xfrm>
          <a:prstGeom prst="roundRect">
            <a:avLst>
              <a:gd name="adj" fmla="val 2333"/>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9" name="Text 17"/>
          <p:cNvSpPr/>
          <p:nvPr/>
        </p:nvSpPr>
        <p:spPr>
          <a:xfrm>
            <a:off x="877824" y="3108960"/>
            <a:ext cx="809244" cy="237744"/>
          </a:xfrm>
          <a:prstGeom prst="roundRect">
            <a:avLst>
              <a:gd name="adj" fmla="val 11538"/>
            </a:avLst>
          </a:prstGeom>
          <a:solidFill>
            <a:srgbClr val="E3E9EF"/>
          </a:solidFill>
          <a:ln>
            <a:solidFill>
              <a:srgbClr val="E3E9EF"/>
            </a:solidFill>
          </a:ln>
        </p:spPr>
        <p:txBody>
          <a:bodyPr wrap="square" lIns="0" tIns="0" rIns="0" bIns="0" rtlCol="0" anchor="ctr"/>
          <a:lstStyle/>
          <a:p>
            <a:pPr algn="ctr" indent="0" marL="0">
              <a:buNone/>
            </a:pPr>
            <a:r>
              <a:rPr lang="en-US" sz="900" b="1" spc="60" kern="0" dirty="0">
                <a:solidFill>
                  <a:srgbClr val="7A8794"/>
                </a:solidFill>
                <a:latin typeface="Arial" pitchFamily="34" charset="0"/>
                <a:ea typeface="Microsoft JhengHei"/>
                <a:cs typeface="Microsoft JhengHei"/>
                <a:ea typeface="Arial" pitchFamily="34" charset="-122"/>
                <a:cs typeface="Arial" pitchFamily="34" charset="-120"/>
              </a:rPr>
              <a:t>成本與進度</a:t>
            </a:r>
            <a:endParaRPr lang="en-US" sz="900" dirty="0"/>
          </a:p>
        </p:txBody>
      </p:sp>
      <p:sp>
        <p:nvSpPr>
          <p:cNvPr id="20" name="Text 18"/>
          <p:cNvSpPr/>
          <p:nvPr/>
        </p:nvSpPr>
        <p:spPr>
          <a:xfrm>
            <a:off x="877824" y="3419856"/>
            <a:ext cx="3003194" cy="274320"/>
          </a:xfrm>
          <a:prstGeom prst="rect">
            <a:avLst/>
          </a:prstGeom>
          <a:noFill/>
          <a:ln/>
        </p:spPr>
        <p:txBody>
          <a:bodyPr wrap="square" lIns="0" tIns="0" rIns="0" bIns="0" rtlCol="0" anchor="ctr"/>
          <a:lstStyle/>
          <a:p>
            <a:pPr indent="0" marL="0">
              <a:buNone/>
            </a:pPr>
            <a:r>
              <a:rPr lang="en-US" sz="1400" b="1" dirty="0">
                <a:solidFill>
                  <a:srgbClr val="1D2B39"/>
                </a:solidFill>
                <a:latin typeface="Arial" pitchFamily="34" charset="0"/>
                <a:ea typeface="Microsoft JhengHei"/>
                <a:cs typeface="Microsoft JhengHei"/>
                <a:ea typeface="Arial" pitchFamily="34" charset="-122"/>
                <a:cs typeface="Arial" pitchFamily="34" charset="-120"/>
              </a:rPr>
              <a:t>標單工項</a:t>
            </a:r>
            <a:endParaRPr lang="en-US" sz="1400" dirty="0"/>
          </a:p>
        </p:txBody>
      </p:sp>
      <p:sp>
        <p:nvSpPr>
          <p:cNvPr id="21" name="Text 19"/>
          <p:cNvSpPr/>
          <p:nvPr/>
        </p:nvSpPr>
        <p:spPr>
          <a:xfrm>
            <a:off x="877824" y="3721608"/>
            <a:ext cx="3003194" cy="484632"/>
          </a:xfrm>
          <a:prstGeom prst="rect">
            <a:avLst/>
          </a:prstGeom>
          <a:noFill/>
          <a:ln/>
        </p:spPr>
        <p:txBody>
          <a:bodyPr wrap="square" lIns="0" tIns="0" rIns="0" bIns="0" rtlCol="0" anchor="t"/>
          <a:lstStyle/>
          <a:p>
            <a:pPr indent="0" marL="0">
              <a:lnSpc>
                <a:spcPts val="1512"/>
              </a:lnSpc>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PCCES 預算書匯入展成工項樹，全案數字的來源。</a:t>
            </a:r>
            <a:endParaRPr lang="en-US" sz="1050" dirty="0"/>
          </a:p>
        </p:txBody>
      </p:sp>
      <p:sp>
        <p:nvSpPr>
          <p:cNvPr id="22" name="Shape 20"/>
          <p:cNvSpPr/>
          <p:nvPr/>
        </p:nvSpPr>
        <p:spPr>
          <a:xfrm>
            <a:off x="4374794" y="2980944"/>
            <a:ext cx="3442106" cy="1371600"/>
          </a:xfrm>
          <a:prstGeom prst="roundRect">
            <a:avLst>
              <a:gd name="adj" fmla="val 2333"/>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23" name="Text 21"/>
          <p:cNvSpPr/>
          <p:nvPr/>
        </p:nvSpPr>
        <p:spPr>
          <a:xfrm>
            <a:off x="4594250" y="3108960"/>
            <a:ext cx="809244" cy="237744"/>
          </a:xfrm>
          <a:prstGeom prst="roundRect">
            <a:avLst>
              <a:gd name="adj" fmla="val 11538"/>
            </a:avLst>
          </a:prstGeom>
          <a:solidFill>
            <a:srgbClr val="E3E9EF"/>
          </a:solidFill>
          <a:ln>
            <a:solidFill>
              <a:srgbClr val="E3E9EF"/>
            </a:solidFill>
          </a:ln>
        </p:spPr>
        <p:txBody>
          <a:bodyPr wrap="square" lIns="0" tIns="0" rIns="0" bIns="0" rtlCol="0" anchor="ctr"/>
          <a:lstStyle/>
          <a:p>
            <a:pPr algn="ctr" indent="0" marL="0">
              <a:buNone/>
            </a:pPr>
            <a:r>
              <a:rPr lang="en-US" sz="900" b="1" spc="60" kern="0" dirty="0">
                <a:solidFill>
                  <a:srgbClr val="7A8794"/>
                </a:solidFill>
                <a:latin typeface="Arial" pitchFamily="34" charset="0"/>
                <a:ea typeface="Microsoft JhengHei"/>
                <a:cs typeface="Microsoft JhengHei"/>
                <a:ea typeface="Arial" pitchFamily="34" charset="-122"/>
                <a:cs typeface="Arial" pitchFamily="34" charset="-120"/>
              </a:rPr>
              <a:t>成本與進度</a:t>
            </a:r>
            <a:endParaRPr lang="en-US" sz="900" dirty="0"/>
          </a:p>
        </p:txBody>
      </p:sp>
      <p:sp>
        <p:nvSpPr>
          <p:cNvPr id="24" name="Text 22"/>
          <p:cNvSpPr/>
          <p:nvPr/>
        </p:nvSpPr>
        <p:spPr>
          <a:xfrm>
            <a:off x="4594250" y="3419856"/>
            <a:ext cx="3003194" cy="274320"/>
          </a:xfrm>
          <a:prstGeom prst="rect">
            <a:avLst/>
          </a:prstGeom>
          <a:noFill/>
          <a:ln/>
        </p:spPr>
        <p:txBody>
          <a:bodyPr wrap="square" lIns="0" tIns="0" rIns="0" bIns="0" rtlCol="0" anchor="ctr"/>
          <a:lstStyle/>
          <a:p>
            <a:pPr indent="0" marL="0">
              <a:buNone/>
            </a:pPr>
            <a:r>
              <a:rPr lang="en-US" sz="1400" b="1" dirty="0">
                <a:solidFill>
                  <a:srgbClr val="1D2B39"/>
                </a:solidFill>
                <a:latin typeface="Arial" pitchFamily="34" charset="0"/>
                <a:ea typeface="Microsoft JhengHei"/>
                <a:cs typeface="Microsoft JhengHei"/>
                <a:ea typeface="Arial" pitchFamily="34" charset="-122"/>
                <a:cs typeface="Arial" pitchFamily="34" charset="-120"/>
              </a:rPr>
              <a:t>估驗與金流</a:t>
            </a:r>
            <a:endParaRPr lang="en-US" sz="1400" dirty="0"/>
          </a:p>
        </p:txBody>
      </p:sp>
      <p:sp>
        <p:nvSpPr>
          <p:cNvPr id="25" name="Text 23"/>
          <p:cNvSpPr/>
          <p:nvPr/>
        </p:nvSpPr>
        <p:spPr>
          <a:xfrm>
            <a:off x="4594250" y="3721608"/>
            <a:ext cx="3003194" cy="484632"/>
          </a:xfrm>
          <a:prstGeom prst="rect">
            <a:avLst/>
          </a:prstGeom>
          <a:noFill/>
          <a:ln/>
        </p:spPr>
        <p:txBody>
          <a:bodyPr wrap="square" lIns="0" tIns="0" rIns="0" bIns="0" rtlCol="0" anchor="t"/>
          <a:lstStyle/>
          <a:p>
            <a:pPr indent="0" marL="0">
              <a:lnSpc>
                <a:spcPts val="1512"/>
              </a:lnSpc>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估驗計價、請款收款、成本管理、進度 S 曲線、逐工項排程。</a:t>
            </a:r>
            <a:endParaRPr lang="en-US" sz="1050" dirty="0"/>
          </a:p>
        </p:txBody>
      </p:sp>
      <p:sp>
        <p:nvSpPr>
          <p:cNvPr id="26" name="Shape 24"/>
          <p:cNvSpPr/>
          <p:nvPr/>
        </p:nvSpPr>
        <p:spPr>
          <a:xfrm>
            <a:off x="8091221" y="2980944"/>
            <a:ext cx="3442106" cy="1371600"/>
          </a:xfrm>
          <a:prstGeom prst="roundRect">
            <a:avLst>
              <a:gd name="adj" fmla="val 2333"/>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27" name="Text 25"/>
          <p:cNvSpPr/>
          <p:nvPr/>
        </p:nvSpPr>
        <p:spPr>
          <a:xfrm>
            <a:off x="8310677" y="3108960"/>
            <a:ext cx="809244" cy="237744"/>
          </a:xfrm>
          <a:prstGeom prst="roundRect">
            <a:avLst>
              <a:gd name="adj" fmla="val 11538"/>
            </a:avLst>
          </a:prstGeom>
          <a:solidFill>
            <a:srgbClr val="E3E9EF"/>
          </a:solidFill>
          <a:ln>
            <a:solidFill>
              <a:srgbClr val="E3E9EF"/>
            </a:solidFill>
          </a:ln>
        </p:spPr>
        <p:txBody>
          <a:bodyPr wrap="square" lIns="0" tIns="0" rIns="0" bIns="0" rtlCol="0" anchor="ctr"/>
          <a:lstStyle/>
          <a:p>
            <a:pPr algn="ctr" indent="0" marL="0">
              <a:buNone/>
            </a:pPr>
            <a:r>
              <a:rPr lang="en-US" sz="900" b="1" spc="60" kern="0" dirty="0">
                <a:solidFill>
                  <a:srgbClr val="7A8794"/>
                </a:solidFill>
                <a:latin typeface="Arial" pitchFamily="34" charset="0"/>
                <a:ea typeface="Microsoft JhengHei"/>
                <a:cs typeface="Microsoft JhengHei"/>
                <a:ea typeface="Arial" pitchFamily="34" charset="-122"/>
                <a:cs typeface="Arial" pitchFamily="34" charset="-120"/>
              </a:rPr>
              <a:t>成本與進度</a:t>
            </a:r>
            <a:endParaRPr lang="en-US" sz="900" dirty="0"/>
          </a:p>
        </p:txBody>
      </p:sp>
      <p:sp>
        <p:nvSpPr>
          <p:cNvPr id="28" name="Text 26"/>
          <p:cNvSpPr/>
          <p:nvPr/>
        </p:nvSpPr>
        <p:spPr>
          <a:xfrm>
            <a:off x="8310677" y="3419856"/>
            <a:ext cx="3003194" cy="274320"/>
          </a:xfrm>
          <a:prstGeom prst="rect">
            <a:avLst/>
          </a:prstGeom>
          <a:noFill/>
          <a:ln/>
        </p:spPr>
        <p:txBody>
          <a:bodyPr wrap="square" lIns="0" tIns="0" rIns="0" bIns="0" rtlCol="0" anchor="ctr"/>
          <a:lstStyle/>
          <a:p>
            <a:pPr indent="0" marL="0">
              <a:buNone/>
            </a:pPr>
            <a:r>
              <a:rPr lang="en-US" sz="1400" b="1" dirty="0">
                <a:solidFill>
                  <a:srgbClr val="1D2B39"/>
                </a:solidFill>
                <a:latin typeface="Arial" pitchFamily="34" charset="0"/>
                <a:ea typeface="Microsoft JhengHei"/>
                <a:cs typeface="Microsoft JhengHei"/>
                <a:ea typeface="Arial" pitchFamily="34" charset="-122"/>
                <a:cs typeface="Arial" pitchFamily="34" charset="-120"/>
              </a:rPr>
              <a:t>施工日誌</a:t>
            </a:r>
            <a:endParaRPr lang="en-US" sz="1400" dirty="0"/>
          </a:p>
        </p:txBody>
      </p:sp>
      <p:sp>
        <p:nvSpPr>
          <p:cNvPr id="29" name="Text 27"/>
          <p:cNvSpPr/>
          <p:nvPr/>
        </p:nvSpPr>
        <p:spPr>
          <a:xfrm>
            <a:off x="8310677" y="3721608"/>
            <a:ext cx="3003194" cy="484632"/>
          </a:xfrm>
          <a:prstGeom prst="rect">
            <a:avLst/>
          </a:prstGeom>
          <a:noFill/>
          <a:ln/>
        </p:spPr>
        <p:txBody>
          <a:bodyPr wrap="square" lIns="0" tIns="0" rIns="0" bIns="0" rtlCol="0" anchor="t"/>
          <a:lstStyle/>
          <a:p>
            <a:pPr indent="0" marL="0">
              <a:lnSpc>
                <a:spcPts val="1512"/>
              </a:lnSpc>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現場當天填，數量直接累計到估驗。</a:t>
            </a:r>
            <a:endParaRPr lang="en-US" sz="1050" dirty="0"/>
          </a:p>
        </p:txBody>
      </p:sp>
      <p:sp>
        <p:nvSpPr>
          <p:cNvPr id="30" name="Shape 28"/>
          <p:cNvSpPr/>
          <p:nvPr/>
        </p:nvSpPr>
        <p:spPr>
          <a:xfrm>
            <a:off x="658368" y="4480560"/>
            <a:ext cx="3442106" cy="1371600"/>
          </a:xfrm>
          <a:prstGeom prst="roundRect">
            <a:avLst>
              <a:gd name="adj" fmla="val 2333"/>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31" name="Text 29"/>
          <p:cNvSpPr/>
          <p:nvPr/>
        </p:nvSpPr>
        <p:spPr>
          <a:xfrm>
            <a:off x="877824" y="4608576"/>
            <a:ext cx="809244" cy="237744"/>
          </a:xfrm>
          <a:prstGeom prst="roundRect">
            <a:avLst>
              <a:gd name="adj" fmla="val 11538"/>
            </a:avLst>
          </a:prstGeom>
          <a:solidFill>
            <a:srgbClr val="E3E9EF"/>
          </a:solidFill>
          <a:ln>
            <a:solidFill>
              <a:srgbClr val="E3E9EF"/>
            </a:solidFill>
          </a:ln>
        </p:spPr>
        <p:txBody>
          <a:bodyPr wrap="square" lIns="0" tIns="0" rIns="0" bIns="0" rtlCol="0" anchor="ctr"/>
          <a:lstStyle/>
          <a:p>
            <a:pPr algn="ctr" indent="0" marL="0">
              <a:buNone/>
            </a:pPr>
            <a:r>
              <a:rPr lang="en-US" sz="900" b="1" spc="60" kern="0" dirty="0">
                <a:solidFill>
                  <a:srgbClr val="7A8794"/>
                </a:solidFill>
                <a:latin typeface="Arial" pitchFamily="34" charset="0"/>
                <a:ea typeface="Microsoft JhengHei"/>
                <a:cs typeface="Microsoft JhengHei"/>
                <a:ea typeface="Arial" pitchFamily="34" charset="-122"/>
                <a:cs typeface="Arial" pitchFamily="34" charset="-120"/>
              </a:rPr>
              <a:t>品質與工安</a:t>
            </a:r>
            <a:endParaRPr lang="en-US" sz="900" dirty="0"/>
          </a:p>
        </p:txBody>
      </p:sp>
      <p:sp>
        <p:nvSpPr>
          <p:cNvPr id="32" name="Text 30"/>
          <p:cNvSpPr/>
          <p:nvPr/>
        </p:nvSpPr>
        <p:spPr>
          <a:xfrm>
            <a:off x="877824" y="4919472"/>
            <a:ext cx="3003194" cy="274320"/>
          </a:xfrm>
          <a:prstGeom prst="rect">
            <a:avLst/>
          </a:prstGeom>
          <a:noFill/>
          <a:ln/>
        </p:spPr>
        <p:txBody>
          <a:bodyPr wrap="square" lIns="0" tIns="0" rIns="0" bIns="0" rtlCol="0" anchor="ctr"/>
          <a:lstStyle/>
          <a:p>
            <a:pPr indent="0" marL="0">
              <a:buNone/>
            </a:pPr>
            <a:r>
              <a:rPr lang="en-US" sz="1400" b="1" dirty="0">
                <a:solidFill>
                  <a:srgbClr val="1D2B39"/>
                </a:solidFill>
                <a:latin typeface="Arial" pitchFamily="34" charset="0"/>
                <a:ea typeface="Microsoft JhengHei"/>
                <a:cs typeface="Microsoft JhengHei"/>
                <a:ea typeface="Arial" pitchFamily="34" charset="-122"/>
                <a:cs typeface="Arial" pitchFamily="34" charset="-120"/>
              </a:rPr>
              <a:t>品質與工安</a:t>
            </a:r>
            <a:endParaRPr lang="en-US" sz="1400" dirty="0"/>
          </a:p>
        </p:txBody>
      </p:sp>
      <p:sp>
        <p:nvSpPr>
          <p:cNvPr id="33" name="Text 31"/>
          <p:cNvSpPr/>
          <p:nvPr/>
        </p:nvSpPr>
        <p:spPr>
          <a:xfrm>
            <a:off x="877824" y="5221224"/>
            <a:ext cx="3003194" cy="484632"/>
          </a:xfrm>
          <a:prstGeom prst="rect">
            <a:avLst/>
          </a:prstGeom>
          <a:noFill/>
          <a:ln/>
        </p:spPr>
        <p:txBody>
          <a:bodyPr wrap="square" lIns="0" tIns="0" rIns="0" bIns="0" rtlCol="0" anchor="t"/>
          <a:lstStyle/>
          <a:p>
            <a:pPr indent="0" marL="0">
              <a:lnSpc>
                <a:spcPts val="1512"/>
              </a:lnSpc>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品質查驗、檢驗停留點（ITP）、工安管理與缺失追蹤。</a:t>
            </a:r>
            <a:endParaRPr lang="en-US" sz="1050" dirty="0"/>
          </a:p>
        </p:txBody>
      </p:sp>
      <p:sp>
        <p:nvSpPr>
          <p:cNvPr id="34" name="Shape 32"/>
          <p:cNvSpPr/>
          <p:nvPr/>
        </p:nvSpPr>
        <p:spPr>
          <a:xfrm>
            <a:off x="4374794" y="4480560"/>
            <a:ext cx="3442106" cy="1371600"/>
          </a:xfrm>
          <a:prstGeom prst="roundRect">
            <a:avLst>
              <a:gd name="adj" fmla="val 2333"/>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35" name="Text 33"/>
          <p:cNvSpPr/>
          <p:nvPr/>
        </p:nvSpPr>
        <p:spPr>
          <a:xfrm>
            <a:off x="4594250" y="4608576"/>
            <a:ext cx="809244" cy="237744"/>
          </a:xfrm>
          <a:prstGeom prst="roundRect">
            <a:avLst>
              <a:gd name="adj" fmla="val 11538"/>
            </a:avLst>
          </a:prstGeom>
          <a:solidFill>
            <a:srgbClr val="E3E9EF"/>
          </a:solidFill>
          <a:ln>
            <a:solidFill>
              <a:srgbClr val="E3E9EF"/>
            </a:solidFill>
          </a:ln>
        </p:spPr>
        <p:txBody>
          <a:bodyPr wrap="square" lIns="0" tIns="0" rIns="0" bIns="0" rtlCol="0" anchor="ctr"/>
          <a:lstStyle/>
          <a:p>
            <a:pPr algn="ctr" indent="0" marL="0">
              <a:buNone/>
            </a:pPr>
            <a:r>
              <a:rPr lang="en-US" sz="900" b="1" spc="60" kern="0" dirty="0">
                <a:solidFill>
                  <a:srgbClr val="7A8794"/>
                </a:solidFill>
                <a:latin typeface="Arial" pitchFamily="34" charset="0"/>
                <a:ea typeface="Microsoft JhengHei"/>
                <a:cs typeface="Microsoft JhengHei"/>
                <a:ea typeface="Arial" pitchFamily="34" charset="-122"/>
                <a:cs typeface="Arial" pitchFamily="34" charset="-120"/>
              </a:rPr>
              <a:t>契約與協作</a:t>
            </a:r>
            <a:endParaRPr lang="en-US" sz="900" dirty="0"/>
          </a:p>
        </p:txBody>
      </p:sp>
      <p:sp>
        <p:nvSpPr>
          <p:cNvPr id="36" name="Text 34"/>
          <p:cNvSpPr/>
          <p:nvPr/>
        </p:nvSpPr>
        <p:spPr>
          <a:xfrm>
            <a:off x="4594250" y="4919472"/>
            <a:ext cx="3003194" cy="274320"/>
          </a:xfrm>
          <a:prstGeom prst="rect">
            <a:avLst/>
          </a:prstGeom>
          <a:noFill/>
          <a:ln/>
        </p:spPr>
        <p:txBody>
          <a:bodyPr wrap="square" lIns="0" tIns="0" rIns="0" bIns="0" rtlCol="0" anchor="ctr"/>
          <a:lstStyle/>
          <a:p>
            <a:pPr indent="0" marL="0">
              <a:buNone/>
            </a:pPr>
            <a:r>
              <a:rPr lang="en-US" sz="1400" b="1" dirty="0">
                <a:solidFill>
                  <a:srgbClr val="1D2B39"/>
                </a:solidFill>
                <a:latin typeface="Arial" pitchFamily="34" charset="0"/>
                <a:ea typeface="Microsoft JhengHei"/>
                <a:cs typeface="Microsoft JhengHei"/>
                <a:ea typeface="Arial" pitchFamily="34" charset="-122"/>
                <a:cs typeface="Arial" pitchFamily="34" charset="-120"/>
              </a:rPr>
              <a:t>契約與協作</a:t>
            </a:r>
            <a:endParaRPr lang="en-US" sz="1400" dirty="0"/>
          </a:p>
        </p:txBody>
      </p:sp>
      <p:sp>
        <p:nvSpPr>
          <p:cNvPr id="37" name="Text 35"/>
          <p:cNvSpPr/>
          <p:nvPr/>
        </p:nvSpPr>
        <p:spPr>
          <a:xfrm>
            <a:off x="4594250" y="5221224"/>
            <a:ext cx="3003194" cy="484632"/>
          </a:xfrm>
          <a:prstGeom prst="rect">
            <a:avLst/>
          </a:prstGeom>
          <a:noFill/>
          <a:ln/>
        </p:spPr>
        <p:txBody>
          <a:bodyPr wrap="square" lIns="0" tIns="0" rIns="0" bIns="0" rtlCol="0" anchor="t"/>
          <a:lstStyle/>
          <a:p>
            <a:pPr indent="0" marL="0">
              <a:lnSpc>
                <a:spcPts val="1512"/>
              </a:lnSpc>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專案文件、履約需求、送審文件、工程疑義（RFI）、變更設計、風險稽核。</a:t>
            </a:r>
            <a:endParaRPr lang="en-US" sz="1050" dirty="0"/>
          </a:p>
        </p:txBody>
      </p:sp>
      <p:sp>
        <p:nvSpPr>
          <p:cNvPr id="38" name="Shape 36"/>
          <p:cNvSpPr/>
          <p:nvPr/>
        </p:nvSpPr>
        <p:spPr>
          <a:xfrm>
            <a:off x="8091221" y="4480560"/>
            <a:ext cx="3442106" cy="1371600"/>
          </a:xfrm>
          <a:prstGeom prst="roundRect">
            <a:avLst>
              <a:gd name="adj" fmla="val 2333"/>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39" name="Text 37"/>
          <p:cNvSpPr/>
          <p:nvPr/>
        </p:nvSpPr>
        <p:spPr>
          <a:xfrm>
            <a:off x="8310677" y="4608576"/>
            <a:ext cx="809244" cy="237744"/>
          </a:xfrm>
          <a:prstGeom prst="roundRect">
            <a:avLst>
              <a:gd name="adj" fmla="val 11538"/>
            </a:avLst>
          </a:prstGeom>
          <a:solidFill>
            <a:srgbClr val="E3E9EF"/>
          </a:solidFill>
          <a:ln>
            <a:solidFill>
              <a:srgbClr val="E3E9EF"/>
            </a:solidFill>
          </a:ln>
        </p:spPr>
        <p:txBody>
          <a:bodyPr wrap="square" lIns="0" tIns="0" rIns="0" bIns="0" rtlCol="0" anchor="ctr"/>
          <a:lstStyle/>
          <a:p>
            <a:pPr algn="ctr" indent="0" marL="0">
              <a:buNone/>
            </a:pPr>
            <a:r>
              <a:rPr lang="en-US" sz="900" b="1" spc="60" kern="0" dirty="0">
                <a:solidFill>
                  <a:srgbClr val="7A8794"/>
                </a:solidFill>
                <a:latin typeface="Arial" pitchFamily="34" charset="0"/>
                <a:ea typeface="Microsoft JhengHei"/>
                <a:cs typeface="Microsoft JhengHei"/>
                <a:ea typeface="Arial" pitchFamily="34" charset="-122"/>
                <a:cs typeface="Arial" pitchFamily="34" charset="-120"/>
              </a:rPr>
              <a:t>契約與協作</a:t>
            </a:r>
            <a:endParaRPr lang="en-US" sz="900" dirty="0"/>
          </a:p>
        </p:txBody>
      </p:sp>
      <p:sp>
        <p:nvSpPr>
          <p:cNvPr id="40" name="Text 38"/>
          <p:cNvSpPr/>
          <p:nvPr/>
        </p:nvSpPr>
        <p:spPr>
          <a:xfrm>
            <a:off x="8310677" y="4919472"/>
            <a:ext cx="3003194" cy="274320"/>
          </a:xfrm>
          <a:prstGeom prst="rect">
            <a:avLst/>
          </a:prstGeom>
          <a:noFill/>
          <a:ln/>
        </p:spPr>
        <p:txBody>
          <a:bodyPr wrap="square" lIns="0" tIns="0" rIns="0" bIns="0" rtlCol="0" anchor="ctr"/>
          <a:lstStyle/>
          <a:p>
            <a:pPr indent="0" marL="0">
              <a:buNone/>
            </a:pPr>
            <a:r>
              <a:rPr lang="en-US" sz="1400" b="1" dirty="0">
                <a:solidFill>
                  <a:srgbClr val="1D2B39"/>
                </a:solidFill>
                <a:latin typeface="Arial" pitchFamily="34" charset="0"/>
                <a:ea typeface="Microsoft JhengHei"/>
                <a:cs typeface="Microsoft JhengHei"/>
                <a:ea typeface="Arial" pitchFamily="34" charset="-122"/>
                <a:cs typeface="Arial" pitchFamily="34" charset="-120"/>
              </a:rPr>
              <a:t>驗收結算與成員</a:t>
            </a:r>
            <a:endParaRPr lang="en-US" sz="1400" dirty="0"/>
          </a:p>
        </p:txBody>
      </p:sp>
      <p:sp>
        <p:nvSpPr>
          <p:cNvPr id="41" name="Text 39"/>
          <p:cNvSpPr/>
          <p:nvPr/>
        </p:nvSpPr>
        <p:spPr>
          <a:xfrm>
            <a:off x="8310677" y="5221224"/>
            <a:ext cx="3003194" cy="484632"/>
          </a:xfrm>
          <a:prstGeom prst="rect">
            <a:avLst/>
          </a:prstGeom>
          <a:noFill/>
          <a:ln/>
        </p:spPr>
        <p:txBody>
          <a:bodyPr wrap="square" lIns="0" tIns="0" rIns="0" bIns="0" rtlCol="0" anchor="t"/>
          <a:lstStyle/>
          <a:p>
            <a:pPr indent="0" marL="0">
              <a:lnSpc>
                <a:spcPts val="1512"/>
              </a:lnSpc>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法定期限倒數、驗收流程、專案成員與權限。</a:t>
            </a:r>
            <a:endParaRPr lang="en-US" sz="1050" dirty="0"/>
          </a:p>
        </p:txBody>
      </p:sp>
      <p:sp>
        <p:nvSpPr>
          <p:cNvPr id="42" name="Text 40"/>
          <p:cNvSpPr/>
          <p:nvPr/>
        </p:nvSpPr>
        <p:spPr>
          <a:xfrm>
            <a:off x="658368" y="5943600"/>
            <a:ext cx="10874959" cy="274320"/>
          </a:xfrm>
          <a:prstGeom prst="rect">
            <a:avLst/>
          </a:prstGeom>
          <a:noFill/>
          <a:ln/>
        </p:spPr>
        <p:txBody>
          <a:bodyPr wrap="square" lIns="0" tIns="0" rIns="0" bIns="0" rtlCol="0" anchor="ctr"/>
          <a:lstStyle/>
          <a:p>
            <a:pPr indent="0" marL="0">
              <a:buNone/>
            </a:pPr>
            <a:r>
              <a:rPr lang="en-US" sz="1100" dirty="0">
                <a:solidFill>
                  <a:srgbClr val="7A8794"/>
                </a:solidFill>
                <a:latin typeface="Arial" pitchFamily="34" charset="0"/>
                <a:ea typeface="Microsoft JhengHei"/>
                <a:cs typeface="Microsoft JhengHei"/>
                <a:ea typeface="Arial" pitchFamily="34" charset="-122"/>
                <a:cs typeface="Arial" pitchFamily="34" charset="-120"/>
              </a:rPr>
              <a:t>資料脊椎：</a:t>
            </a:r>
            <a:pPr indent="0" marL="0">
              <a:buNone/>
            </a:pPr>
            <a:r>
              <a:rPr lang="en-US" sz="1100" b="1" dirty="0">
                <a:solidFill>
                  <a:srgbClr val="1B5480"/>
                </a:solidFill>
                <a:latin typeface="Arial" pitchFamily="34" charset="0"/>
                <a:ea typeface="Microsoft JhengHei"/>
                <a:cs typeface="Microsoft JhengHei"/>
                <a:ea typeface="Arial" pitchFamily="34" charset="-122"/>
                <a:cs typeface="Arial" pitchFamily="34" charset="-120"/>
              </a:rPr>
              <a:t>標單工項 → 施工日誌數量 → 估驗計價 → 請款</a:t>
            </a:r>
            <a:pPr indent="0" marL="0">
              <a:buNone/>
            </a:pPr>
            <a:r>
              <a:rPr lang="en-US" sz="1100" dirty="0">
                <a:solidFill>
                  <a:srgbClr val="7A8794"/>
                </a:solidFill>
                <a:latin typeface="Arial" pitchFamily="34" charset="0"/>
                <a:ea typeface="Microsoft JhengHei"/>
                <a:cs typeface="Microsoft JhengHei"/>
                <a:ea typeface="Arial" pitchFamily="34" charset="-122"/>
                <a:cs typeface="Arial" pitchFamily="34" charset="-120"/>
              </a:rPr>
              <a:t>，全線以同一個工項識別碼串接，所以才對得起來。</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壹 · 產品</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06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C05209"/>
                </a:solidFill>
                <a:latin typeface="Arial" pitchFamily="34" charset="0"/>
                <a:ea typeface="Microsoft JhengHei"/>
                <a:cs typeface="Microsoft JhengHei"/>
                <a:ea typeface="Arial" pitchFamily="34" charset="-122"/>
                <a:cs typeface="Arial" pitchFamily="34" charset="-120"/>
              </a:rPr>
              <a:t>角色</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3100" b="1" dirty="0">
                <a:solidFill>
                  <a:srgbClr val="1D2B39"/>
                </a:solidFill>
                <a:latin typeface="Arial" pitchFamily="34" charset="0"/>
                <a:ea typeface="Microsoft JhengHei"/>
                <a:cs typeface="Microsoft JhengHei"/>
                <a:ea typeface="Arial" pitchFamily="34" charset="-122"/>
                <a:cs typeface="Arial" pitchFamily="34" charset="-120"/>
              </a:rPr>
              <a:t>Agent 做草稿，人做決定。</a:t>
            </a:r>
            <a:endParaRPr lang="en-US" sz="3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8368" y="1645920"/>
          <a:ext cx="10874959" cy="914400"/>
        </p:xfrm>
        <a:graphic>
          <a:graphicData uri="http://schemas.openxmlformats.org/drawingml/2006/table">
            <a:tbl>
              <a:tblPr/>
              <a:tblGrid>
                <a:gridCol w="1463040"/>
                <a:gridCol w="6583680"/>
                <a:gridCol w="2828239"/>
              </a:tblGrid>
              <a:tr h="0">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角色</a:t>
                      </a:r>
                      <a:endParaRPr lang="en-US" sz="950" dirty="0">
                        <a:latin typeface="Arial" charset="0"/>
                        <a:ea typeface="Microsoft JhengHei"/>
                        <a:cs typeface="Microsoft JhengHei"/>
                        <a:ea typeface="Arial" charset="0"/>
                        <a:cs typeface="Arial" charset="0"/>
                      </a:endParaRPr>
                    </a:p>
                  </a:txBody>
                  <a:tcPr marL="127000" marR="127000" marT="228600" marB="228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Agent 幫他做</a:t>
                      </a:r>
                      <a:endParaRPr lang="en-US" sz="950" dirty="0">
                        <a:latin typeface="Arial" charset="0"/>
                        <a:ea typeface="Microsoft JhengHei"/>
                        <a:cs typeface="Microsoft JhengHei"/>
                        <a:ea typeface="Arial" charset="0"/>
                        <a:cs typeface="Arial" charset="0"/>
                      </a:endParaRPr>
                    </a:p>
                  </a:txBody>
                  <a:tcPr marL="127000" marR="127000" marT="228600" marB="228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他自己做（Agent 沒有這個工具）</a:t>
                      </a:r>
                      <a:endParaRPr lang="en-US" sz="950" dirty="0">
                        <a:latin typeface="Arial" charset="0"/>
                        <a:ea typeface="Microsoft JhengHei"/>
                        <a:cs typeface="Microsoft JhengHei"/>
                        <a:ea typeface="Arial" charset="0"/>
                        <a:cs typeface="Arial" charset="0"/>
                      </a:endParaRPr>
                    </a:p>
                  </a:txBody>
                  <a:tcPr marL="127000" marR="127000" marT="228600" marB="228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r>
              <a:tr h="0">
                <a:tc>
                  <a:txBody>
                    <a:bodyPr/>
                    <a:lstStyle/>
                    <a:p>
                      <a:pPr algn="l" indent="0" marL="0">
                        <a:buNone/>
                      </a:pPr>
                      <a:r>
                        <a:rPr lang="en-US" sz="1150" b="1" dirty="0">
                          <a:solidFill>
                            <a:srgbClr val="1D2B39"/>
                          </a:solidFill>
                          <a:latin typeface="Arial" pitchFamily="34" charset="0"/>
                          <a:ea typeface="Microsoft JhengHei"/>
                          <a:cs typeface="Microsoft JhengHei"/>
                          <a:ea typeface="Arial" pitchFamily="34" charset="-122"/>
                          <a:cs typeface="Arial" pitchFamily="34" charset="-120"/>
                        </a:rPr>
                        <a:t>現場（廠商）</a:t>
                      </a:r>
                      <a:endParaRPr lang="en-US" sz="1150" dirty="0">
                        <a:latin typeface="Arial" charset="0"/>
                        <a:ea typeface="Microsoft JhengHei"/>
                        <a:cs typeface="Microsoft JhengHei"/>
                        <a:ea typeface="Arial" charset="0"/>
                        <a:cs typeface="Arial" charset="0"/>
                      </a:endParaRPr>
                    </a:p>
                  </a:txBody>
                  <a:tcPr marL="127000" marR="127000" marT="228600" marB="228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日誌零輸入（複製昨日、常用班組機具自學、依座標帶入當日天氣）；工地照片批次辨識，逐張產說明並配到工項；估驗數量從日誌累計帶出</a:t>
                      </a:r>
                      <a:endParaRPr lang="en-US" sz="1150" dirty="0">
                        <a:latin typeface="Arial" charset="0"/>
                        <a:ea typeface="Microsoft JhengHei"/>
                        <a:cs typeface="Microsoft JhengHei"/>
                        <a:ea typeface="Arial" charset="0"/>
                        <a:cs typeface="Arial" charset="0"/>
                      </a:endParaRPr>
                    </a:p>
                  </a:txBody>
                  <a:tcPr marL="127000" marR="127000" marT="228600" marB="228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D2B39"/>
                          </a:solidFill>
                          <a:latin typeface="Arial" pitchFamily="34" charset="0"/>
                          <a:ea typeface="Microsoft JhengHei"/>
                          <a:cs typeface="Microsoft JhengHei"/>
                          <a:ea typeface="Arial" pitchFamily="34" charset="-122"/>
                          <a:cs typeface="Arial" pitchFamily="34" charset="-120"/>
                        </a:rPr>
                        <a:t>確認、送出</a:t>
                      </a:r>
                      <a:endParaRPr lang="en-US" sz="1150" dirty="0">
                        <a:latin typeface="Arial" charset="0"/>
                        <a:ea typeface="Microsoft JhengHei"/>
                        <a:cs typeface="Microsoft JhengHei"/>
                        <a:ea typeface="Arial" charset="0"/>
                        <a:cs typeface="Arial" charset="0"/>
                      </a:endParaRPr>
                    </a:p>
                  </a:txBody>
                  <a:tcPr marL="127000" marR="127000" marT="228600" marB="228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D2B39"/>
                          </a:solidFill>
                          <a:latin typeface="Arial" pitchFamily="34" charset="0"/>
                          <a:ea typeface="Microsoft JhengHei"/>
                          <a:cs typeface="Microsoft JhengHei"/>
                          <a:ea typeface="Arial" pitchFamily="34" charset="-122"/>
                          <a:cs typeface="Arial" pitchFamily="34" charset="-120"/>
                        </a:rPr>
                        <a:t>品管</a:t>
                      </a:r>
                      <a:endParaRPr lang="en-US" sz="1150" dirty="0">
                        <a:latin typeface="Arial" charset="0"/>
                        <a:ea typeface="Microsoft JhengHei"/>
                        <a:cs typeface="Microsoft JhengHei"/>
                        <a:ea typeface="Arial" charset="0"/>
                        <a:cs typeface="Arial" charset="0"/>
                      </a:endParaRPr>
                    </a:p>
                  </a:txBody>
                  <a:tcPr marL="127000" marR="127000" marT="228600" marB="228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自主檢查表依契約規範生成；缺失照片產描述草稿；混凝土試體齡期到期提醒</a:t>
                      </a:r>
                      <a:endParaRPr lang="en-US" sz="1150" dirty="0">
                        <a:latin typeface="Arial" charset="0"/>
                        <a:ea typeface="Microsoft JhengHei"/>
                        <a:cs typeface="Microsoft JhengHei"/>
                        <a:ea typeface="Arial" charset="0"/>
                        <a:cs typeface="Arial" charset="0"/>
                      </a:endParaRPr>
                    </a:p>
                  </a:txBody>
                  <a:tcPr marL="127000" marR="127000" marT="228600" marB="228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D2B39"/>
                          </a:solidFill>
                          <a:latin typeface="Arial" pitchFamily="34" charset="0"/>
                          <a:ea typeface="Microsoft JhengHei"/>
                          <a:cs typeface="Microsoft JhengHei"/>
                          <a:ea typeface="Arial" pitchFamily="34" charset="-122"/>
                          <a:cs typeface="Arial" pitchFamily="34" charset="-120"/>
                        </a:rPr>
                        <a:t>判定合格與否</a:t>
                      </a:r>
                      <a:endParaRPr lang="en-US" sz="1150" dirty="0">
                        <a:latin typeface="Arial" charset="0"/>
                        <a:ea typeface="Microsoft JhengHei"/>
                        <a:cs typeface="Microsoft JhengHei"/>
                        <a:ea typeface="Arial" charset="0"/>
                        <a:cs typeface="Arial" charset="0"/>
                      </a:endParaRPr>
                    </a:p>
                  </a:txBody>
                  <a:tcPr marL="127000" marR="127000" marT="228600" marB="228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D2B39"/>
                          </a:solidFill>
                          <a:latin typeface="Arial" pitchFamily="34" charset="0"/>
                          <a:ea typeface="Microsoft JhengHei"/>
                          <a:cs typeface="Microsoft JhengHei"/>
                          <a:ea typeface="Arial" pitchFamily="34" charset="-122"/>
                          <a:cs typeface="Arial" pitchFamily="34" charset="-120"/>
                        </a:rPr>
                        <a:t>監造</a:t>
                      </a:r>
                      <a:endParaRPr lang="en-US" sz="1150" dirty="0">
                        <a:latin typeface="Arial" charset="0"/>
                        <a:ea typeface="Microsoft JhengHei"/>
                        <a:cs typeface="Microsoft JhengHei"/>
                        <a:ea typeface="Arial" charset="0"/>
                        <a:cs typeface="Arial" charset="0"/>
                      </a:endParaRPr>
                    </a:p>
                  </a:txBody>
                  <a:tcPr marL="127000" marR="127000" marT="228600" marB="228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送審文件逐項比對契約規範，出審查要點與意見草稿；RFI 回覆草稿；施工月報草稿</a:t>
                      </a:r>
                      <a:endParaRPr lang="en-US" sz="1150" dirty="0">
                        <a:latin typeface="Arial" charset="0"/>
                        <a:ea typeface="Microsoft JhengHei"/>
                        <a:cs typeface="Microsoft JhengHei"/>
                        <a:ea typeface="Arial" charset="0"/>
                        <a:cs typeface="Arial" charset="0"/>
                      </a:endParaRPr>
                    </a:p>
                  </a:txBody>
                  <a:tcPr marL="127000" marR="127000" marT="228600" marB="228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D2B39"/>
                          </a:solidFill>
                          <a:latin typeface="Arial" pitchFamily="34" charset="0"/>
                          <a:ea typeface="Microsoft JhengHei"/>
                          <a:cs typeface="Microsoft JhengHei"/>
                          <a:ea typeface="Arial" pitchFamily="34" charset="-122"/>
                          <a:cs typeface="Arial" pitchFamily="34" charset="-120"/>
                        </a:rPr>
                        <a:t>審定、核備</a:t>
                      </a:r>
                      <a:endParaRPr lang="en-US" sz="1150" dirty="0">
                        <a:latin typeface="Arial" charset="0"/>
                        <a:ea typeface="Microsoft JhengHei"/>
                        <a:cs typeface="Microsoft JhengHei"/>
                        <a:ea typeface="Arial" charset="0"/>
                        <a:cs typeface="Arial" charset="0"/>
                      </a:endParaRPr>
                    </a:p>
                  </a:txBody>
                  <a:tcPr marL="127000" marR="127000" marT="228600" marB="228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1D2B39"/>
                          </a:solidFill>
                          <a:latin typeface="Arial" pitchFamily="34" charset="0"/>
                          <a:ea typeface="Microsoft JhengHei"/>
                          <a:cs typeface="Microsoft JhengHei"/>
                          <a:ea typeface="Arial" pitchFamily="34" charset="-122"/>
                          <a:cs typeface="Arial" pitchFamily="34" charset="-120"/>
                        </a:rPr>
                        <a:t>機關</a:t>
                      </a:r>
                      <a:endParaRPr lang="en-US" sz="1150" dirty="0">
                        <a:latin typeface="Arial" charset="0"/>
                        <a:ea typeface="Microsoft JhengHei"/>
                        <a:cs typeface="Microsoft JhengHei"/>
                        <a:ea typeface="Arial" charset="0"/>
                        <a:cs typeface="Arial" charset="0"/>
                      </a:endParaRPr>
                    </a:p>
                  </a:txBody>
                  <a:tcPr marL="127000" marR="127000" marT="228600" marB="228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佐證鏈逐工項對帳；稽核意見草稿；法定期限倒數與逾期違約金試算；跨案總覽</a:t>
                      </a:r>
                      <a:endParaRPr lang="en-US" sz="1150" dirty="0">
                        <a:latin typeface="Arial" charset="0"/>
                        <a:ea typeface="Microsoft JhengHei"/>
                        <a:cs typeface="Microsoft JhengHei"/>
                        <a:ea typeface="Arial" charset="0"/>
                        <a:cs typeface="Arial" charset="0"/>
                      </a:endParaRPr>
                    </a:p>
                  </a:txBody>
                  <a:tcPr marL="127000" marR="127000" marT="228600" marB="228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1D2B39"/>
                          </a:solidFill>
                          <a:latin typeface="Arial" pitchFamily="34" charset="0"/>
                          <a:ea typeface="Microsoft JhengHei"/>
                          <a:cs typeface="Microsoft JhengHei"/>
                          <a:ea typeface="Arial" pitchFamily="34" charset="-122"/>
                          <a:cs typeface="Arial" pitchFamily="34" charset="-120"/>
                        </a:rPr>
                        <a:t>核定、驗收、結案</a:t>
                      </a:r>
                      <a:endParaRPr lang="en-US" sz="1150" dirty="0">
                        <a:latin typeface="Arial" charset="0"/>
                        <a:ea typeface="Microsoft JhengHei"/>
                        <a:cs typeface="Microsoft JhengHei"/>
                        <a:ea typeface="Arial" charset="0"/>
                        <a:cs typeface="Arial" charset="0"/>
                      </a:endParaRPr>
                    </a:p>
                  </a:txBody>
                  <a:tcPr marL="127000" marR="127000" marT="228600" marB="228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r>
            </a:tbl>
          </a:graphicData>
        </a:graphic>
      </p:graphicFrame>
      <p:sp>
        <p:nvSpPr>
          <p:cNvPr id="7" name="Text 4"/>
          <p:cNvSpPr/>
          <p:nvPr/>
        </p:nvSpPr>
        <p:spPr>
          <a:xfrm>
            <a:off x="658368" y="5394960"/>
            <a:ext cx="10874959" cy="274320"/>
          </a:xfrm>
          <a:prstGeom prst="rect">
            <a:avLst/>
          </a:prstGeom>
          <a:noFill/>
          <a:ln/>
        </p:spPr>
        <p:txBody>
          <a:bodyPr wrap="square" lIns="0" tIns="0" rIns="0" bIns="0" rtlCol="0" anchor="ctr"/>
          <a:lstStyle/>
          <a:p>
            <a:pPr indent="0" marL="0">
              <a:buNone/>
            </a:pPr>
            <a:r>
              <a:rPr lang="en-US" sz="1100" dirty="0">
                <a:solidFill>
                  <a:srgbClr val="7A8794"/>
                </a:solidFill>
                <a:latin typeface="Arial" pitchFamily="34" charset="0"/>
                <a:ea typeface="Microsoft JhengHei"/>
                <a:cs typeface="Microsoft JhengHei"/>
                <a:ea typeface="Arial" pitchFamily="34" charset="-122"/>
                <a:cs typeface="Arial" pitchFamily="34" charset="-120"/>
              </a:rPr>
              <a:t>加一個角色＝加一份人格設定與工具白名單，不是另外做一套系統。</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壹 · 產品</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07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C05209"/>
                </a:solidFill>
                <a:latin typeface="Arial" pitchFamily="34" charset="0"/>
                <a:ea typeface="Microsoft JhengHei"/>
                <a:cs typeface="Microsoft JhengHei"/>
                <a:ea typeface="Arial" pitchFamily="34" charset="-122"/>
                <a:cs typeface="Arial" pitchFamily="34" charset="-120"/>
              </a:rPr>
              <a:t>機關最有感的一頁</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3100" b="1" dirty="0">
                <a:solidFill>
                  <a:srgbClr val="1D2B39"/>
                </a:solidFill>
                <a:latin typeface="Arial" pitchFamily="34" charset="0"/>
                <a:ea typeface="Microsoft JhengHei"/>
                <a:cs typeface="Microsoft JhengHei"/>
                <a:ea typeface="Arial" pitchFamily="34" charset="-122"/>
                <a:cs typeface="Arial" pitchFamily="34" charset="-120"/>
              </a:rPr>
              <a:t>佐證鏈：逐工項把四份文件對起來。</a:t>
            </a:r>
            <a:endParaRPr lang="en-US" sz="3100" dirty="0"/>
          </a:p>
        </p:txBody>
      </p:sp>
      <p:sp>
        <p:nvSpPr>
          <p:cNvPr id="6" name="Shape 4"/>
          <p:cNvSpPr/>
          <p:nvPr/>
        </p:nvSpPr>
        <p:spPr>
          <a:xfrm>
            <a:off x="658368" y="1591056"/>
            <a:ext cx="1926275" cy="804672"/>
          </a:xfrm>
          <a:prstGeom prst="roundRect">
            <a:avLst>
              <a:gd name="adj" fmla="val 3977"/>
            </a:avLst>
          </a:prstGeom>
          <a:solidFill>
            <a:srgbClr val="FFFFFF"/>
          </a:solidFill>
          <a:ln w="9525">
            <a:solidFill>
              <a:srgbClr val="E6EBF0"/>
            </a:solidFill>
            <a:prstDash val="solid"/>
          </a:ln>
        </p:spPr>
      </p:sp>
      <p:sp>
        <p:nvSpPr>
          <p:cNvPr id="7" name="Text 5"/>
          <p:cNvSpPr/>
          <p:nvPr/>
        </p:nvSpPr>
        <p:spPr>
          <a:xfrm>
            <a:off x="658368" y="1709928"/>
            <a:ext cx="1926275" cy="201168"/>
          </a:xfrm>
          <a:prstGeom prst="rect">
            <a:avLst/>
          </a:prstGeom>
          <a:noFill/>
          <a:ln/>
        </p:spPr>
        <p:txBody>
          <a:bodyPr wrap="square" lIns="0" tIns="0" rIns="0" bIns="0" rtlCol="0" anchor="ctr"/>
          <a:lstStyle/>
          <a:p>
            <a:pPr algn="ctr" indent="0" marL="0">
              <a:buNone/>
            </a:pPr>
            <a:r>
              <a:rPr lang="en-US" sz="850" b="1" spc="140" kern="0" dirty="0">
                <a:solidFill>
                  <a:srgbClr val="7A8794"/>
                </a:solidFill>
                <a:latin typeface="Arial" pitchFamily="34" charset="0"/>
                <a:ea typeface="Microsoft JhengHei"/>
                <a:cs typeface="Microsoft JhengHei"/>
                <a:ea typeface="Arial" pitchFamily="34" charset="-122"/>
                <a:cs typeface="Arial" pitchFamily="34" charset="-120"/>
              </a:rPr>
              <a:t>CLAIM</a:t>
            </a:r>
            <a:endParaRPr lang="en-US" sz="850" dirty="0"/>
          </a:p>
        </p:txBody>
      </p:sp>
      <p:sp>
        <p:nvSpPr>
          <p:cNvPr id="8" name="Text 6"/>
          <p:cNvSpPr/>
          <p:nvPr/>
        </p:nvSpPr>
        <p:spPr>
          <a:xfrm>
            <a:off x="658368" y="1929384"/>
            <a:ext cx="1926275" cy="310896"/>
          </a:xfrm>
          <a:prstGeom prst="rect">
            <a:avLst/>
          </a:prstGeom>
          <a:noFill/>
          <a:ln/>
        </p:spPr>
        <p:txBody>
          <a:bodyPr wrap="square" lIns="0" tIns="0" rIns="0" bIns="0" rtlCol="0" anchor="ctr"/>
          <a:lstStyle/>
          <a:p>
            <a:pPr algn="ctr" indent="0" marL="0">
              <a:buNone/>
            </a:pPr>
            <a:r>
              <a:rPr lang="en-US" sz="1350" b="1" dirty="0">
                <a:solidFill>
                  <a:srgbClr val="1D2B39"/>
                </a:solidFill>
                <a:latin typeface="Arial" pitchFamily="34" charset="0"/>
                <a:ea typeface="Microsoft JhengHei"/>
                <a:cs typeface="Microsoft JhengHei"/>
                <a:ea typeface="Arial" pitchFamily="34" charset="-122"/>
                <a:cs typeface="Arial" pitchFamily="34" charset="-120"/>
              </a:rPr>
              <a:t>估驗數量</a:t>
            </a:r>
            <a:endParaRPr lang="en-US" sz="1350" dirty="0"/>
          </a:p>
        </p:txBody>
      </p:sp>
      <p:sp>
        <p:nvSpPr>
          <p:cNvPr id="9" name="Shape 7"/>
          <p:cNvSpPr/>
          <p:nvPr/>
        </p:nvSpPr>
        <p:spPr>
          <a:xfrm>
            <a:off x="2639507" y="1993392"/>
            <a:ext cx="201168" cy="0"/>
          </a:xfrm>
          <a:prstGeom prst="line">
            <a:avLst/>
          </a:prstGeom>
          <a:noFill/>
          <a:ln w="15875">
            <a:solidFill>
              <a:srgbClr val="1E5A85"/>
            </a:solidFill>
            <a:prstDash val="solid"/>
            <a:tailEnd type="triangle"/>
          </a:ln>
        </p:spPr>
      </p:sp>
      <p:sp>
        <p:nvSpPr>
          <p:cNvPr id="10" name="Shape 8"/>
          <p:cNvSpPr/>
          <p:nvPr/>
        </p:nvSpPr>
        <p:spPr>
          <a:xfrm>
            <a:off x="2895539" y="1591056"/>
            <a:ext cx="1926275" cy="804672"/>
          </a:xfrm>
          <a:prstGeom prst="roundRect">
            <a:avLst>
              <a:gd name="adj" fmla="val 3977"/>
            </a:avLst>
          </a:prstGeom>
          <a:solidFill>
            <a:srgbClr val="FFFFFF"/>
          </a:solidFill>
          <a:ln w="9525">
            <a:solidFill>
              <a:srgbClr val="E6EBF0"/>
            </a:solidFill>
            <a:prstDash val="solid"/>
          </a:ln>
        </p:spPr>
      </p:sp>
      <p:sp>
        <p:nvSpPr>
          <p:cNvPr id="11" name="Text 9"/>
          <p:cNvSpPr/>
          <p:nvPr/>
        </p:nvSpPr>
        <p:spPr>
          <a:xfrm>
            <a:off x="2895539" y="1709928"/>
            <a:ext cx="1926275" cy="201168"/>
          </a:xfrm>
          <a:prstGeom prst="rect">
            <a:avLst/>
          </a:prstGeom>
          <a:noFill/>
          <a:ln/>
        </p:spPr>
        <p:txBody>
          <a:bodyPr wrap="square" lIns="0" tIns="0" rIns="0" bIns="0" rtlCol="0" anchor="ctr"/>
          <a:lstStyle/>
          <a:p>
            <a:pPr algn="ctr" indent="0" marL="0">
              <a:buNone/>
            </a:pPr>
            <a:r>
              <a:rPr lang="en-US" sz="850" b="1" spc="140" kern="0" dirty="0">
                <a:solidFill>
                  <a:srgbClr val="7A8794"/>
                </a:solidFill>
                <a:latin typeface="Arial" pitchFamily="34" charset="0"/>
                <a:ea typeface="Microsoft JhengHei"/>
                <a:cs typeface="Microsoft JhengHei"/>
                <a:ea typeface="Arial" pitchFamily="34" charset="-122"/>
                <a:cs typeface="Arial" pitchFamily="34" charset="-120"/>
              </a:rPr>
              <a:t>LOG</a:t>
            </a:r>
            <a:endParaRPr lang="en-US" sz="850" dirty="0"/>
          </a:p>
        </p:txBody>
      </p:sp>
      <p:sp>
        <p:nvSpPr>
          <p:cNvPr id="12" name="Text 10"/>
          <p:cNvSpPr/>
          <p:nvPr/>
        </p:nvSpPr>
        <p:spPr>
          <a:xfrm>
            <a:off x="2895539" y="1929384"/>
            <a:ext cx="1926275" cy="310896"/>
          </a:xfrm>
          <a:prstGeom prst="rect">
            <a:avLst/>
          </a:prstGeom>
          <a:noFill/>
          <a:ln/>
        </p:spPr>
        <p:txBody>
          <a:bodyPr wrap="square" lIns="0" tIns="0" rIns="0" bIns="0" rtlCol="0" anchor="ctr"/>
          <a:lstStyle/>
          <a:p>
            <a:pPr algn="ctr" indent="0" marL="0">
              <a:buNone/>
            </a:pPr>
            <a:r>
              <a:rPr lang="en-US" sz="1350" b="1" dirty="0">
                <a:solidFill>
                  <a:srgbClr val="1D2B39"/>
                </a:solidFill>
                <a:latin typeface="Arial" pitchFamily="34" charset="0"/>
                <a:ea typeface="Microsoft JhengHei"/>
                <a:cs typeface="Microsoft JhengHei"/>
                <a:ea typeface="Arial" pitchFamily="34" charset="-122"/>
                <a:cs typeface="Arial" pitchFamily="34" charset="-120"/>
              </a:rPr>
              <a:t>日誌累計</a:t>
            </a:r>
            <a:endParaRPr lang="en-US" sz="1350" dirty="0"/>
          </a:p>
        </p:txBody>
      </p:sp>
      <p:sp>
        <p:nvSpPr>
          <p:cNvPr id="13" name="Shape 11"/>
          <p:cNvSpPr/>
          <p:nvPr/>
        </p:nvSpPr>
        <p:spPr>
          <a:xfrm>
            <a:off x="4876678" y="1993392"/>
            <a:ext cx="201168" cy="0"/>
          </a:xfrm>
          <a:prstGeom prst="line">
            <a:avLst/>
          </a:prstGeom>
          <a:noFill/>
          <a:ln w="15875">
            <a:solidFill>
              <a:srgbClr val="1E5A85"/>
            </a:solidFill>
            <a:prstDash val="solid"/>
            <a:tailEnd type="triangle"/>
          </a:ln>
        </p:spPr>
      </p:sp>
      <p:sp>
        <p:nvSpPr>
          <p:cNvPr id="14" name="Shape 12"/>
          <p:cNvSpPr/>
          <p:nvPr/>
        </p:nvSpPr>
        <p:spPr>
          <a:xfrm>
            <a:off x="5132710" y="1591056"/>
            <a:ext cx="1926275" cy="804672"/>
          </a:xfrm>
          <a:prstGeom prst="roundRect">
            <a:avLst>
              <a:gd name="adj" fmla="val 3977"/>
            </a:avLst>
          </a:prstGeom>
          <a:solidFill>
            <a:srgbClr val="FFFFFF"/>
          </a:solidFill>
          <a:ln w="9525">
            <a:solidFill>
              <a:srgbClr val="E6EBF0"/>
            </a:solidFill>
            <a:prstDash val="solid"/>
          </a:ln>
        </p:spPr>
      </p:sp>
      <p:sp>
        <p:nvSpPr>
          <p:cNvPr id="15" name="Text 13"/>
          <p:cNvSpPr/>
          <p:nvPr/>
        </p:nvSpPr>
        <p:spPr>
          <a:xfrm>
            <a:off x="5132710" y="1709928"/>
            <a:ext cx="1926275" cy="201168"/>
          </a:xfrm>
          <a:prstGeom prst="rect">
            <a:avLst/>
          </a:prstGeom>
          <a:noFill/>
          <a:ln/>
        </p:spPr>
        <p:txBody>
          <a:bodyPr wrap="square" lIns="0" tIns="0" rIns="0" bIns="0" rtlCol="0" anchor="ctr"/>
          <a:lstStyle/>
          <a:p>
            <a:pPr algn="ctr" indent="0" marL="0">
              <a:buNone/>
            </a:pPr>
            <a:r>
              <a:rPr lang="en-US" sz="850" b="1" spc="140" kern="0" dirty="0">
                <a:solidFill>
                  <a:srgbClr val="7A8794"/>
                </a:solidFill>
                <a:latin typeface="Arial" pitchFamily="34" charset="0"/>
                <a:ea typeface="Microsoft JhengHei"/>
                <a:cs typeface="Microsoft JhengHei"/>
                <a:ea typeface="Arial" pitchFamily="34" charset="-122"/>
                <a:cs typeface="Arial" pitchFamily="34" charset="-120"/>
              </a:rPr>
              <a:t>INSPECT</a:t>
            </a:r>
            <a:endParaRPr lang="en-US" sz="850" dirty="0"/>
          </a:p>
        </p:txBody>
      </p:sp>
      <p:sp>
        <p:nvSpPr>
          <p:cNvPr id="16" name="Text 14"/>
          <p:cNvSpPr/>
          <p:nvPr/>
        </p:nvSpPr>
        <p:spPr>
          <a:xfrm>
            <a:off x="5132710" y="1929384"/>
            <a:ext cx="1926275" cy="310896"/>
          </a:xfrm>
          <a:prstGeom prst="rect">
            <a:avLst/>
          </a:prstGeom>
          <a:noFill/>
          <a:ln/>
        </p:spPr>
        <p:txBody>
          <a:bodyPr wrap="square" lIns="0" tIns="0" rIns="0" bIns="0" rtlCol="0" anchor="ctr"/>
          <a:lstStyle/>
          <a:p>
            <a:pPr algn="ctr" indent="0" marL="0">
              <a:buNone/>
            </a:pPr>
            <a:r>
              <a:rPr lang="en-US" sz="1350" b="1" dirty="0">
                <a:solidFill>
                  <a:srgbClr val="1D2B39"/>
                </a:solidFill>
                <a:latin typeface="Arial" pitchFamily="34" charset="0"/>
                <a:ea typeface="Microsoft JhengHei"/>
                <a:cs typeface="Microsoft JhengHei"/>
                <a:ea typeface="Arial" pitchFamily="34" charset="-122"/>
                <a:cs typeface="Arial" pitchFamily="34" charset="-120"/>
              </a:rPr>
              <a:t>查驗紀錄</a:t>
            </a:r>
            <a:endParaRPr lang="en-US" sz="1350" dirty="0"/>
          </a:p>
        </p:txBody>
      </p:sp>
      <p:sp>
        <p:nvSpPr>
          <p:cNvPr id="17" name="Shape 15"/>
          <p:cNvSpPr/>
          <p:nvPr/>
        </p:nvSpPr>
        <p:spPr>
          <a:xfrm>
            <a:off x="7113849" y="1993392"/>
            <a:ext cx="201168" cy="0"/>
          </a:xfrm>
          <a:prstGeom prst="line">
            <a:avLst/>
          </a:prstGeom>
          <a:noFill/>
          <a:ln w="15875">
            <a:solidFill>
              <a:srgbClr val="1E5A85"/>
            </a:solidFill>
            <a:prstDash val="solid"/>
            <a:tailEnd type="triangle"/>
          </a:ln>
        </p:spPr>
      </p:sp>
      <p:sp>
        <p:nvSpPr>
          <p:cNvPr id="18" name="Shape 16"/>
          <p:cNvSpPr/>
          <p:nvPr/>
        </p:nvSpPr>
        <p:spPr>
          <a:xfrm>
            <a:off x="7369881" y="1591056"/>
            <a:ext cx="1926275" cy="804672"/>
          </a:xfrm>
          <a:prstGeom prst="roundRect">
            <a:avLst>
              <a:gd name="adj" fmla="val 3977"/>
            </a:avLst>
          </a:prstGeom>
          <a:solidFill>
            <a:srgbClr val="FFFFFF"/>
          </a:solidFill>
          <a:ln w="9525">
            <a:solidFill>
              <a:srgbClr val="E6EBF0"/>
            </a:solidFill>
            <a:prstDash val="solid"/>
          </a:ln>
        </p:spPr>
      </p:sp>
      <p:sp>
        <p:nvSpPr>
          <p:cNvPr id="19" name="Text 17"/>
          <p:cNvSpPr/>
          <p:nvPr/>
        </p:nvSpPr>
        <p:spPr>
          <a:xfrm>
            <a:off x="7369881" y="1709928"/>
            <a:ext cx="1926275" cy="201168"/>
          </a:xfrm>
          <a:prstGeom prst="rect">
            <a:avLst/>
          </a:prstGeom>
          <a:noFill/>
          <a:ln/>
        </p:spPr>
        <p:txBody>
          <a:bodyPr wrap="square" lIns="0" tIns="0" rIns="0" bIns="0" rtlCol="0" anchor="ctr"/>
          <a:lstStyle/>
          <a:p>
            <a:pPr algn="ctr" indent="0" marL="0">
              <a:buNone/>
            </a:pPr>
            <a:r>
              <a:rPr lang="en-US" sz="850" b="1" spc="140" kern="0" dirty="0">
                <a:solidFill>
                  <a:srgbClr val="7A8794"/>
                </a:solidFill>
                <a:latin typeface="Arial" pitchFamily="34" charset="0"/>
                <a:ea typeface="Microsoft JhengHei"/>
                <a:cs typeface="Microsoft JhengHei"/>
                <a:ea typeface="Arial" pitchFamily="34" charset="-122"/>
                <a:cs typeface="Arial" pitchFamily="34" charset="-120"/>
              </a:rPr>
              <a:t>TEST</a:t>
            </a:r>
            <a:endParaRPr lang="en-US" sz="850" dirty="0"/>
          </a:p>
        </p:txBody>
      </p:sp>
      <p:sp>
        <p:nvSpPr>
          <p:cNvPr id="20" name="Text 18"/>
          <p:cNvSpPr/>
          <p:nvPr/>
        </p:nvSpPr>
        <p:spPr>
          <a:xfrm>
            <a:off x="7369881" y="1929384"/>
            <a:ext cx="1926275" cy="310896"/>
          </a:xfrm>
          <a:prstGeom prst="rect">
            <a:avLst/>
          </a:prstGeom>
          <a:noFill/>
          <a:ln/>
        </p:spPr>
        <p:txBody>
          <a:bodyPr wrap="square" lIns="0" tIns="0" rIns="0" bIns="0" rtlCol="0" anchor="ctr"/>
          <a:lstStyle/>
          <a:p>
            <a:pPr algn="ctr" indent="0" marL="0">
              <a:buNone/>
            </a:pPr>
            <a:r>
              <a:rPr lang="en-US" sz="1350" b="1" dirty="0">
                <a:solidFill>
                  <a:srgbClr val="1D2B39"/>
                </a:solidFill>
                <a:latin typeface="Arial" pitchFamily="34" charset="0"/>
                <a:ea typeface="Microsoft JhengHei"/>
                <a:cs typeface="Microsoft JhengHei"/>
                <a:ea typeface="Arial" pitchFamily="34" charset="-122"/>
                <a:cs typeface="Arial" pitchFamily="34" charset="-120"/>
              </a:rPr>
              <a:t>試體強度</a:t>
            </a:r>
            <a:endParaRPr lang="en-US" sz="1350" dirty="0"/>
          </a:p>
        </p:txBody>
      </p:sp>
      <p:sp>
        <p:nvSpPr>
          <p:cNvPr id="21" name="Shape 19"/>
          <p:cNvSpPr/>
          <p:nvPr/>
        </p:nvSpPr>
        <p:spPr>
          <a:xfrm>
            <a:off x="9351020" y="1993392"/>
            <a:ext cx="201168" cy="0"/>
          </a:xfrm>
          <a:prstGeom prst="line">
            <a:avLst/>
          </a:prstGeom>
          <a:noFill/>
          <a:ln w="15875">
            <a:solidFill>
              <a:srgbClr val="1E5A85"/>
            </a:solidFill>
            <a:prstDash val="solid"/>
            <a:tailEnd type="triangle"/>
          </a:ln>
        </p:spPr>
      </p:sp>
      <p:sp>
        <p:nvSpPr>
          <p:cNvPr id="22" name="Shape 20"/>
          <p:cNvSpPr/>
          <p:nvPr/>
        </p:nvSpPr>
        <p:spPr>
          <a:xfrm>
            <a:off x="9607052" y="1591056"/>
            <a:ext cx="1926275" cy="804672"/>
          </a:xfrm>
          <a:prstGeom prst="roundRect">
            <a:avLst>
              <a:gd name="adj" fmla="val 3977"/>
            </a:avLst>
          </a:prstGeom>
          <a:solidFill>
            <a:srgbClr val="FFFFFF"/>
          </a:solidFill>
          <a:ln w="9525">
            <a:solidFill>
              <a:srgbClr val="E6EBF0"/>
            </a:solidFill>
            <a:prstDash val="solid"/>
          </a:ln>
        </p:spPr>
      </p:sp>
      <p:sp>
        <p:nvSpPr>
          <p:cNvPr id="23" name="Text 21"/>
          <p:cNvSpPr/>
          <p:nvPr/>
        </p:nvSpPr>
        <p:spPr>
          <a:xfrm>
            <a:off x="9607052" y="1709928"/>
            <a:ext cx="1926275" cy="201168"/>
          </a:xfrm>
          <a:prstGeom prst="rect">
            <a:avLst/>
          </a:prstGeom>
          <a:noFill/>
          <a:ln/>
        </p:spPr>
        <p:txBody>
          <a:bodyPr wrap="square" lIns="0" tIns="0" rIns="0" bIns="0" rtlCol="0" anchor="ctr"/>
          <a:lstStyle/>
          <a:p>
            <a:pPr algn="ctr" indent="0" marL="0">
              <a:buNone/>
            </a:pPr>
            <a:r>
              <a:rPr lang="en-US" sz="850" b="1" spc="140" kern="0" dirty="0">
                <a:solidFill>
                  <a:srgbClr val="7A8794"/>
                </a:solidFill>
                <a:latin typeface="Arial" pitchFamily="34" charset="0"/>
                <a:ea typeface="Microsoft JhengHei"/>
                <a:cs typeface="Microsoft JhengHei"/>
                <a:ea typeface="Arial" pitchFamily="34" charset="-122"/>
                <a:cs typeface="Arial" pitchFamily="34" charset="-120"/>
              </a:rPr>
              <a:t>PHOTO</a:t>
            </a:r>
            <a:endParaRPr lang="en-US" sz="850" dirty="0"/>
          </a:p>
        </p:txBody>
      </p:sp>
      <p:sp>
        <p:nvSpPr>
          <p:cNvPr id="24" name="Text 22"/>
          <p:cNvSpPr/>
          <p:nvPr/>
        </p:nvSpPr>
        <p:spPr>
          <a:xfrm>
            <a:off x="9607052" y="1929384"/>
            <a:ext cx="1926275" cy="310896"/>
          </a:xfrm>
          <a:prstGeom prst="rect">
            <a:avLst/>
          </a:prstGeom>
          <a:noFill/>
          <a:ln/>
        </p:spPr>
        <p:txBody>
          <a:bodyPr wrap="square" lIns="0" tIns="0" rIns="0" bIns="0" rtlCol="0" anchor="ctr"/>
          <a:lstStyle/>
          <a:p>
            <a:pPr algn="ctr" indent="0" marL="0">
              <a:buNone/>
            </a:pPr>
            <a:r>
              <a:rPr lang="en-US" sz="1350" b="1" dirty="0">
                <a:solidFill>
                  <a:srgbClr val="1D2B39"/>
                </a:solidFill>
                <a:latin typeface="Arial" pitchFamily="34" charset="0"/>
                <a:ea typeface="Microsoft JhengHei"/>
                <a:cs typeface="Microsoft JhengHei"/>
                <a:ea typeface="Arial" pitchFamily="34" charset="-122"/>
                <a:cs typeface="Arial" pitchFamily="34" charset="-120"/>
              </a:rPr>
              <a:t>現場照片</a:t>
            </a:r>
            <a:endParaRPr lang="en-US" sz="1350" dirty="0"/>
          </a:p>
        </p:txBody>
      </p:sp>
      <p:sp>
        <p:nvSpPr>
          <p:cNvPr id="25" name="Shape 23"/>
          <p:cNvSpPr/>
          <p:nvPr/>
        </p:nvSpPr>
        <p:spPr>
          <a:xfrm>
            <a:off x="658368" y="2779776"/>
            <a:ext cx="5245456" cy="2286000"/>
          </a:xfrm>
          <a:prstGeom prst="roundRect">
            <a:avLst>
              <a:gd name="adj" fmla="val 1400"/>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26" name="Text 24"/>
          <p:cNvSpPr/>
          <p:nvPr/>
        </p:nvSpPr>
        <p:spPr>
          <a:xfrm>
            <a:off x="896112" y="2907792"/>
            <a:ext cx="4769968" cy="274320"/>
          </a:xfrm>
          <a:prstGeom prst="rect">
            <a:avLst/>
          </a:prstGeom>
          <a:noFill/>
          <a:ln/>
        </p:spPr>
        <p:txBody>
          <a:bodyPr wrap="square" lIns="0" tIns="0" rIns="0" bIns="0" rtlCol="0" anchor="ctr"/>
          <a:lstStyle/>
          <a:p>
            <a:pPr indent="0" marL="0">
              <a:buNone/>
            </a:pPr>
            <a:r>
              <a:rPr lang="en-US" sz="1450" b="1" dirty="0">
                <a:solidFill>
                  <a:srgbClr val="1D2B39"/>
                </a:solidFill>
                <a:latin typeface="Arial" pitchFamily="34" charset="0"/>
                <a:ea typeface="Microsoft JhengHei"/>
                <a:cs typeface="Microsoft JhengHei"/>
                <a:ea typeface="Arial" pitchFamily="34" charset="-122"/>
                <a:cs typeface="Arial" pitchFamily="34" charset="-120"/>
              </a:rPr>
              <a:t>六項對帳，全部是程式算的</a:t>
            </a:r>
            <a:endParaRPr lang="en-US" sz="1450" dirty="0"/>
          </a:p>
        </p:txBody>
      </p:sp>
      <p:sp>
        <p:nvSpPr>
          <p:cNvPr id="27" name="Text 25"/>
          <p:cNvSpPr/>
          <p:nvPr/>
        </p:nvSpPr>
        <p:spPr>
          <a:xfrm>
            <a:off x="896112" y="3273552"/>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28" name="Text 26"/>
          <p:cNvSpPr/>
          <p:nvPr/>
        </p:nvSpPr>
        <p:spPr>
          <a:xfrm>
            <a:off x="1115568" y="3273552"/>
            <a:ext cx="4550512" cy="265176"/>
          </a:xfrm>
          <a:prstGeom prst="rect">
            <a:avLst/>
          </a:prstGeom>
          <a:noFill/>
          <a:ln/>
        </p:spPr>
        <p:txBody>
          <a:bodyPr wrap="square" lIns="0" tIns="0" rIns="0" bIns="0" rtlCol="0" anchor="ctr"/>
          <a:lstStyle/>
          <a:p>
            <a:pPr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本期估驗量超過日誌累計量</a:t>
            </a:r>
            <a:endParaRPr lang="en-US" sz="1150" dirty="0"/>
          </a:p>
        </p:txBody>
      </p:sp>
      <p:sp>
        <p:nvSpPr>
          <p:cNvPr id="29" name="Text 27"/>
          <p:cNvSpPr/>
          <p:nvPr/>
        </p:nvSpPr>
        <p:spPr>
          <a:xfrm>
            <a:off x="896112" y="3538728"/>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30" name="Text 28"/>
          <p:cNvSpPr/>
          <p:nvPr/>
        </p:nvSpPr>
        <p:spPr>
          <a:xfrm>
            <a:off x="1115568" y="3538728"/>
            <a:ext cx="4550512" cy="265176"/>
          </a:xfrm>
          <a:prstGeom prst="rect">
            <a:avLst/>
          </a:prstGeom>
          <a:noFill/>
          <a:ln/>
        </p:spPr>
        <p:txBody>
          <a:bodyPr wrap="square" lIns="0" tIns="0" rIns="0" bIns="0" rtlCol="0" anchor="ctr"/>
          <a:lstStyle/>
          <a:p>
            <a:pPr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混凝土澆置日沒有對應試體</a:t>
            </a:r>
            <a:endParaRPr lang="en-US" sz="1150" dirty="0"/>
          </a:p>
        </p:txBody>
      </p:sp>
      <p:sp>
        <p:nvSpPr>
          <p:cNvPr id="31" name="Text 29"/>
          <p:cNvSpPr/>
          <p:nvPr/>
        </p:nvSpPr>
        <p:spPr>
          <a:xfrm>
            <a:off x="896112" y="3803904"/>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32" name="Text 30"/>
          <p:cNvSpPr/>
          <p:nvPr/>
        </p:nvSpPr>
        <p:spPr>
          <a:xfrm>
            <a:off x="1115568" y="3803904"/>
            <a:ext cx="4550512" cy="265176"/>
          </a:xfrm>
          <a:prstGeom prst="rect">
            <a:avLst/>
          </a:prstGeom>
          <a:noFill/>
          <a:ln/>
        </p:spPr>
        <p:txBody>
          <a:bodyPr wrap="square" lIns="0" tIns="0" rIns="0" bIns="0" rtlCol="0" anchor="ctr"/>
          <a:lstStyle/>
          <a:p>
            <a:pPr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估驗的工項沒有查驗紀錄</a:t>
            </a:r>
            <a:endParaRPr lang="en-US" sz="1150" dirty="0"/>
          </a:p>
        </p:txBody>
      </p:sp>
      <p:sp>
        <p:nvSpPr>
          <p:cNvPr id="33" name="Text 31"/>
          <p:cNvSpPr/>
          <p:nvPr/>
        </p:nvSpPr>
        <p:spPr>
          <a:xfrm>
            <a:off x="896112" y="4069080"/>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34" name="Text 32"/>
          <p:cNvSpPr/>
          <p:nvPr/>
        </p:nvSpPr>
        <p:spPr>
          <a:xfrm>
            <a:off x="1115568" y="4069080"/>
            <a:ext cx="4550512" cy="265176"/>
          </a:xfrm>
          <a:prstGeom prst="rect">
            <a:avLst/>
          </a:prstGeom>
          <a:noFill/>
          <a:ln/>
        </p:spPr>
        <p:txBody>
          <a:bodyPr wrap="square" lIns="0" tIns="0" rIns="0" bIns="0" rtlCol="0" anchor="ctr"/>
          <a:lstStyle/>
          <a:p>
            <a:pPr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品質缺失未結案就進入計價</a:t>
            </a:r>
            <a:endParaRPr lang="en-US" sz="1150" dirty="0"/>
          </a:p>
        </p:txBody>
      </p:sp>
      <p:sp>
        <p:nvSpPr>
          <p:cNvPr id="35" name="Text 33"/>
          <p:cNvSpPr/>
          <p:nvPr/>
        </p:nvSpPr>
        <p:spPr>
          <a:xfrm>
            <a:off x="896112" y="4334256"/>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36" name="Text 34"/>
          <p:cNvSpPr/>
          <p:nvPr/>
        </p:nvSpPr>
        <p:spPr>
          <a:xfrm>
            <a:off x="1115568" y="4334256"/>
            <a:ext cx="4550512" cy="265176"/>
          </a:xfrm>
          <a:prstGeom prst="rect">
            <a:avLst/>
          </a:prstGeom>
          <a:noFill/>
          <a:ln/>
        </p:spPr>
        <p:txBody>
          <a:bodyPr wrap="square" lIns="0" tIns="0" rIns="0" bIns="0" rtlCol="0" anchor="ctr"/>
          <a:lstStyle/>
          <a:p>
            <a:pPr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照片沒有對應到任何工項</a:t>
            </a:r>
            <a:endParaRPr lang="en-US" sz="1150" dirty="0"/>
          </a:p>
        </p:txBody>
      </p:sp>
      <p:sp>
        <p:nvSpPr>
          <p:cNvPr id="37" name="Text 35"/>
          <p:cNvSpPr/>
          <p:nvPr/>
        </p:nvSpPr>
        <p:spPr>
          <a:xfrm>
            <a:off x="896112" y="4599432"/>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38" name="Text 36"/>
          <p:cNvSpPr/>
          <p:nvPr/>
        </p:nvSpPr>
        <p:spPr>
          <a:xfrm>
            <a:off x="1115568" y="4599432"/>
            <a:ext cx="4550512" cy="265176"/>
          </a:xfrm>
          <a:prstGeom prst="rect">
            <a:avLst/>
          </a:prstGeom>
          <a:noFill/>
          <a:ln/>
        </p:spPr>
        <p:txBody>
          <a:bodyPr wrap="square" lIns="0" tIns="0" rIns="0" bIns="0" rtlCol="0" anchor="ctr"/>
          <a:lstStyle/>
          <a:p>
            <a:pPr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變更設計未核准就計價</a:t>
            </a:r>
            <a:endParaRPr lang="en-US" sz="1150" dirty="0"/>
          </a:p>
        </p:txBody>
      </p:sp>
      <p:sp>
        <p:nvSpPr>
          <p:cNvPr id="39" name="Shape 37"/>
          <p:cNvSpPr/>
          <p:nvPr/>
        </p:nvSpPr>
        <p:spPr>
          <a:xfrm>
            <a:off x="6287872" y="2779776"/>
            <a:ext cx="5245456" cy="2286000"/>
          </a:xfrm>
          <a:prstGeom prst="roundRect">
            <a:avLst>
              <a:gd name="adj" fmla="val 1400"/>
            </a:avLst>
          </a:prstGeom>
          <a:solidFill>
            <a:srgbClr val="FCE9DC"/>
          </a:solidFill>
          <a:ln w="12700">
            <a:solidFill>
              <a:srgbClr val="FCE9DC"/>
            </a:solidFill>
            <a:prstDash val="solid"/>
          </a:ln>
        </p:spPr>
      </p:sp>
      <p:sp>
        <p:nvSpPr>
          <p:cNvPr id="40" name="Text 38"/>
          <p:cNvSpPr/>
          <p:nvPr/>
        </p:nvSpPr>
        <p:spPr>
          <a:xfrm>
            <a:off x="6507328" y="2944368"/>
            <a:ext cx="4806544" cy="274320"/>
          </a:xfrm>
          <a:prstGeom prst="rect">
            <a:avLst/>
          </a:prstGeom>
          <a:noFill/>
          <a:ln/>
        </p:spPr>
        <p:txBody>
          <a:bodyPr wrap="square" lIns="0" tIns="0" rIns="0" bIns="0" rtlCol="0" anchor="ctr"/>
          <a:lstStyle/>
          <a:p>
            <a:pPr indent="0" marL="0">
              <a:buNone/>
            </a:pPr>
            <a:r>
              <a:rPr lang="en-US" sz="1450" b="1" dirty="0">
                <a:solidFill>
                  <a:srgbClr val="1D2B39"/>
                </a:solidFill>
                <a:latin typeface="Arial" pitchFamily="34" charset="0"/>
                <a:ea typeface="Microsoft JhengHei"/>
                <a:cs typeface="Microsoft JhengHei"/>
                <a:ea typeface="Arial" pitchFamily="34" charset="-122"/>
                <a:cs typeface="Arial" pitchFamily="34" charset="-120"/>
              </a:rPr>
              <a:t>判定確定性，AI 只寫文字</a:t>
            </a:r>
            <a:endParaRPr lang="en-US" sz="1450" dirty="0"/>
          </a:p>
        </p:txBody>
      </p:sp>
      <p:sp>
        <p:nvSpPr>
          <p:cNvPr id="41" name="Text 39"/>
          <p:cNvSpPr/>
          <p:nvPr/>
        </p:nvSpPr>
        <p:spPr>
          <a:xfrm>
            <a:off x="6507328" y="3291840"/>
            <a:ext cx="4806544" cy="1627632"/>
          </a:xfrm>
          <a:prstGeom prst="rect">
            <a:avLst/>
          </a:prstGeom>
          <a:noFill/>
          <a:ln/>
        </p:spPr>
        <p:txBody>
          <a:bodyPr wrap="square" lIns="0" tIns="0" rIns="0" bIns="0" rtlCol="0" anchor="t"/>
          <a:lstStyle/>
          <a:p>
            <a:pPr indent="0" marL="0">
              <a:lnSpc>
                <a:spcPts val="1656"/>
              </a:lnSpc>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哪裡對不上，是資料庫算出來的，數字永遠可回溯。</a:t>
            </a:r>
            <a:endParaRPr lang="en-US" sz="1150" dirty="0"/>
          </a:p>
          <a:p>
            <a:pPr indent="0" marL="0">
              <a:lnSpc>
                <a:spcPts val="1656"/>
              </a:lnSpc>
              <a:buNone/>
            </a:pPr>
            <a:endParaRPr lang="en-US" sz="1150" dirty="0"/>
          </a:p>
          <a:p>
            <a:pPr indent="0" marL="0">
              <a:lnSpc>
                <a:spcPts val="1656"/>
              </a:lnSpc>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AI 的工作只有一件：把對不上的地方寫成一段人看得懂的稽核意見草稿——而且只建議查證，不寫剔除、補強、停工、罰款。</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壹 · 產品</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08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C05209"/>
                </a:solidFill>
                <a:latin typeface="Arial" pitchFamily="34" charset="0"/>
                <a:ea typeface="Microsoft JhengHei"/>
                <a:cs typeface="Microsoft JhengHei"/>
                <a:ea typeface="Arial" pitchFamily="34" charset="-122"/>
                <a:cs typeface="Arial" pitchFamily="34" charset="-120"/>
              </a:rPr>
              <a:t>AI 模組</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3100" b="1" dirty="0">
                <a:solidFill>
                  <a:srgbClr val="1D2B39"/>
                </a:solidFill>
                <a:latin typeface="Arial" pitchFamily="34" charset="0"/>
                <a:ea typeface="Microsoft JhengHei"/>
                <a:cs typeface="Microsoft JhengHei"/>
                <a:ea typeface="Arial" pitchFamily="34" charset="-122"/>
                <a:cs typeface="Arial" pitchFamily="34" charset="-120"/>
              </a:rPr>
              <a:t>十六個 AI 模組，每一個都可以單獨關掉。</a:t>
            </a:r>
            <a:endParaRPr lang="en-US" sz="3100" dirty="0"/>
          </a:p>
        </p:txBody>
      </p:sp>
      <p:sp>
        <p:nvSpPr>
          <p:cNvPr id="6" name="Shape 4"/>
          <p:cNvSpPr/>
          <p:nvPr/>
        </p:nvSpPr>
        <p:spPr>
          <a:xfrm>
            <a:off x="658368" y="1481328"/>
            <a:ext cx="2513000" cy="2286000"/>
          </a:xfrm>
          <a:prstGeom prst="roundRect">
            <a:avLst>
              <a:gd name="adj" fmla="val 1400"/>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7" name="Text 5"/>
          <p:cNvSpPr/>
          <p:nvPr/>
        </p:nvSpPr>
        <p:spPr>
          <a:xfrm>
            <a:off x="877824" y="1664208"/>
            <a:ext cx="466344" cy="237744"/>
          </a:xfrm>
          <a:prstGeom prst="roundRect">
            <a:avLst>
              <a:gd name="adj" fmla="val 11538"/>
            </a:avLst>
          </a:prstGeom>
          <a:solidFill>
            <a:srgbClr val="E3E9EF"/>
          </a:solidFill>
          <a:ln>
            <a:solidFill>
              <a:srgbClr val="E3E9EF"/>
            </a:solidFill>
          </a:ln>
        </p:spPr>
        <p:txBody>
          <a:bodyPr wrap="square" lIns="0" tIns="0" rIns="0" bIns="0" rtlCol="0" anchor="ctr"/>
          <a:lstStyle/>
          <a:p>
            <a:pPr algn="ctr" indent="0" marL="0">
              <a:buNone/>
            </a:pPr>
            <a:r>
              <a:rPr lang="en-US" sz="900" b="1" spc="60" kern="0" dirty="0">
                <a:solidFill>
                  <a:srgbClr val="7A8794"/>
                </a:solidFill>
                <a:latin typeface="Arial" pitchFamily="34" charset="0"/>
                <a:ea typeface="Microsoft JhengHei"/>
                <a:cs typeface="Microsoft JhengHei"/>
                <a:ea typeface="Arial" pitchFamily="34" charset="-122"/>
                <a:cs typeface="Arial" pitchFamily="34" charset="-120"/>
              </a:rPr>
              <a:t>對話</a:t>
            </a:r>
            <a:endParaRPr lang="en-US" sz="900" dirty="0"/>
          </a:p>
        </p:txBody>
      </p:sp>
      <p:sp>
        <p:nvSpPr>
          <p:cNvPr id="8" name="Text 6"/>
          <p:cNvSpPr/>
          <p:nvPr/>
        </p:nvSpPr>
        <p:spPr>
          <a:xfrm>
            <a:off x="859536" y="2066544"/>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9" name="Text 7"/>
          <p:cNvSpPr/>
          <p:nvPr/>
        </p:nvSpPr>
        <p:spPr>
          <a:xfrm>
            <a:off x="1078992" y="2066544"/>
            <a:ext cx="1891208" cy="265176"/>
          </a:xfrm>
          <a:prstGeom prst="rect">
            <a:avLst/>
          </a:prstGeom>
          <a:noFill/>
          <a:ln/>
        </p:spPr>
        <p:txBody>
          <a:bodyPr wrap="square" lIns="0" tIns="0" rIns="0" bIns="0" rtlCol="0" anchor="ctr"/>
          <a:lstStyle/>
          <a:p>
            <a:pPr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AI Agent 主控台</a:t>
            </a:r>
            <a:endParaRPr lang="en-US" sz="1050" dirty="0"/>
          </a:p>
        </p:txBody>
      </p:sp>
      <p:sp>
        <p:nvSpPr>
          <p:cNvPr id="10" name="Text 8"/>
          <p:cNvSpPr/>
          <p:nvPr/>
        </p:nvSpPr>
        <p:spPr>
          <a:xfrm>
            <a:off x="859536" y="2331720"/>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1" name="Text 9"/>
          <p:cNvSpPr/>
          <p:nvPr/>
        </p:nvSpPr>
        <p:spPr>
          <a:xfrm>
            <a:off x="1078992" y="2331720"/>
            <a:ext cx="1891208" cy="265176"/>
          </a:xfrm>
          <a:prstGeom prst="rect">
            <a:avLst/>
          </a:prstGeom>
          <a:noFill/>
          <a:ln/>
        </p:spPr>
        <p:txBody>
          <a:bodyPr wrap="square" lIns="0" tIns="0" rIns="0" bIns="0" rtlCol="0" anchor="ctr"/>
          <a:lstStyle/>
          <a:p>
            <a:pPr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AI 問答助理</a:t>
            </a:r>
            <a:endParaRPr lang="en-US" sz="1050" dirty="0"/>
          </a:p>
        </p:txBody>
      </p:sp>
      <p:sp>
        <p:nvSpPr>
          <p:cNvPr id="12" name="Shape 10"/>
          <p:cNvSpPr/>
          <p:nvPr/>
        </p:nvSpPr>
        <p:spPr>
          <a:xfrm>
            <a:off x="3445688" y="1481328"/>
            <a:ext cx="2513000" cy="2286000"/>
          </a:xfrm>
          <a:prstGeom prst="roundRect">
            <a:avLst>
              <a:gd name="adj" fmla="val 1400"/>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3" name="Text 11"/>
          <p:cNvSpPr/>
          <p:nvPr/>
        </p:nvSpPr>
        <p:spPr>
          <a:xfrm>
            <a:off x="3665144" y="1664208"/>
            <a:ext cx="580644" cy="237744"/>
          </a:xfrm>
          <a:prstGeom prst="roundRect">
            <a:avLst>
              <a:gd name="adj" fmla="val 11538"/>
            </a:avLst>
          </a:prstGeom>
          <a:solidFill>
            <a:srgbClr val="E3E9EF"/>
          </a:solidFill>
          <a:ln>
            <a:solidFill>
              <a:srgbClr val="E3E9EF"/>
            </a:solidFill>
          </a:ln>
        </p:spPr>
        <p:txBody>
          <a:bodyPr wrap="square" lIns="0" tIns="0" rIns="0" bIns="0" rtlCol="0" anchor="ctr"/>
          <a:lstStyle/>
          <a:p>
            <a:pPr algn="ctr" indent="0" marL="0">
              <a:buNone/>
            </a:pPr>
            <a:r>
              <a:rPr lang="en-US" sz="900" b="1" spc="60" kern="0" dirty="0">
                <a:solidFill>
                  <a:srgbClr val="7A8794"/>
                </a:solidFill>
                <a:latin typeface="Arial" pitchFamily="34" charset="0"/>
                <a:ea typeface="Microsoft JhengHei"/>
                <a:cs typeface="Microsoft JhengHei"/>
                <a:ea typeface="Arial" pitchFamily="34" charset="-122"/>
                <a:cs typeface="Arial" pitchFamily="34" charset="-120"/>
              </a:rPr>
              <a:t>讀文件</a:t>
            </a:r>
            <a:endParaRPr lang="en-US" sz="900" dirty="0"/>
          </a:p>
        </p:txBody>
      </p:sp>
      <p:sp>
        <p:nvSpPr>
          <p:cNvPr id="14" name="Text 12"/>
          <p:cNvSpPr/>
          <p:nvPr/>
        </p:nvSpPr>
        <p:spPr>
          <a:xfrm>
            <a:off x="3646856" y="2066544"/>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5" name="Text 13"/>
          <p:cNvSpPr/>
          <p:nvPr/>
        </p:nvSpPr>
        <p:spPr>
          <a:xfrm>
            <a:off x="3866312" y="2066544"/>
            <a:ext cx="1891208" cy="265176"/>
          </a:xfrm>
          <a:prstGeom prst="rect">
            <a:avLst/>
          </a:prstGeom>
          <a:noFill/>
          <a:ln/>
        </p:spPr>
        <p:txBody>
          <a:bodyPr wrap="square" lIns="0" tIns="0" rIns="0" bIns="0" rtlCol="0" anchor="ctr"/>
          <a:lstStyle/>
          <a:p>
            <a:pPr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契約解析（時程／罰則）</a:t>
            </a:r>
            <a:endParaRPr lang="en-US" sz="1050" dirty="0"/>
          </a:p>
        </p:txBody>
      </p:sp>
      <p:sp>
        <p:nvSpPr>
          <p:cNvPr id="16" name="Text 14"/>
          <p:cNvSpPr/>
          <p:nvPr/>
        </p:nvSpPr>
        <p:spPr>
          <a:xfrm>
            <a:off x="3646856" y="2331720"/>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7" name="Text 15"/>
          <p:cNvSpPr/>
          <p:nvPr/>
        </p:nvSpPr>
        <p:spPr>
          <a:xfrm>
            <a:off x="3866312" y="2331720"/>
            <a:ext cx="1891208" cy="265176"/>
          </a:xfrm>
          <a:prstGeom prst="rect">
            <a:avLst/>
          </a:prstGeom>
          <a:noFill/>
          <a:ln/>
        </p:spPr>
        <p:txBody>
          <a:bodyPr wrap="square" lIns="0" tIns="0" rIns="0" bIns="0" rtlCol="0" anchor="ctr"/>
          <a:lstStyle/>
          <a:p>
            <a:pPr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規範需求抽取</a:t>
            </a:r>
            <a:endParaRPr lang="en-US" sz="1050" dirty="0"/>
          </a:p>
        </p:txBody>
      </p:sp>
      <p:sp>
        <p:nvSpPr>
          <p:cNvPr id="18" name="Text 16"/>
          <p:cNvSpPr/>
          <p:nvPr/>
        </p:nvSpPr>
        <p:spPr>
          <a:xfrm>
            <a:off x="3646856" y="2596896"/>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9" name="Text 17"/>
          <p:cNvSpPr/>
          <p:nvPr/>
        </p:nvSpPr>
        <p:spPr>
          <a:xfrm>
            <a:off x="3866312" y="2596896"/>
            <a:ext cx="1891208" cy="265176"/>
          </a:xfrm>
          <a:prstGeom prst="rect">
            <a:avLst/>
          </a:prstGeom>
          <a:noFill/>
          <a:ln/>
        </p:spPr>
        <p:txBody>
          <a:bodyPr wrap="square" lIns="0" tIns="0" rIns="0" bIns="0" rtlCol="0" anchor="ctr"/>
          <a:lstStyle/>
          <a:p>
            <a:pPr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送審文件讀取</a:t>
            </a:r>
            <a:endParaRPr lang="en-US" sz="1050" dirty="0"/>
          </a:p>
        </p:txBody>
      </p:sp>
      <p:sp>
        <p:nvSpPr>
          <p:cNvPr id="20" name="Shape 18"/>
          <p:cNvSpPr/>
          <p:nvPr/>
        </p:nvSpPr>
        <p:spPr>
          <a:xfrm>
            <a:off x="6233008" y="1481328"/>
            <a:ext cx="2513000" cy="2286000"/>
          </a:xfrm>
          <a:prstGeom prst="roundRect">
            <a:avLst>
              <a:gd name="adj" fmla="val 1400"/>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21" name="Text 19"/>
          <p:cNvSpPr/>
          <p:nvPr/>
        </p:nvSpPr>
        <p:spPr>
          <a:xfrm>
            <a:off x="6452464" y="1664208"/>
            <a:ext cx="580644" cy="237744"/>
          </a:xfrm>
          <a:prstGeom prst="roundRect">
            <a:avLst>
              <a:gd name="adj" fmla="val 11538"/>
            </a:avLst>
          </a:prstGeom>
          <a:solidFill>
            <a:srgbClr val="E3E9EF"/>
          </a:solidFill>
          <a:ln>
            <a:solidFill>
              <a:srgbClr val="E3E9EF"/>
            </a:solidFill>
          </a:ln>
        </p:spPr>
        <p:txBody>
          <a:bodyPr wrap="square" lIns="0" tIns="0" rIns="0" bIns="0" rtlCol="0" anchor="ctr"/>
          <a:lstStyle/>
          <a:p>
            <a:pPr algn="ctr" indent="0" marL="0">
              <a:buNone/>
            </a:pPr>
            <a:r>
              <a:rPr lang="en-US" sz="900" b="1" spc="60" kern="0" dirty="0">
                <a:solidFill>
                  <a:srgbClr val="7A8794"/>
                </a:solidFill>
                <a:latin typeface="Arial" pitchFamily="34" charset="0"/>
                <a:ea typeface="Microsoft JhengHei"/>
                <a:cs typeface="Microsoft JhengHei"/>
                <a:ea typeface="Arial" pitchFamily="34" charset="-122"/>
                <a:cs typeface="Arial" pitchFamily="34" charset="-120"/>
              </a:rPr>
              <a:t>產草稿</a:t>
            </a:r>
            <a:endParaRPr lang="en-US" sz="900" dirty="0"/>
          </a:p>
        </p:txBody>
      </p:sp>
      <p:sp>
        <p:nvSpPr>
          <p:cNvPr id="22" name="Text 20"/>
          <p:cNvSpPr/>
          <p:nvPr/>
        </p:nvSpPr>
        <p:spPr>
          <a:xfrm>
            <a:off x="6434176" y="2066544"/>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23" name="Text 21"/>
          <p:cNvSpPr/>
          <p:nvPr/>
        </p:nvSpPr>
        <p:spPr>
          <a:xfrm>
            <a:off x="6653632" y="2066544"/>
            <a:ext cx="1891208" cy="265176"/>
          </a:xfrm>
          <a:prstGeom prst="rect">
            <a:avLst/>
          </a:prstGeom>
          <a:noFill/>
          <a:ln/>
        </p:spPr>
        <p:txBody>
          <a:bodyPr wrap="square" lIns="0" tIns="0" rIns="0" bIns="0" rtlCol="0" anchor="ctr"/>
          <a:lstStyle/>
          <a:p>
            <a:pPr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監造送審審查意見</a:t>
            </a:r>
            <a:endParaRPr lang="en-US" sz="1050" dirty="0"/>
          </a:p>
        </p:txBody>
      </p:sp>
      <p:sp>
        <p:nvSpPr>
          <p:cNvPr id="24" name="Text 22"/>
          <p:cNvSpPr/>
          <p:nvPr/>
        </p:nvSpPr>
        <p:spPr>
          <a:xfrm>
            <a:off x="6434176" y="2331720"/>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25" name="Text 23"/>
          <p:cNvSpPr/>
          <p:nvPr/>
        </p:nvSpPr>
        <p:spPr>
          <a:xfrm>
            <a:off x="6653632" y="2331720"/>
            <a:ext cx="1891208" cy="265176"/>
          </a:xfrm>
          <a:prstGeom prst="rect">
            <a:avLst/>
          </a:prstGeom>
          <a:noFill/>
          <a:ln/>
        </p:spPr>
        <p:txBody>
          <a:bodyPr wrap="square" lIns="0" tIns="0" rIns="0" bIns="0" rtlCol="0" anchor="ctr"/>
          <a:lstStyle/>
          <a:p>
            <a:pPr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RFI 回覆草稿</a:t>
            </a:r>
            <a:endParaRPr lang="en-US" sz="1050" dirty="0"/>
          </a:p>
        </p:txBody>
      </p:sp>
      <p:sp>
        <p:nvSpPr>
          <p:cNvPr id="26" name="Text 24"/>
          <p:cNvSpPr/>
          <p:nvPr/>
        </p:nvSpPr>
        <p:spPr>
          <a:xfrm>
            <a:off x="6434176" y="2596896"/>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27" name="Text 25"/>
          <p:cNvSpPr/>
          <p:nvPr/>
        </p:nvSpPr>
        <p:spPr>
          <a:xfrm>
            <a:off x="6653632" y="2596896"/>
            <a:ext cx="1891208" cy="265176"/>
          </a:xfrm>
          <a:prstGeom prst="rect">
            <a:avLst/>
          </a:prstGeom>
          <a:noFill/>
          <a:ln/>
        </p:spPr>
        <p:txBody>
          <a:bodyPr wrap="square" lIns="0" tIns="0" rIns="0" bIns="0" rtlCol="0" anchor="ctr"/>
          <a:lstStyle/>
          <a:p>
            <a:pPr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機關稽核意見草稿</a:t>
            </a:r>
            <a:endParaRPr lang="en-US" sz="1050" dirty="0"/>
          </a:p>
        </p:txBody>
      </p:sp>
      <p:sp>
        <p:nvSpPr>
          <p:cNvPr id="28" name="Text 26"/>
          <p:cNvSpPr/>
          <p:nvPr/>
        </p:nvSpPr>
        <p:spPr>
          <a:xfrm>
            <a:off x="6434176" y="2862072"/>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29" name="Text 27"/>
          <p:cNvSpPr/>
          <p:nvPr/>
        </p:nvSpPr>
        <p:spPr>
          <a:xfrm>
            <a:off x="6653632" y="2862072"/>
            <a:ext cx="1891208" cy="265176"/>
          </a:xfrm>
          <a:prstGeom prst="rect">
            <a:avLst/>
          </a:prstGeom>
          <a:noFill/>
          <a:ln/>
        </p:spPr>
        <p:txBody>
          <a:bodyPr wrap="square" lIns="0" tIns="0" rIns="0" bIns="0" rtlCol="0" anchor="ctr"/>
          <a:lstStyle/>
          <a:p>
            <a:pPr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施工月報草稿</a:t>
            </a:r>
            <a:endParaRPr lang="en-US" sz="1050" dirty="0"/>
          </a:p>
        </p:txBody>
      </p:sp>
      <p:sp>
        <p:nvSpPr>
          <p:cNvPr id="30" name="Text 28"/>
          <p:cNvSpPr/>
          <p:nvPr/>
        </p:nvSpPr>
        <p:spPr>
          <a:xfrm>
            <a:off x="6434176" y="3127248"/>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31" name="Text 29"/>
          <p:cNvSpPr/>
          <p:nvPr/>
        </p:nvSpPr>
        <p:spPr>
          <a:xfrm>
            <a:off x="6653632" y="3127248"/>
            <a:ext cx="1891208" cy="265176"/>
          </a:xfrm>
          <a:prstGeom prst="rect">
            <a:avLst/>
          </a:prstGeom>
          <a:noFill/>
          <a:ln/>
        </p:spPr>
        <p:txBody>
          <a:bodyPr wrap="square" lIns="0" tIns="0" rIns="0" bIns="0" rtlCol="0" anchor="ctr"/>
          <a:lstStyle/>
          <a:p>
            <a:pPr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估驗施工說明草稿</a:t>
            </a:r>
            <a:endParaRPr lang="en-US" sz="1050" dirty="0"/>
          </a:p>
        </p:txBody>
      </p:sp>
      <p:sp>
        <p:nvSpPr>
          <p:cNvPr id="32" name="Shape 30"/>
          <p:cNvSpPr/>
          <p:nvPr/>
        </p:nvSpPr>
        <p:spPr>
          <a:xfrm>
            <a:off x="9020327" y="1481328"/>
            <a:ext cx="2513000" cy="2286000"/>
          </a:xfrm>
          <a:prstGeom prst="roundRect">
            <a:avLst>
              <a:gd name="adj" fmla="val 1400"/>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33" name="Text 31"/>
          <p:cNvSpPr/>
          <p:nvPr/>
        </p:nvSpPr>
        <p:spPr>
          <a:xfrm>
            <a:off x="9239783" y="1664208"/>
            <a:ext cx="990981" cy="237744"/>
          </a:xfrm>
          <a:prstGeom prst="roundRect">
            <a:avLst>
              <a:gd name="adj" fmla="val 11538"/>
            </a:avLst>
          </a:prstGeom>
          <a:solidFill>
            <a:srgbClr val="E3E9EF"/>
          </a:solidFill>
          <a:ln>
            <a:solidFill>
              <a:srgbClr val="E3E9EF"/>
            </a:solidFill>
          </a:ln>
        </p:spPr>
        <p:txBody>
          <a:bodyPr wrap="square" lIns="0" tIns="0" rIns="0" bIns="0" rtlCol="0" anchor="ctr"/>
          <a:lstStyle/>
          <a:p>
            <a:pPr algn="ctr" indent="0" marL="0">
              <a:buNone/>
            </a:pPr>
            <a:r>
              <a:rPr lang="en-US" sz="900" b="1" spc="60" kern="0" dirty="0">
                <a:solidFill>
                  <a:srgbClr val="7A8794"/>
                </a:solidFill>
                <a:latin typeface="Arial" pitchFamily="34" charset="0"/>
                <a:ea typeface="Microsoft JhengHei"/>
                <a:cs typeface="Microsoft JhengHei"/>
                <a:ea typeface="Arial" pitchFamily="34" charset="-122"/>
                <a:cs typeface="Arial" pitchFamily="34" charset="-120"/>
              </a:rPr>
              <a:t>看照片 · 介接</a:t>
            </a:r>
            <a:endParaRPr lang="en-US" sz="900" dirty="0"/>
          </a:p>
        </p:txBody>
      </p:sp>
      <p:sp>
        <p:nvSpPr>
          <p:cNvPr id="34" name="Text 32"/>
          <p:cNvSpPr/>
          <p:nvPr/>
        </p:nvSpPr>
        <p:spPr>
          <a:xfrm>
            <a:off x="9221495" y="2066544"/>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35" name="Text 33"/>
          <p:cNvSpPr/>
          <p:nvPr/>
        </p:nvSpPr>
        <p:spPr>
          <a:xfrm>
            <a:off x="9440951" y="2066544"/>
            <a:ext cx="1891208" cy="265176"/>
          </a:xfrm>
          <a:prstGeom prst="rect">
            <a:avLst/>
          </a:prstGeom>
          <a:noFill/>
          <a:ln/>
        </p:spPr>
        <p:txBody>
          <a:bodyPr wrap="square" lIns="0" tIns="0" rIns="0" bIns="0" rtlCol="0" anchor="ctr"/>
          <a:lstStyle/>
          <a:p>
            <a:pPr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工程告示板辨識</a:t>
            </a:r>
            <a:endParaRPr lang="en-US" sz="1050" dirty="0"/>
          </a:p>
        </p:txBody>
      </p:sp>
      <p:sp>
        <p:nvSpPr>
          <p:cNvPr id="36" name="Text 34"/>
          <p:cNvSpPr/>
          <p:nvPr/>
        </p:nvSpPr>
        <p:spPr>
          <a:xfrm>
            <a:off x="9221495" y="2331720"/>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37" name="Text 35"/>
          <p:cNvSpPr/>
          <p:nvPr/>
        </p:nvSpPr>
        <p:spPr>
          <a:xfrm>
            <a:off x="9440951" y="2331720"/>
            <a:ext cx="1891208" cy="265176"/>
          </a:xfrm>
          <a:prstGeom prst="rect">
            <a:avLst/>
          </a:prstGeom>
          <a:noFill/>
          <a:ln/>
        </p:spPr>
        <p:txBody>
          <a:bodyPr wrap="square" lIns="0" tIns="0" rIns="0" bIns="0" rtlCol="0" anchor="ctr"/>
          <a:lstStyle/>
          <a:p>
            <a:pPr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缺失照片描述</a:t>
            </a:r>
            <a:endParaRPr lang="en-US" sz="1050" dirty="0"/>
          </a:p>
        </p:txBody>
      </p:sp>
      <p:sp>
        <p:nvSpPr>
          <p:cNvPr id="38" name="Text 36"/>
          <p:cNvSpPr/>
          <p:nvPr/>
        </p:nvSpPr>
        <p:spPr>
          <a:xfrm>
            <a:off x="9221495" y="2596896"/>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39" name="Text 37"/>
          <p:cNvSpPr/>
          <p:nvPr/>
        </p:nvSpPr>
        <p:spPr>
          <a:xfrm>
            <a:off x="9440951" y="2596896"/>
            <a:ext cx="1891208" cy="265176"/>
          </a:xfrm>
          <a:prstGeom prst="rect">
            <a:avLst/>
          </a:prstGeom>
          <a:noFill/>
          <a:ln/>
        </p:spPr>
        <p:txBody>
          <a:bodyPr wrap="square" lIns="0" tIns="0" rIns="0" bIns="0" rtlCol="0" anchor="ctr"/>
          <a:lstStyle/>
          <a:p>
            <a:pPr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施工照片分類</a:t>
            </a:r>
            <a:endParaRPr lang="en-US" sz="1050" dirty="0"/>
          </a:p>
        </p:txBody>
      </p:sp>
      <p:sp>
        <p:nvSpPr>
          <p:cNvPr id="40" name="Text 38"/>
          <p:cNvSpPr/>
          <p:nvPr/>
        </p:nvSpPr>
        <p:spPr>
          <a:xfrm>
            <a:off x="9221495" y="2862072"/>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41" name="Text 39"/>
          <p:cNvSpPr/>
          <p:nvPr/>
        </p:nvSpPr>
        <p:spPr>
          <a:xfrm>
            <a:off x="9440951" y="2862072"/>
            <a:ext cx="1891208" cy="265176"/>
          </a:xfrm>
          <a:prstGeom prst="rect">
            <a:avLst/>
          </a:prstGeom>
          <a:noFill/>
          <a:ln/>
        </p:spPr>
        <p:txBody>
          <a:bodyPr wrap="square" lIns="0" tIns="0" rIns="0" bIns="0" rtlCol="0" anchor="ctr"/>
          <a:lstStyle/>
          <a:p>
            <a:pPr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工安照片判讀</a:t>
            </a:r>
            <a:endParaRPr lang="en-US" sz="1050" dirty="0"/>
          </a:p>
        </p:txBody>
      </p:sp>
      <p:sp>
        <p:nvSpPr>
          <p:cNvPr id="42" name="Text 40"/>
          <p:cNvSpPr/>
          <p:nvPr/>
        </p:nvSpPr>
        <p:spPr>
          <a:xfrm>
            <a:off x="9221495" y="3127248"/>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43" name="Text 41"/>
          <p:cNvSpPr/>
          <p:nvPr/>
        </p:nvSpPr>
        <p:spPr>
          <a:xfrm>
            <a:off x="9440951" y="3127248"/>
            <a:ext cx="1891208" cy="265176"/>
          </a:xfrm>
          <a:prstGeom prst="rect">
            <a:avLst/>
          </a:prstGeom>
          <a:noFill/>
          <a:ln/>
        </p:spPr>
        <p:txBody>
          <a:bodyPr wrap="square" lIns="0" tIns="0" rIns="0" bIns="0" rtlCol="0" anchor="ctr"/>
          <a:lstStyle/>
          <a:p>
            <a:pPr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天氣帶入（中央氣象署）</a:t>
            </a:r>
            <a:endParaRPr lang="en-US" sz="1050" dirty="0"/>
          </a:p>
        </p:txBody>
      </p:sp>
      <p:sp>
        <p:nvSpPr>
          <p:cNvPr id="44" name="Text 42"/>
          <p:cNvSpPr/>
          <p:nvPr/>
        </p:nvSpPr>
        <p:spPr>
          <a:xfrm>
            <a:off x="9221495" y="3392424"/>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45" name="Text 43"/>
          <p:cNvSpPr/>
          <p:nvPr/>
        </p:nvSpPr>
        <p:spPr>
          <a:xfrm>
            <a:off x="9440951" y="3392424"/>
            <a:ext cx="1891208" cy="265176"/>
          </a:xfrm>
          <a:prstGeom prst="rect">
            <a:avLst/>
          </a:prstGeom>
          <a:noFill/>
          <a:ln/>
        </p:spPr>
        <p:txBody>
          <a:bodyPr wrap="square" lIns="0" tIns="0" rIns="0" bIns="0" rtlCol="0" anchor="ctr"/>
          <a:lstStyle/>
          <a:p>
            <a:pPr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每日 agent 早報</a:t>
            </a:r>
            <a:endParaRPr lang="en-US" sz="1050" dirty="0"/>
          </a:p>
        </p:txBody>
      </p:sp>
      <p:sp>
        <p:nvSpPr>
          <p:cNvPr id="46" name="Shape 44"/>
          <p:cNvSpPr/>
          <p:nvPr/>
        </p:nvSpPr>
        <p:spPr>
          <a:xfrm>
            <a:off x="658368" y="4041648"/>
            <a:ext cx="5245456" cy="1207008"/>
          </a:xfrm>
          <a:prstGeom prst="roundRect">
            <a:avLst>
              <a:gd name="adj" fmla="val 2652"/>
            </a:avLst>
          </a:prstGeom>
          <a:solidFill>
            <a:srgbClr val="E1F1E9"/>
          </a:solidFill>
          <a:ln w="12700">
            <a:solidFill>
              <a:srgbClr val="E1F1E9"/>
            </a:solidFill>
            <a:prstDash val="solid"/>
          </a:ln>
        </p:spPr>
      </p:sp>
      <p:sp>
        <p:nvSpPr>
          <p:cNvPr id="47" name="Text 45"/>
          <p:cNvSpPr/>
          <p:nvPr/>
        </p:nvSpPr>
        <p:spPr>
          <a:xfrm>
            <a:off x="877824" y="4206240"/>
            <a:ext cx="4806544" cy="274320"/>
          </a:xfrm>
          <a:prstGeom prst="rect">
            <a:avLst/>
          </a:prstGeom>
          <a:noFill/>
          <a:ln/>
        </p:spPr>
        <p:txBody>
          <a:bodyPr wrap="square" lIns="0" tIns="0" rIns="0" bIns="0" rtlCol="0" anchor="ctr"/>
          <a:lstStyle/>
          <a:p>
            <a:pPr indent="0" marL="0">
              <a:buNone/>
            </a:pPr>
            <a:r>
              <a:rPr lang="en-US" sz="1400" b="1" dirty="0">
                <a:solidFill>
                  <a:srgbClr val="1D2B39"/>
                </a:solidFill>
                <a:latin typeface="Arial" pitchFamily="34" charset="0"/>
                <a:ea typeface="Microsoft JhengHei"/>
                <a:cs typeface="Microsoft JhengHei"/>
                <a:ea typeface="Arial" pitchFamily="34" charset="-122"/>
                <a:cs typeface="Arial" pitchFamily="34" charset="-120"/>
              </a:rPr>
              <a:t>關掉之後，系統照常運作</a:t>
            </a:r>
            <a:endParaRPr lang="en-US" sz="1400" dirty="0"/>
          </a:p>
        </p:txBody>
      </p:sp>
      <p:sp>
        <p:nvSpPr>
          <p:cNvPr id="48" name="Text 46"/>
          <p:cNvSpPr/>
          <p:nvPr/>
        </p:nvSpPr>
        <p:spPr>
          <a:xfrm>
            <a:off x="877824" y="4553712"/>
            <a:ext cx="4806544" cy="548640"/>
          </a:xfrm>
          <a:prstGeom prst="rect">
            <a:avLst/>
          </a:prstGeom>
          <a:noFill/>
          <a:ln/>
        </p:spPr>
        <p:txBody>
          <a:bodyPr wrap="square" lIns="0" tIns="0" rIns="0" bIns="0" rtlCol="0" anchor="t"/>
          <a:lstStyle/>
          <a:p>
            <a:pPr indent="0" marL="0">
              <a:lnSpc>
                <a:spcPts val="1584"/>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關閉只是少了草稿，估驗、日誌、查驗、驗收全部照走。若貴校不接受把資料送到境外的模型，十六個模組可以整組關掉。</a:t>
            </a:r>
            <a:endParaRPr lang="en-US" sz="1100" dirty="0"/>
          </a:p>
        </p:txBody>
      </p:sp>
      <p:sp>
        <p:nvSpPr>
          <p:cNvPr id="49" name="Shape 47"/>
          <p:cNvSpPr/>
          <p:nvPr/>
        </p:nvSpPr>
        <p:spPr>
          <a:xfrm>
            <a:off x="6287872" y="4041648"/>
            <a:ext cx="5245456" cy="1207008"/>
          </a:xfrm>
          <a:prstGeom prst="roundRect">
            <a:avLst>
              <a:gd name="adj" fmla="val 2652"/>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50" name="Text 48"/>
          <p:cNvSpPr/>
          <p:nvPr/>
        </p:nvSpPr>
        <p:spPr>
          <a:xfrm>
            <a:off x="6507328" y="4206240"/>
            <a:ext cx="4806544" cy="274320"/>
          </a:xfrm>
          <a:prstGeom prst="rect">
            <a:avLst/>
          </a:prstGeom>
          <a:noFill/>
          <a:ln/>
        </p:spPr>
        <p:txBody>
          <a:bodyPr wrap="square" lIns="0" tIns="0" rIns="0" bIns="0" rtlCol="0" anchor="ctr"/>
          <a:lstStyle/>
          <a:p>
            <a:pPr indent="0" marL="0">
              <a:buNone/>
            </a:pPr>
            <a:r>
              <a:rPr lang="en-US" sz="1400" b="1" dirty="0">
                <a:solidFill>
                  <a:srgbClr val="1D2B39"/>
                </a:solidFill>
                <a:latin typeface="Arial" pitchFamily="34" charset="0"/>
                <a:ea typeface="Microsoft JhengHei"/>
                <a:cs typeface="Microsoft JhengHei"/>
                <a:ea typeface="Arial" pitchFamily="34" charset="-122"/>
                <a:cs typeface="Arial" pitchFamily="34" charset="-120"/>
              </a:rPr>
              <a:t>每一次呼叫都計量</a:t>
            </a:r>
            <a:endParaRPr lang="en-US" sz="1400" dirty="0"/>
          </a:p>
        </p:txBody>
      </p:sp>
      <p:sp>
        <p:nvSpPr>
          <p:cNvPr id="51" name="Text 49"/>
          <p:cNvSpPr/>
          <p:nvPr/>
        </p:nvSpPr>
        <p:spPr>
          <a:xfrm>
            <a:off x="6507328" y="4553712"/>
            <a:ext cx="4806544" cy="548640"/>
          </a:xfrm>
          <a:prstGeom prst="rect">
            <a:avLst/>
          </a:prstGeom>
          <a:noFill/>
          <a:ln/>
        </p:spPr>
        <p:txBody>
          <a:bodyPr wrap="square" lIns="0" tIns="0" rIns="0" bIns="0" rtlCol="0" anchor="t"/>
          <a:lstStyle/>
          <a:p>
            <a:pPr indent="0" marL="0">
              <a:lnSpc>
                <a:spcPts val="1584"/>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功能、使用者、專案、耗用量與成本逐次入庫，機關看得到自己用了多少、花了多少——這也是後續編列預算的依據。</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壹 · 產品</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09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C05209"/>
                </a:solidFill>
                <a:latin typeface="Arial" pitchFamily="34" charset="0"/>
                <a:ea typeface="Microsoft JhengHei"/>
                <a:cs typeface="Microsoft JhengHei"/>
                <a:ea typeface="Arial" pitchFamily="34" charset="-122"/>
                <a:cs typeface="Arial" pitchFamily="34" charset="-120"/>
              </a:rPr>
              <a:t>工程狀態</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3100" b="1" dirty="0">
                <a:solidFill>
                  <a:srgbClr val="1D2B39"/>
                </a:solidFill>
                <a:latin typeface="Arial" pitchFamily="34" charset="0"/>
                <a:ea typeface="Microsoft JhengHei"/>
                <a:cs typeface="Microsoft JhengHei"/>
                <a:ea typeface="Arial" pitchFamily="34" charset="-122"/>
                <a:cs typeface="Arial" pitchFamily="34" charset="-120"/>
              </a:rPr>
              <a:t>不是原型，是可以放真案的系統。</a:t>
            </a:r>
            <a:endParaRPr lang="en-US" sz="3100" dirty="0"/>
          </a:p>
        </p:txBody>
      </p:sp>
      <p:sp>
        <p:nvSpPr>
          <p:cNvPr id="6" name="Text 4"/>
          <p:cNvSpPr/>
          <p:nvPr/>
        </p:nvSpPr>
        <p:spPr>
          <a:xfrm>
            <a:off x="658368" y="1682496"/>
            <a:ext cx="2718740" cy="640080"/>
          </a:xfrm>
          <a:prstGeom prst="rect">
            <a:avLst/>
          </a:prstGeom>
          <a:noFill/>
          <a:ln/>
        </p:spPr>
        <p:txBody>
          <a:bodyPr wrap="square" lIns="0" tIns="0" rIns="0" bIns="0" rtlCol="0" anchor="b"/>
          <a:lstStyle/>
          <a:p>
            <a:pPr indent="0" marL="0">
              <a:buNone/>
            </a:pPr>
            <a:r>
              <a:rPr lang="en-US" sz="4400" b="1" dirty="0">
                <a:solidFill>
                  <a:srgbClr val="1D2B39"/>
                </a:solidFill>
                <a:latin typeface="Arial" pitchFamily="34" charset="0"/>
                <a:ea typeface="Microsoft JhengHei"/>
                <a:cs typeface="Microsoft JhengHei"/>
                <a:ea typeface="Arial" pitchFamily="34" charset="-122"/>
                <a:cs typeface="Arial" pitchFamily="34" charset="-120"/>
              </a:rPr>
              <a:t>36</a:t>
            </a:r>
            <a:endParaRPr lang="en-US" sz="4400" dirty="0"/>
          </a:p>
        </p:txBody>
      </p:sp>
      <p:sp>
        <p:nvSpPr>
          <p:cNvPr id="7" name="Text 5"/>
          <p:cNvSpPr/>
          <p:nvPr/>
        </p:nvSpPr>
        <p:spPr>
          <a:xfrm>
            <a:off x="658368" y="2340864"/>
            <a:ext cx="2718740" cy="237744"/>
          </a:xfrm>
          <a:prstGeom prst="rect">
            <a:avLst/>
          </a:prstGeom>
          <a:noFill/>
          <a:ln/>
        </p:spPr>
        <p:txBody>
          <a:bodyPr wrap="square" lIns="0" tIns="0" rIns="0" bIns="0" rtlCol="0" anchor="ctr"/>
          <a:lstStyle/>
          <a:p>
            <a:pPr indent="0" marL="0">
              <a:buNone/>
            </a:pPr>
            <a:r>
              <a:rPr lang="en-US" sz="950" b="1" spc="160" kern="0" dirty="0">
                <a:solidFill>
                  <a:srgbClr val="7A8794"/>
                </a:solidFill>
                <a:latin typeface="Arial" pitchFamily="34" charset="0"/>
                <a:ea typeface="Microsoft JhengHei"/>
                <a:cs typeface="Microsoft JhengHei"/>
                <a:ea typeface="Arial" pitchFamily="34" charset="-122"/>
                <a:cs typeface="Arial" pitchFamily="34" charset="-120"/>
              </a:rPr>
              <a:t>功能頁面</a:t>
            </a:r>
            <a:endParaRPr lang="en-US" sz="950" dirty="0"/>
          </a:p>
        </p:txBody>
      </p:sp>
      <p:sp>
        <p:nvSpPr>
          <p:cNvPr id="8" name="Text 6"/>
          <p:cNvSpPr/>
          <p:nvPr/>
        </p:nvSpPr>
        <p:spPr>
          <a:xfrm>
            <a:off x="3377108" y="1682496"/>
            <a:ext cx="2718740" cy="640080"/>
          </a:xfrm>
          <a:prstGeom prst="rect">
            <a:avLst/>
          </a:prstGeom>
          <a:noFill/>
          <a:ln/>
        </p:spPr>
        <p:txBody>
          <a:bodyPr wrap="square" lIns="0" tIns="0" rIns="0" bIns="0" rtlCol="0" anchor="b"/>
          <a:lstStyle/>
          <a:p>
            <a:pPr indent="0" marL="0">
              <a:buNone/>
            </a:pPr>
            <a:r>
              <a:rPr lang="en-US" sz="4400" b="1" dirty="0">
                <a:solidFill>
                  <a:srgbClr val="1D2B39"/>
                </a:solidFill>
                <a:latin typeface="Arial" pitchFamily="34" charset="0"/>
                <a:ea typeface="Microsoft JhengHei"/>
                <a:cs typeface="Microsoft JhengHei"/>
                <a:ea typeface="Arial" pitchFamily="34" charset="-122"/>
                <a:cs typeface="Arial" pitchFamily="34" charset="-120"/>
              </a:rPr>
              <a:t>16</a:t>
            </a:r>
            <a:endParaRPr lang="en-US" sz="4400" dirty="0"/>
          </a:p>
        </p:txBody>
      </p:sp>
      <p:sp>
        <p:nvSpPr>
          <p:cNvPr id="9" name="Text 7"/>
          <p:cNvSpPr/>
          <p:nvPr/>
        </p:nvSpPr>
        <p:spPr>
          <a:xfrm>
            <a:off x="3377108" y="2340864"/>
            <a:ext cx="2718740" cy="237744"/>
          </a:xfrm>
          <a:prstGeom prst="rect">
            <a:avLst/>
          </a:prstGeom>
          <a:noFill/>
          <a:ln/>
        </p:spPr>
        <p:txBody>
          <a:bodyPr wrap="square" lIns="0" tIns="0" rIns="0" bIns="0" rtlCol="0" anchor="ctr"/>
          <a:lstStyle/>
          <a:p>
            <a:pPr indent="0" marL="0">
              <a:buNone/>
            </a:pPr>
            <a:r>
              <a:rPr lang="en-US" sz="950" b="1" spc="160" kern="0" dirty="0">
                <a:solidFill>
                  <a:srgbClr val="7A8794"/>
                </a:solidFill>
                <a:latin typeface="Arial" pitchFamily="34" charset="0"/>
                <a:ea typeface="Microsoft JhengHei"/>
                <a:cs typeface="Microsoft JhengHei"/>
                <a:ea typeface="Arial" pitchFamily="34" charset="-122"/>
                <a:cs typeface="Arial" pitchFamily="34" charset="-120"/>
              </a:rPr>
              <a:t>AI 模組</a:t>
            </a:r>
            <a:endParaRPr lang="en-US" sz="950" dirty="0"/>
          </a:p>
        </p:txBody>
      </p:sp>
      <p:sp>
        <p:nvSpPr>
          <p:cNvPr id="10" name="Text 8"/>
          <p:cNvSpPr/>
          <p:nvPr/>
        </p:nvSpPr>
        <p:spPr>
          <a:xfrm>
            <a:off x="6095848" y="1682496"/>
            <a:ext cx="2718740" cy="640080"/>
          </a:xfrm>
          <a:prstGeom prst="rect">
            <a:avLst/>
          </a:prstGeom>
          <a:noFill/>
          <a:ln/>
        </p:spPr>
        <p:txBody>
          <a:bodyPr wrap="square" lIns="0" tIns="0" rIns="0" bIns="0" rtlCol="0" anchor="b"/>
          <a:lstStyle/>
          <a:p>
            <a:pPr indent="0" marL="0">
              <a:buNone/>
            </a:pPr>
            <a:r>
              <a:rPr lang="en-US" sz="4400" b="1" dirty="0">
                <a:solidFill>
                  <a:srgbClr val="1E5A85"/>
                </a:solidFill>
                <a:latin typeface="Arial" pitchFamily="34" charset="0"/>
                <a:ea typeface="Microsoft JhengHei"/>
                <a:cs typeface="Microsoft JhengHei"/>
                <a:ea typeface="Arial" pitchFamily="34" charset="-122"/>
                <a:cs typeface="Arial" pitchFamily="34" charset="-120"/>
              </a:rPr>
              <a:t>503</a:t>
            </a:r>
            <a:endParaRPr lang="en-US" sz="4400" dirty="0"/>
          </a:p>
        </p:txBody>
      </p:sp>
      <p:sp>
        <p:nvSpPr>
          <p:cNvPr id="11" name="Text 9"/>
          <p:cNvSpPr/>
          <p:nvPr/>
        </p:nvSpPr>
        <p:spPr>
          <a:xfrm>
            <a:off x="6095848" y="2340864"/>
            <a:ext cx="2718740" cy="237744"/>
          </a:xfrm>
          <a:prstGeom prst="rect">
            <a:avLst/>
          </a:prstGeom>
          <a:noFill/>
          <a:ln/>
        </p:spPr>
        <p:txBody>
          <a:bodyPr wrap="square" lIns="0" tIns="0" rIns="0" bIns="0" rtlCol="0" anchor="ctr"/>
          <a:lstStyle/>
          <a:p>
            <a:pPr indent="0" marL="0">
              <a:buNone/>
            </a:pPr>
            <a:r>
              <a:rPr lang="en-US" sz="950" b="1" spc="160" kern="0" dirty="0">
                <a:solidFill>
                  <a:srgbClr val="7A8794"/>
                </a:solidFill>
                <a:latin typeface="Arial" pitchFamily="34" charset="0"/>
                <a:ea typeface="Microsoft JhengHei"/>
                <a:cs typeface="Microsoft JhengHei"/>
                <a:ea typeface="Arial" pitchFamily="34" charset="-122"/>
                <a:cs typeface="Arial" pitchFamily="34" charset="-120"/>
              </a:rPr>
              <a:t>計算引擎單元測試</a:t>
            </a:r>
            <a:endParaRPr lang="en-US" sz="950" dirty="0"/>
          </a:p>
        </p:txBody>
      </p:sp>
      <p:sp>
        <p:nvSpPr>
          <p:cNvPr id="12" name="Text 10"/>
          <p:cNvSpPr/>
          <p:nvPr/>
        </p:nvSpPr>
        <p:spPr>
          <a:xfrm>
            <a:off x="8814587" y="1682496"/>
            <a:ext cx="2718740" cy="640080"/>
          </a:xfrm>
          <a:prstGeom prst="rect">
            <a:avLst/>
          </a:prstGeom>
          <a:noFill/>
          <a:ln/>
        </p:spPr>
        <p:txBody>
          <a:bodyPr wrap="square" lIns="0" tIns="0" rIns="0" bIns="0" rtlCol="0" anchor="b"/>
          <a:lstStyle/>
          <a:p>
            <a:pPr indent="0" marL="0">
              <a:buNone/>
            </a:pPr>
            <a:r>
              <a:rPr lang="en-US" sz="4400" b="1" dirty="0">
                <a:solidFill>
                  <a:srgbClr val="1D2B39"/>
                </a:solidFill>
                <a:latin typeface="Arial" pitchFamily="34" charset="0"/>
                <a:ea typeface="Microsoft JhengHei"/>
                <a:cs typeface="Microsoft JhengHei"/>
                <a:ea typeface="Arial" pitchFamily="34" charset="-122"/>
                <a:cs typeface="Arial" pitchFamily="34" charset="-120"/>
              </a:rPr>
              <a:t>20</a:t>
            </a:r>
            <a:endParaRPr lang="en-US" sz="4400" dirty="0"/>
          </a:p>
        </p:txBody>
      </p:sp>
      <p:sp>
        <p:nvSpPr>
          <p:cNvPr id="13" name="Text 11"/>
          <p:cNvSpPr/>
          <p:nvPr/>
        </p:nvSpPr>
        <p:spPr>
          <a:xfrm>
            <a:off x="8814587" y="2340864"/>
            <a:ext cx="2718740" cy="237744"/>
          </a:xfrm>
          <a:prstGeom prst="rect">
            <a:avLst/>
          </a:prstGeom>
          <a:noFill/>
          <a:ln/>
        </p:spPr>
        <p:txBody>
          <a:bodyPr wrap="square" lIns="0" tIns="0" rIns="0" bIns="0" rtlCol="0" anchor="ctr"/>
          <a:lstStyle/>
          <a:p>
            <a:pPr indent="0" marL="0">
              <a:buNone/>
            </a:pPr>
            <a:r>
              <a:rPr lang="en-US" sz="950" b="1" spc="160" kern="0" dirty="0">
                <a:solidFill>
                  <a:srgbClr val="7A8794"/>
                </a:solidFill>
                <a:latin typeface="Arial" pitchFamily="34" charset="0"/>
                <a:ea typeface="Microsoft JhengHei"/>
                <a:cs typeface="Microsoft JhengHei"/>
                <a:ea typeface="Arial" pitchFamily="34" charset="-122"/>
                <a:cs typeface="Arial" pitchFamily="34" charset="-120"/>
              </a:rPr>
              <a:t>套資料庫權限測試</a:t>
            </a:r>
            <a:endParaRPr lang="en-US" sz="950" dirty="0"/>
          </a:p>
        </p:txBody>
      </p:sp>
      <p:sp>
        <p:nvSpPr>
          <p:cNvPr id="14" name="Shape 12"/>
          <p:cNvSpPr/>
          <p:nvPr/>
        </p:nvSpPr>
        <p:spPr>
          <a:xfrm>
            <a:off x="658368" y="2898648"/>
            <a:ext cx="5245456" cy="1920240"/>
          </a:xfrm>
          <a:prstGeom prst="roundRect">
            <a:avLst>
              <a:gd name="adj" fmla="val 1667"/>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5" name="Text 13"/>
          <p:cNvSpPr/>
          <p:nvPr/>
        </p:nvSpPr>
        <p:spPr>
          <a:xfrm>
            <a:off x="877824" y="3063240"/>
            <a:ext cx="4806544"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權限不在前端</a:t>
            </a:r>
            <a:endParaRPr lang="en-US" sz="1500" dirty="0"/>
          </a:p>
        </p:txBody>
      </p:sp>
      <p:sp>
        <p:nvSpPr>
          <p:cNvPr id="16" name="Text 14"/>
          <p:cNvSpPr/>
          <p:nvPr/>
        </p:nvSpPr>
        <p:spPr>
          <a:xfrm>
            <a:off x="877824" y="3410712"/>
            <a:ext cx="4806544" cy="1261872"/>
          </a:xfrm>
          <a:prstGeom prst="rect">
            <a:avLst/>
          </a:prstGeom>
          <a:noFill/>
          <a:ln/>
        </p:spPr>
        <p:txBody>
          <a:bodyPr wrap="square" lIns="0" tIns="0" rIns="0" bIns="0" rtlCol="0" anchor="t"/>
          <a:lstStyle/>
          <a:p>
            <a:pPr indent="0" marL="0">
              <a:lnSpc>
                <a:spcPts val="1656"/>
              </a:lnSpc>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誰能看、誰能寫、誰能改狀態，全部在資料庫層以資料列權限（RLS）與狀態轉移規則實作，逐角色逐表自動化實測（20 套、六百餘項）。</a:t>
            </a:r>
            <a:endParaRPr lang="en-US" sz="1150" dirty="0"/>
          </a:p>
          <a:p>
            <a:pPr indent="0" marL="0">
              <a:lnSpc>
                <a:spcPts val="1656"/>
              </a:lnSpc>
              <a:buNone/>
            </a:pPr>
            <a:endParaRPr lang="en-US" sz="1150" dirty="0"/>
          </a:p>
          <a:p>
            <a:pPr indent="0" marL="0">
              <a:lnSpc>
                <a:spcPts val="1656"/>
              </a:lnSpc>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把前端按鈕藏起來不算安全——這也是工程會一覽表「帳號控管措施」那一列的實質內容。</a:t>
            </a:r>
            <a:endParaRPr lang="en-US" sz="1150" dirty="0"/>
          </a:p>
        </p:txBody>
      </p:sp>
      <p:sp>
        <p:nvSpPr>
          <p:cNvPr id="17" name="Shape 15"/>
          <p:cNvSpPr/>
          <p:nvPr/>
        </p:nvSpPr>
        <p:spPr>
          <a:xfrm>
            <a:off x="6287872" y="2898648"/>
            <a:ext cx="5245456" cy="1920240"/>
          </a:xfrm>
          <a:prstGeom prst="roundRect">
            <a:avLst>
              <a:gd name="adj" fmla="val 1667"/>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8" name="Text 16"/>
          <p:cNvSpPr/>
          <p:nvPr/>
        </p:nvSpPr>
        <p:spPr>
          <a:xfrm>
            <a:off x="6507328" y="3063240"/>
            <a:ext cx="4806544"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數字由確定性引擎算</a:t>
            </a:r>
            <a:endParaRPr lang="en-US" sz="1500" dirty="0"/>
          </a:p>
        </p:txBody>
      </p:sp>
      <p:sp>
        <p:nvSpPr>
          <p:cNvPr id="19" name="Text 17"/>
          <p:cNvSpPr/>
          <p:nvPr/>
        </p:nvSpPr>
        <p:spPr>
          <a:xfrm>
            <a:off x="6507328" y="3410712"/>
            <a:ext cx="4806544" cy="1261872"/>
          </a:xfrm>
          <a:prstGeom prst="rect">
            <a:avLst/>
          </a:prstGeom>
          <a:noFill/>
          <a:ln/>
        </p:spPr>
        <p:txBody>
          <a:bodyPr wrap="square" lIns="0" tIns="0" rIns="0" bIns="0" rtlCol="0" anchor="t"/>
          <a:lstStyle/>
          <a:p>
            <a:pPr indent="0" marL="0">
              <a:lnSpc>
                <a:spcPts val="1656"/>
              </a:lnSpc>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金額、數量、期限、逾期違約金由程式計算，503 項單元測試釘住。</a:t>
            </a:r>
            <a:endParaRPr lang="en-US" sz="1150" dirty="0"/>
          </a:p>
          <a:p>
            <a:pPr indent="0" marL="0">
              <a:lnSpc>
                <a:spcPts val="1656"/>
              </a:lnSpc>
              <a:buNone/>
            </a:pPr>
            <a:endParaRPr lang="en-US" sz="1150" dirty="0"/>
          </a:p>
          <a:p>
            <a:pPr indent="0" marL="0">
              <a:lnSpc>
                <a:spcPts val="1656"/>
              </a:lnSpc>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AI 只能複述引擎回傳的數字，不准自己乘除，也不准自己編法規條號。</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54C74"/>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A9C8DE"/>
                </a:solidFill>
                <a:latin typeface="Arial" pitchFamily="34" charset="0"/>
                <a:ea typeface="Microsoft JhengHei"/>
                <a:cs typeface="Microsoft JhengHei"/>
                <a:ea typeface="Arial" pitchFamily="34" charset="-122"/>
                <a:cs typeface="Arial" pitchFamily="34" charset="-120"/>
              </a:rPr>
              <a:t>貳 · 資安</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A9C8DE"/>
                </a:solidFill>
                <a:latin typeface="Arial" pitchFamily="34" charset="0"/>
                <a:ea typeface="Microsoft JhengHei"/>
                <a:cs typeface="Microsoft JhengHei"/>
                <a:ea typeface="Arial" pitchFamily="34" charset="-122"/>
                <a:cs typeface="Arial" pitchFamily="34" charset="-120"/>
              </a:rPr>
              <a:t>10 / 25</a:t>
            </a:r>
            <a:endParaRPr lang="en-US" sz="900" dirty="0"/>
          </a:p>
        </p:txBody>
      </p:sp>
      <p:sp>
        <p:nvSpPr>
          <p:cNvPr id="4" name="Text 2"/>
          <p:cNvSpPr/>
          <p:nvPr/>
        </p:nvSpPr>
        <p:spPr>
          <a:xfrm>
            <a:off x="658368" y="2103120"/>
            <a:ext cx="1828800" cy="914400"/>
          </a:xfrm>
          <a:prstGeom prst="rect">
            <a:avLst/>
          </a:prstGeom>
          <a:noFill/>
          <a:ln/>
        </p:spPr>
        <p:txBody>
          <a:bodyPr wrap="square" lIns="0" tIns="0" rIns="0" bIns="0" rtlCol="0" anchor="ctr"/>
          <a:lstStyle/>
          <a:p>
            <a:pPr indent="0" marL="0">
              <a:buNone/>
            </a:pPr>
            <a:r>
              <a:rPr lang="en-US" sz="6200" b="1" dirty="0">
                <a:solidFill>
                  <a:srgbClr val="E8630C"/>
                </a:solidFill>
                <a:latin typeface="Arial" pitchFamily="34" charset="0"/>
                <a:ea typeface="Microsoft JhengHei"/>
                <a:cs typeface="Microsoft JhengHei"/>
                <a:ea typeface="Arial" pitchFamily="34" charset="-122"/>
                <a:cs typeface="Arial" pitchFamily="34" charset="-120"/>
              </a:rPr>
              <a:t>貳</a:t>
            </a:r>
            <a:endParaRPr lang="en-US" sz="6200" dirty="0"/>
          </a:p>
        </p:txBody>
      </p:sp>
      <p:sp>
        <p:nvSpPr>
          <p:cNvPr id="5" name="Text 3"/>
          <p:cNvSpPr/>
          <p:nvPr/>
        </p:nvSpPr>
        <p:spPr>
          <a:xfrm>
            <a:off x="658368" y="3127248"/>
            <a:ext cx="5981228" cy="73152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Microsoft JhengHei"/>
                <a:cs typeface="Microsoft JhengHei"/>
                <a:ea typeface="Arial" pitchFamily="34" charset="-122"/>
                <a:cs typeface="Arial" pitchFamily="34" charset="-120"/>
              </a:rPr>
              <a:t>資安怎麼過。</a:t>
            </a:r>
            <a:endParaRPr lang="en-US" sz="3600" dirty="0"/>
          </a:p>
        </p:txBody>
      </p:sp>
      <p:sp>
        <p:nvSpPr>
          <p:cNvPr id="6" name="Text 4"/>
          <p:cNvSpPr/>
          <p:nvPr/>
        </p:nvSpPr>
        <p:spPr>
          <a:xfrm>
            <a:off x="658368" y="3913632"/>
            <a:ext cx="5437480" cy="548640"/>
          </a:xfrm>
          <a:prstGeom prst="rect">
            <a:avLst/>
          </a:prstGeom>
          <a:noFill/>
          <a:ln/>
        </p:spPr>
        <p:txBody>
          <a:bodyPr wrap="square" lIns="0" tIns="0" rIns="0" bIns="0" rtlCol="0" anchor="t"/>
          <a:lstStyle/>
          <a:p>
            <a:pPr indent="0" marL="0">
              <a:lnSpc>
                <a:spcPts val="2200"/>
              </a:lnSpc>
              <a:buNone/>
            </a:pPr>
            <a:r>
              <a:rPr lang="en-US" sz="1450" dirty="0">
                <a:solidFill>
                  <a:srgbClr val="A9C8DE"/>
                </a:solidFill>
                <a:latin typeface="Arial" pitchFamily="34" charset="0"/>
                <a:ea typeface="Microsoft JhengHei"/>
                <a:cs typeface="Microsoft JhengHei"/>
                <a:ea typeface="Arial" pitchFamily="34" charset="-122"/>
                <a:cs typeface="Arial" pitchFamily="34" charset="-120"/>
              </a:rPr>
              <a:t>普級 11 項要求、High 0、日誌六個月。</a:t>
            </a:r>
            <a:endParaRPr lang="en-US" sz="1450" dirty="0"/>
          </a:p>
          <a:p>
            <a:pPr indent="0" marL="0">
              <a:lnSpc>
                <a:spcPts val="2200"/>
              </a:lnSpc>
              <a:buNone/>
            </a:pPr>
            <a:r>
              <a:rPr lang="en-US" sz="1450" dirty="0">
                <a:solidFill>
                  <a:srgbClr val="A9C8DE"/>
                </a:solidFill>
                <a:latin typeface="Arial" pitchFamily="34" charset="0"/>
                <a:ea typeface="Microsoft JhengHei"/>
                <a:cs typeface="Microsoft JhengHei"/>
                <a:ea typeface="Arial" pitchFamily="34" charset="-122"/>
                <a:cs typeface="Arial" pitchFamily="34" charset="-120"/>
              </a:rPr>
              <a:t>記住這三個數字就夠了。</a:t>
            </a:r>
            <a:endParaRPr lang="en-US" sz="1450" dirty="0"/>
          </a:p>
        </p:txBody>
      </p:sp>
      <p:sp>
        <p:nvSpPr>
          <p:cNvPr id="7" name="Text 5"/>
          <p:cNvSpPr/>
          <p:nvPr/>
        </p:nvSpPr>
        <p:spPr>
          <a:xfrm>
            <a:off x="7400843" y="2331720"/>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8" name="Text 6"/>
          <p:cNvSpPr/>
          <p:nvPr/>
        </p:nvSpPr>
        <p:spPr>
          <a:xfrm>
            <a:off x="7620299" y="2331720"/>
            <a:ext cx="3913028"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歸類決定工作量</a:t>
            </a:r>
            <a:endParaRPr lang="en-US" sz="1250" dirty="0"/>
          </a:p>
        </p:txBody>
      </p:sp>
      <p:sp>
        <p:nvSpPr>
          <p:cNvPr id="9" name="Text 7"/>
          <p:cNvSpPr/>
          <p:nvPr/>
        </p:nvSpPr>
        <p:spPr>
          <a:xfrm>
            <a:off x="7400843" y="2624328"/>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0" name="Text 8"/>
          <p:cNvSpPr/>
          <p:nvPr/>
        </p:nvSpPr>
        <p:spPr>
          <a:xfrm>
            <a:off x="7620299" y="2624328"/>
            <a:ext cx="3913028"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普級 11 列逐項回覆</a:t>
            </a:r>
            <a:endParaRPr lang="en-US" sz="1250" dirty="0"/>
          </a:p>
        </p:txBody>
      </p:sp>
      <p:sp>
        <p:nvSpPr>
          <p:cNvPr id="11" name="Text 9"/>
          <p:cNvSpPr/>
          <p:nvPr/>
        </p:nvSpPr>
        <p:spPr>
          <a:xfrm>
            <a:off x="7400843" y="2916936"/>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2" name="Text 10"/>
          <p:cNvSpPr/>
          <p:nvPr/>
        </p:nvSpPr>
        <p:spPr>
          <a:xfrm>
            <a:off x="7620299" y="2916936"/>
            <a:ext cx="3913028"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境外資料：經同意即可</a:t>
            </a:r>
            <a:endParaRPr lang="en-US" sz="1250" dirty="0"/>
          </a:p>
        </p:txBody>
      </p:sp>
      <p:sp>
        <p:nvSpPr>
          <p:cNvPr id="13" name="Text 11"/>
          <p:cNvSpPr/>
          <p:nvPr/>
        </p:nvSpPr>
        <p:spPr>
          <a:xfrm>
            <a:off x="7400843" y="3209544"/>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4" name="Text 12"/>
          <p:cNvSpPr/>
          <p:nvPr/>
        </p:nvSpPr>
        <p:spPr>
          <a:xfrm>
            <a:off x="7620299" y="3209544"/>
            <a:ext cx="3913028"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ISO 與第三方檢測的門檻</a:t>
            </a:r>
            <a:endParaRPr lang="en-US" sz="1250" dirty="0"/>
          </a:p>
        </p:txBody>
      </p:sp>
      <p:sp>
        <p:nvSpPr>
          <p:cNvPr id="15" name="Text 13"/>
          <p:cNvSpPr/>
          <p:nvPr/>
        </p:nvSpPr>
        <p:spPr>
          <a:xfrm>
            <a:off x="7400843" y="3502152"/>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6" name="Text 14"/>
          <p:cNvSpPr/>
          <p:nvPr/>
        </p:nvSpPr>
        <p:spPr>
          <a:xfrm>
            <a:off x="7620299" y="3502152"/>
            <a:ext cx="3913028"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弱點掃描與日誌</a:t>
            </a:r>
            <a:endParaRPr lang="en-US" sz="1250" dirty="0"/>
          </a:p>
        </p:txBody>
      </p:sp>
      <p:sp>
        <p:nvSpPr>
          <p:cNvPr id="17" name="Text 15"/>
          <p:cNvSpPr/>
          <p:nvPr/>
        </p:nvSpPr>
        <p:spPr>
          <a:xfrm>
            <a:off x="7400843" y="3794760"/>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8" name="Text 16"/>
          <p:cNvSpPr/>
          <p:nvPr/>
        </p:nvSpPr>
        <p:spPr>
          <a:xfrm>
            <a:off x="7620299" y="3794760"/>
            <a:ext cx="3913028"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AI 的三條紅線</a:t>
            </a:r>
            <a:endParaRPr lang="en-US" sz="1250" dirty="0"/>
          </a:p>
        </p:txBody>
      </p:sp>
      <p:sp>
        <p:nvSpPr>
          <p:cNvPr id="19" name="Text 17"/>
          <p:cNvSpPr/>
          <p:nvPr/>
        </p:nvSpPr>
        <p:spPr>
          <a:xfrm>
            <a:off x="7400843" y="4087368"/>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20" name="Text 18"/>
          <p:cNvSpPr/>
          <p:nvPr/>
        </p:nvSpPr>
        <p:spPr>
          <a:xfrm>
            <a:off x="7620299" y="4087368"/>
            <a:ext cx="3913028"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個資委外</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貳 · 資安</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11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C05209"/>
                </a:solidFill>
                <a:latin typeface="Arial" pitchFamily="34" charset="0"/>
                <a:ea typeface="Microsoft JhengHei"/>
                <a:cs typeface="Microsoft JhengHei"/>
                <a:ea typeface="Arial" pitchFamily="34" charset="-122"/>
                <a:cs typeface="Arial" pitchFamily="34" charset="-120"/>
              </a:rPr>
              <a:t>資安</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3100" b="1" dirty="0">
                <a:solidFill>
                  <a:srgbClr val="1D2B39"/>
                </a:solidFill>
                <a:latin typeface="Arial" pitchFamily="34" charset="0"/>
                <a:ea typeface="Microsoft JhengHei"/>
                <a:cs typeface="Microsoft JhengHei"/>
                <a:ea typeface="Arial" pitchFamily="34" charset="-122"/>
                <a:cs typeface="Arial" pitchFamily="34" charset="-120"/>
              </a:rPr>
              <a:t>第一件事是歸類，不是技術。</a:t>
            </a:r>
            <a:endParaRPr lang="en-US" sz="3100" dirty="0"/>
          </a:p>
        </p:txBody>
      </p:sp>
      <p:sp>
        <p:nvSpPr>
          <p:cNvPr id="6" name="Shape 4"/>
          <p:cNvSpPr/>
          <p:nvPr/>
        </p:nvSpPr>
        <p:spPr>
          <a:xfrm>
            <a:off x="658368" y="1481328"/>
            <a:ext cx="10874959" cy="566928"/>
          </a:xfrm>
          <a:prstGeom prst="roundRect">
            <a:avLst>
              <a:gd name="adj" fmla="val 5645"/>
            </a:avLst>
          </a:prstGeom>
          <a:solidFill>
            <a:srgbClr val="FFFFFF"/>
          </a:solidFill>
          <a:ln w="9525">
            <a:solidFill>
              <a:srgbClr val="E6EBF0"/>
            </a:solidFill>
            <a:prstDash val="solid"/>
          </a:ln>
        </p:spPr>
      </p:sp>
      <p:sp>
        <p:nvSpPr>
          <p:cNvPr id="7" name="Text 5"/>
          <p:cNvSpPr/>
          <p:nvPr/>
        </p:nvSpPr>
        <p:spPr>
          <a:xfrm>
            <a:off x="896112" y="1536192"/>
            <a:ext cx="10399471" cy="457200"/>
          </a:xfrm>
          <a:prstGeom prst="rect">
            <a:avLst/>
          </a:prstGeom>
          <a:noFill/>
          <a:ln/>
        </p:spPr>
        <p:txBody>
          <a:bodyPr wrap="square" lIns="0" tIns="0" rIns="0" bIns="0" rtlCol="0" anchor="ctr"/>
          <a:lstStyle/>
          <a:p>
            <a:pPr indent="0" marL="0">
              <a:lnSpc>
                <a:spcPts val="1550"/>
              </a:lnSpc>
              <a:buNone/>
            </a:pPr>
            <a:r>
              <a:rPr lang="en-US" sz="1100" b="1" dirty="0">
                <a:solidFill>
                  <a:srgbClr val="1B5480"/>
                </a:solidFill>
                <a:latin typeface="Arial" pitchFamily="34" charset="0"/>
                <a:ea typeface="Microsoft JhengHei"/>
                <a:cs typeface="Microsoft JhengHei"/>
                <a:ea typeface="Arial" pitchFamily="34" charset="-122"/>
                <a:cs typeface="Arial" pitchFamily="34" charset="-120"/>
              </a:rPr>
              <a:t>依據　</a:t>
            </a:r>
            <a:pPr indent="0" marL="0">
              <a:lnSpc>
                <a:spcPts val="1550"/>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行政院公共工程委員會 112 年 9 月 25 日工程企字第 1120022701 號函檢送之「各類資訊(服務)採購之共通性資通安全基本要求參考一覽表」（普級部分自 113 年 3 月 1 日施行）</a:t>
            </a:r>
            <a:endParaRPr lang="en-US" sz="1100" dirty="0"/>
          </a:p>
        </p:txBody>
      </p:sp>
      <p:sp>
        <p:nvSpPr>
          <p:cNvPr id="8" name="Text 6"/>
          <p:cNvSpPr/>
          <p:nvPr/>
        </p:nvSpPr>
        <p:spPr>
          <a:xfrm>
            <a:off x="658368" y="2194560"/>
            <a:ext cx="10874959" cy="384048"/>
          </a:xfrm>
          <a:prstGeom prst="rect">
            <a:avLst/>
          </a:prstGeom>
          <a:noFill/>
          <a:ln/>
        </p:spPr>
        <p:txBody>
          <a:bodyPr wrap="square" lIns="0" tIns="0" rIns="0" bIns="0" rtlCol="0" anchor="ctr"/>
          <a:lstStyle/>
          <a:p>
            <a:pPr indent="0" marL="0">
              <a:buNone/>
            </a:pPr>
            <a:r>
              <a:rPr lang="en-US" sz="1250" dirty="0">
                <a:solidFill>
                  <a:srgbClr val="4E5F70"/>
                </a:solidFill>
                <a:latin typeface="Arial" pitchFamily="34" charset="0"/>
                <a:ea typeface="Microsoft JhengHei"/>
                <a:cs typeface="Microsoft JhengHei"/>
                <a:ea typeface="Arial" pitchFamily="34" charset="-122"/>
                <a:cs typeface="Arial" pitchFamily="34" charset="-120"/>
              </a:rPr>
              <a:t>一覽表共 9 張表，依「資料或系統類型」分。</a:t>
            </a:r>
            <a:pPr indent="0" marL="0">
              <a:buNone/>
            </a:pPr>
            <a:r>
              <a:rPr lang="en-US" sz="1250" b="1" dirty="0">
                <a:solidFill>
                  <a:srgbClr val="C05209"/>
                </a:solidFill>
                <a:latin typeface="Arial" pitchFamily="34" charset="0"/>
                <a:ea typeface="Microsoft JhengHei"/>
                <a:cs typeface="Microsoft JhengHei"/>
                <a:ea typeface="Arial" pitchFamily="34" charset="-122"/>
                <a:cs typeface="Arial" pitchFamily="34" charset="-120"/>
              </a:rPr>
              <a:t>同一套系統歸到不同的表，普級要求差好幾倍。</a:t>
            </a:r>
            <a:pPr indent="0" marL="0">
              <a:buNone/>
            </a:pPr>
            <a:r>
              <a:rPr lang="en-US" sz="1250" dirty="0">
                <a:solidFill>
                  <a:srgbClr val="4E5F70"/>
                </a:solidFill>
                <a:latin typeface="Arial" pitchFamily="34" charset="0"/>
                <a:ea typeface="Microsoft JhengHei"/>
                <a:cs typeface="Microsoft JhengHei"/>
                <a:ea typeface="Arial" pitchFamily="34" charset="-122"/>
                <a:cs typeface="Arial" pitchFamily="34" charset="-120"/>
              </a:rPr>
              <a:t>本案應歸「雲端微服務（SaaS）套裝型」——這一格由使用單位主動敘明，不要等別人猜。</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 y="2706624"/>
          <a:ext cx="10874959" cy="914400"/>
        </p:xfrm>
        <a:graphic>
          <a:graphicData uri="http://schemas.openxmlformats.org/drawingml/2006/table">
            <a:tbl>
              <a:tblPr/>
              <a:tblGrid>
                <a:gridCol w="2286000"/>
                <a:gridCol w="5486400"/>
                <a:gridCol w="3102559"/>
              </a:tblGrid>
              <a:tr h="0">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類型</a:t>
                      </a:r>
                      <a:endParaRPr lang="en-US" sz="950" dirty="0">
                        <a:latin typeface="Arial" charset="0"/>
                        <a:ea typeface="Microsoft JhengHei"/>
                        <a:cs typeface="Microsoft JhengHei"/>
                        <a:ea typeface="Arial" charset="0"/>
                        <a:cs typeface="Arial" charset="0"/>
                      </a:endParaRPr>
                    </a:p>
                  </a:txBody>
                  <a:tcPr marL="127000" marR="127000" marT="139700" marB="1397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普級新增的硬要求</a:t>
                      </a:r>
                      <a:endParaRPr lang="en-US" sz="950" dirty="0">
                        <a:latin typeface="Arial" charset="0"/>
                        <a:ea typeface="Microsoft JhengHei"/>
                        <a:cs typeface="Microsoft JhengHei"/>
                        <a:ea typeface="Arial" charset="0"/>
                        <a:cs typeface="Arial" charset="0"/>
                      </a:endParaRPr>
                    </a:p>
                  </a:txBody>
                  <a:tcPr marL="127000" marR="127000" marT="139700" marB="1397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本案</a:t>
                      </a:r>
                      <a:endParaRPr lang="en-US" sz="950" dirty="0">
                        <a:latin typeface="Arial" charset="0"/>
                        <a:ea typeface="Microsoft JhengHei"/>
                        <a:cs typeface="Microsoft JhengHei"/>
                        <a:ea typeface="Arial" charset="0"/>
                        <a:cs typeface="Arial" charset="0"/>
                      </a:endParaRPr>
                    </a:p>
                  </a:txBody>
                  <a:tcPr marL="127000" marR="127000" marT="139700" marB="1397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r>
              <a:tr h="0">
                <a:tc>
                  <a:txBody>
                    <a:bodyPr/>
                    <a:lstStyle/>
                    <a:p>
                      <a:pPr algn="l" indent="0" marL="0">
                        <a:buNone/>
                      </a:pPr>
                      <a:r>
                        <a:rPr lang="en-US" sz="1050" b="1" dirty="0">
                          <a:solidFill>
                            <a:srgbClr val="1D2B39"/>
                          </a:solidFill>
                          <a:latin typeface="Arial" pitchFamily="34" charset="0"/>
                          <a:ea typeface="Microsoft JhengHei"/>
                          <a:cs typeface="Microsoft JhengHei"/>
                          <a:ea typeface="Arial" pitchFamily="34" charset="-122"/>
                          <a:cs typeface="Arial" pitchFamily="34" charset="-120"/>
                        </a:rPr>
                        <a:t>雲端微服務（SaaS）套裝型</a:t>
                      </a:r>
                      <a:endParaRPr lang="en-US" sz="1050" dirty="0">
                        <a:latin typeface="Arial" charset="0"/>
                        <a:ea typeface="Microsoft JhengHei"/>
                        <a:cs typeface="Microsoft JhengHei"/>
                        <a:ea typeface="Arial" charset="0"/>
                        <a:cs typeface="Arial" charset="0"/>
                      </a:endParaRPr>
                    </a:p>
                  </a:txBody>
                  <a:tcPr marL="127000" marR="127000" marT="139700" marB="1397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帳號控管、資料傳輸屬「◎ 個案評估」；全表共 11 列</a:t>
                      </a:r>
                      <a:endParaRPr lang="en-US" sz="1050" dirty="0">
                        <a:latin typeface="Arial" charset="0"/>
                        <a:ea typeface="Microsoft JhengHei"/>
                        <a:cs typeface="Microsoft JhengHei"/>
                        <a:ea typeface="Arial" charset="0"/>
                        <a:cs typeface="Arial" charset="0"/>
                      </a:endParaRPr>
                    </a:p>
                  </a:txBody>
                  <a:tcPr marL="127000" marR="127000" marT="139700" marB="1397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A7F4E"/>
                          </a:solidFill>
                          <a:latin typeface="Arial" pitchFamily="34" charset="0"/>
                          <a:ea typeface="Microsoft JhengHei"/>
                          <a:cs typeface="Microsoft JhengHei"/>
                          <a:ea typeface="Arial" pitchFamily="34" charset="-122"/>
                          <a:cs typeface="Arial" pitchFamily="34" charset="-120"/>
                        </a:rPr>
                        <a:t>本案適用</a:t>
                      </a:r>
                      <a:endParaRPr lang="en-US" sz="1050" dirty="0">
                        <a:latin typeface="Arial" charset="0"/>
                        <a:ea typeface="Microsoft JhengHei"/>
                        <a:cs typeface="Microsoft JhengHei"/>
                        <a:ea typeface="Arial" charset="0"/>
                        <a:cs typeface="Arial" charset="0"/>
                      </a:endParaRPr>
                    </a:p>
                  </a:txBody>
                  <a:tcPr marL="127000" marR="127000" marT="139700" marB="1397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1F1E9"/>
                    </a:solidFill>
                  </a:tcPr>
                </a:tc>
              </a:tr>
              <a:tr h="0">
                <a:tc>
                  <a:txBody>
                    <a:bodyPr/>
                    <a:lstStyle/>
                    <a:p>
                      <a:pPr algn="l" indent="0" marL="0">
                        <a:buNone/>
                      </a:pPr>
                      <a:r>
                        <a:rPr lang="en-US" sz="1050" b="1" dirty="0">
                          <a:solidFill>
                            <a:srgbClr val="1D2B39"/>
                          </a:solidFill>
                          <a:latin typeface="Arial" pitchFamily="34" charset="0"/>
                          <a:ea typeface="Microsoft JhengHei"/>
                          <a:cs typeface="Microsoft JhengHei"/>
                          <a:ea typeface="Arial" pitchFamily="34" charset="-122"/>
                          <a:cs typeface="Arial" pitchFamily="34" charset="-120"/>
                        </a:rPr>
                        <a:t>SaaS 辦公室生產力工具</a:t>
                      </a:r>
                      <a:endParaRPr lang="en-US" sz="1050" dirty="0">
                        <a:latin typeface="Arial" charset="0"/>
                        <a:ea typeface="Microsoft JhengHei"/>
                        <a:cs typeface="Microsoft JhengHei"/>
                        <a:ea typeface="Arial" charset="0"/>
                        <a:cs typeface="Arial" charset="0"/>
                      </a:endParaRPr>
                    </a:p>
                  </a:txBody>
                  <a:tcPr marL="127000" marR="127000" marT="139700" marB="1397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多因子認證 ●、帳號控管 ●、資料傳輸 ●、資料分類與標籤 ●、釣魚郵件過濾 ●</a:t>
                      </a:r>
                      <a:endParaRPr lang="en-US" sz="1050" dirty="0">
                        <a:latin typeface="Arial" charset="0"/>
                        <a:ea typeface="Microsoft JhengHei"/>
                        <a:cs typeface="Microsoft JhengHei"/>
                        <a:ea typeface="Arial" charset="0"/>
                        <a:cs typeface="Arial" charset="0"/>
                      </a:endParaRPr>
                    </a:p>
                  </a:txBody>
                  <a:tcPr marL="127000" marR="127000" marT="139700" marB="1397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排除：不提供郵件、行事曆、雲端硬碟、即時通訊</a:t>
                      </a:r>
                      <a:endParaRPr lang="en-US" sz="1050" dirty="0">
                        <a:latin typeface="Arial" charset="0"/>
                        <a:ea typeface="Microsoft JhengHei"/>
                        <a:cs typeface="Microsoft JhengHei"/>
                        <a:ea typeface="Arial" charset="0"/>
                        <a:cs typeface="Arial" charset="0"/>
                      </a:endParaRPr>
                    </a:p>
                  </a:txBody>
                  <a:tcPr marL="127000" marR="127000" marT="139700" marB="1397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D2B39"/>
                          </a:solidFill>
                          <a:latin typeface="Arial" pitchFamily="34" charset="0"/>
                          <a:ea typeface="Microsoft JhengHei"/>
                          <a:cs typeface="Microsoft JhengHei"/>
                          <a:ea typeface="Arial" pitchFamily="34" charset="-122"/>
                          <a:cs typeface="Arial" pitchFamily="34" charset="-120"/>
                        </a:rPr>
                        <a:t>雲端平台（PaaS／IaaS）</a:t>
                      </a:r>
                      <a:endParaRPr lang="en-US" sz="1050" dirty="0">
                        <a:latin typeface="Arial" charset="0"/>
                        <a:ea typeface="Microsoft JhengHei"/>
                        <a:cs typeface="Microsoft JhengHei"/>
                        <a:ea typeface="Arial" charset="0"/>
                        <a:cs typeface="Arial" charset="0"/>
                      </a:endParaRPr>
                    </a:p>
                  </a:txBody>
                  <a:tcPr marL="127000" marR="127000" marT="139700" marB="1397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平台層控制措施</a:t>
                      </a:r>
                      <a:endParaRPr lang="en-US" sz="1050" dirty="0">
                        <a:latin typeface="Arial" charset="0"/>
                        <a:ea typeface="Microsoft JhengHei"/>
                        <a:cs typeface="Microsoft JhengHei"/>
                        <a:ea typeface="Arial" charset="0"/>
                        <a:cs typeface="Arial" charset="0"/>
                      </a:endParaRPr>
                    </a:p>
                  </a:txBody>
                  <a:tcPr marL="127000" marR="127000" marT="139700" marB="1397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排除：機關不取得平台資源，僅使用應用服務</a:t>
                      </a:r>
                      <a:endParaRPr lang="en-US" sz="1050" dirty="0">
                        <a:latin typeface="Arial" charset="0"/>
                        <a:ea typeface="Microsoft JhengHei"/>
                        <a:cs typeface="Microsoft JhengHei"/>
                        <a:ea typeface="Arial" charset="0"/>
                        <a:cs typeface="Arial" charset="0"/>
                      </a:endParaRPr>
                    </a:p>
                  </a:txBody>
                  <a:tcPr marL="127000" marR="127000" marT="139700" marB="1397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1D2B39"/>
                          </a:solidFill>
                          <a:latin typeface="Arial" pitchFamily="34" charset="0"/>
                          <a:ea typeface="Microsoft JhengHei"/>
                          <a:cs typeface="Microsoft JhengHei"/>
                          <a:ea typeface="Arial" pitchFamily="34" charset="-122"/>
                          <a:cs typeface="Arial" pitchFamily="34" charset="-120"/>
                        </a:rPr>
                        <a:t>應用軟體或系統開發服務</a:t>
                      </a:r>
                      <a:endParaRPr lang="en-US" sz="1050" dirty="0">
                        <a:latin typeface="Arial" charset="0"/>
                        <a:ea typeface="Microsoft JhengHei"/>
                        <a:cs typeface="Microsoft JhengHei"/>
                        <a:ea typeface="Arial" charset="0"/>
                        <a:cs typeface="Arial" charset="0"/>
                      </a:endParaRPr>
                    </a:p>
                  </a:txBody>
                  <a:tcPr marL="127000" marR="127000" marT="139700" marB="1397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附表十全構面 ●、上線前主機弱點掃描 ●、網站弱點掃描 ●、資安維運服務 ●、機關人員教育訓練 ●、SBOM ◎</a:t>
                      </a:r>
                      <a:endParaRPr lang="en-US" sz="1050" dirty="0">
                        <a:latin typeface="Arial" charset="0"/>
                        <a:ea typeface="Microsoft JhengHei"/>
                        <a:cs typeface="Microsoft JhengHei"/>
                        <a:ea typeface="Arial" charset="0"/>
                        <a:cs typeface="Arial" charset="0"/>
                      </a:endParaRPr>
                    </a:p>
                  </a:txBody>
                  <a:tcPr marL="127000" marR="127000" marT="139700" marB="1397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C0392F"/>
                          </a:solidFill>
                          <a:latin typeface="Arial" pitchFamily="34" charset="0"/>
                          <a:ea typeface="Microsoft JhengHei"/>
                          <a:cs typeface="Microsoft JhengHei"/>
                          <a:ea typeface="Arial" pitchFamily="34" charset="-122"/>
                          <a:cs typeface="Arial" pitchFamily="34" charset="-120"/>
                        </a:rPr>
                        <a:t>須排除：機關不委託開發、不取得原始碼、不驗收程式，僅按期訂閱既有服務</a:t>
                      </a:r>
                      <a:endParaRPr lang="en-US" sz="1050" dirty="0">
                        <a:latin typeface="Arial" charset="0"/>
                        <a:ea typeface="Microsoft JhengHei"/>
                        <a:cs typeface="Microsoft JhengHei"/>
                        <a:ea typeface="Arial" charset="0"/>
                        <a:cs typeface="Arial" charset="0"/>
                      </a:endParaRPr>
                    </a:p>
                  </a:txBody>
                  <a:tcPr marL="127000" marR="127000" marT="139700" marB="1397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r>
            </a:tbl>
          </a:graphicData>
        </a:graphic>
      </p:graphicFrame>
      <p:sp>
        <p:nvSpPr>
          <p:cNvPr id="10" name="Text 7"/>
          <p:cNvSpPr/>
          <p:nvPr/>
        </p:nvSpPr>
        <p:spPr>
          <a:xfrm>
            <a:off x="658368" y="5760720"/>
            <a:ext cx="10874959" cy="274320"/>
          </a:xfrm>
          <a:prstGeom prst="rect">
            <a:avLst/>
          </a:prstGeom>
          <a:noFill/>
          <a:ln/>
        </p:spPr>
        <p:txBody>
          <a:bodyPr wrap="square" lIns="0" tIns="0" rIns="0" bIns="0" rtlCol="0" anchor="ctr"/>
          <a:lstStyle/>
          <a:p>
            <a:pPr indent="0" marL="0">
              <a:buNone/>
            </a:pPr>
            <a:r>
              <a:rPr lang="en-US" sz="1150" b="1" dirty="0">
                <a:solidFill>
                  <a:srgbClr val="1D2B39"/>
                </a:solidFill>
                <a:latin typeface="Arial" pitchFamily="34" charset="0"/>
                <a:ea typeface="Microsoft JhengHei"/>
                <a:cs typeface="Microsoft JhengHei"/>
                <a:ea typeface="Arial" pitchFamily="34" charset="-122"/>
                <a:cs typeface="Arial" pitchFamily="34" charset="-120"/>
              </a:rPr>
              <a:t>所以文件用語很重要：</a:t>
            </a:r>
            <a:pPr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標的名稱一律寫「雲端訂閱服務」，全案不出現「開發」「客製」「建置」。</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貳 · 資安</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12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C05209"/>
                </a:solidFill>
                <a:latin typeface="Arial" pitchFamily="34" charset="0"/>
                <a:ea typeface="Microsoft JhengHei"/>
                <a:cs typeface="Microsoft JhengHei"/>
                <a:ea typeface="Arial" pitchFamily="34" charset="-122"/>
                <a:cs typeface="Arial" pitchFamily="34" charset="-120"/>
              </a:rPr>
              <a:t>逐項回覆</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2700" b="1" dirty="0">
                <a:solidFill>
                  <a:srgbClr val="1D2B39"/>
                </a:solidFill>
                <a:latin typeface="Arial" pitchFamily="34" charset="0"/>
                <a:ea typeface="Microsoft JhengHei"/>
                <a:cs typeface="Microsoft JhengHei"/>
                <a:ea typeface="Arial" pitchFamily="34" charset="-122"/>
                <a:cs typeface="Arial" pitchFamily="34" charset="-120"/>
              </a:rPr>
              <a:t>SaaS 套裝型・普級全部 11 列，逐列已備妥。</a:t>
            </a:r>
            <a:endParaRPr lang="en-US" sz="2700" dirty="0"/>
          </a:p>
        </p:txBody>
      </p:sp>
      <p:sp>
        <p:nvSpPr>
          <p:cNvPr id="6" name="Text 4"/>
          <p:cNvSpPr/>
          <p:nvPr/>
        </p:nvSpPr>
        <p:spPr>
          <a:xfrm>
            <a:off x="658368" y="1444752"/>
            <a:ext cx="10874959" cy="237744"/>
          </a:xfrm>
          <a:prstGeom prst="rect">
            <a:avLst/>
          </a:prstGeom>
          <a:noFill/>
          <a:ln/>
        </p:spPr>
        <p:txBody>
          <a:bodyPr wrap="square" lIns="0" tIns="0" rIns="0" bIns="0" rtlCol="0" anchor="ctr"/>
          <a:lstStyle/>
          <a:p>
            <a:pPr indent="0" marL="0">
              <a:buNone/>
            </a:pPr>
            <a:r>
              <a:rPr lang="en-US" sz="1000" b="1" spc="60" kern="0" dirty="0">
                <a:solidFill>
                  <a:srgbClr val="7A8794"/>
                </a:solidFill>
                <a:latin typeface="Arial" pitchFamily="34" charset="0"/>
                <a:ea typeface="Microsoft JhengHei"/>
                <a:cs typeface="Microsoft JhengHei"/>
                <a:ea typeface="Arial" pitchFamily="34" charset="-122"/>
                <a:cs typeface="Arial" pitchFamily="34" charset="-120"/>
              </a:rPr>
              <a:t>●＝建議辦理　　◎＝經機關評估個案有必要時　　－＝不適用　　（圖示定義出自一覽表說明欄）</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8368" y="1773936"/>
          <a:ext cx="10874959" cy="914400"/>
        </p:xfrm>
        <a:graphic>
          <a:graphicData uri="http://schemas.openxmlformats.org/drawingml/2006/table">
            <a:tbl>
              <a:tblPr/>
              <a:tblGrid>
                <a:gridCol w="402336"/>
                <a:gridCol w="3200400"/>
                <a:gridCol w="566928"/>
                <a:gridCol w="5562295"/>
                <a:gridCol w="1234440"/>
              </a:tblGrid>
              <a:tr h="0">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a:t>
                      </a:r>
                      <a:endParaRPr lang="en-US" sz="95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項目</a:t>
                      </a:r>
                      <a:endParaRPr lang="en-US" sz="95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普級</a:t>
                      </a:r>
                      <a:endParaRPr lang="en-US" sz="95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我方回覆與佐證</a:t>
                      </a:r>
                      <a:endParaRPr lang="en-US" sz="95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狀態</a:t>
                      </a:r>
                      <a:endParaRPr lang="en-US" sz="95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r>
              <a:tr h="0">
                <a:tc>
                  <a:txBody>
                    <a:bodyPr/>
                    <a:lstStyle/>
                    <a:p>
                      <a:pPr algn="ctr" indent="0" marL="0">
                        <a:buNone/>
                      </a:pPr>
                      <a:r>
                        <a:rPr lang="en-US" sz="1000" dirty="0">
                          <a:solidFill>
                            <a:srgbClr val="7A8794"/>
                          </a:solidFill>
                          <a:latin typeface="Arial" pitchFamily="34" charset="0"/>
                          <a:ea typeface="Microsoft JhengHei"/>
                          <a:cs typeface="Microsoft JhengHei"/>
                          <a:ea typeface="Arial" pitchFamily="34" charset="-122"/>
                          <a:cs typeface="Arial" pitchFamily="34" charset="-120"/>
                        </a:rPr>
                        <a:t>1</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D2B39"/>
                          </a:solidFill>
                          <a:latin typeface="Arial" pitchFamily="34" charset="0"/>
                          <a:ea typeface="Microsoft JhengHei"/>
                          <a:cs typeface="Microsoft JhengHei"/>
                          <a:ea typeface="Arial" pitchFamily="34" charset="-122"/>
                          <a:cs typeface="Arial" pitchFamily="34" charset="-120"/>
                        </a:rPr>
                        <a:t>完善資通安全管理措施（或 ISO 27001）</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B5480"/>
                          </a:solidFill>
                          <a:latin typeface="Arial" pitchFamily="34" charset="0"/>
                          <a:ea typeface="Microsoft JhengHei"/>
                          <a:cs typeface="Microsoft JhengHei"/>
                          <a:ea typeface="Arial" pitchFamily="34" charset="-122"/>
                          <a:cs typeface="Arial" pitchFamily="34" charset="-120"/>
                        </a:rPr>
                        <a:t>●</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E5F70"/>
                          </a:solidFill>
                          <a:latin typeface="Arial" pitchFamily="34" charset="0"/>
                          <a:ea typeface="Microsoft JhengHei"/>
                          <a:cs typeface="Microsoft JhengHei"/>
                          <a:ea typeface="Arial" pitchFamily="34" charset="-122"/>
                          <a:cs typeface="Arial" pitchFamily="34" charset="-120"/>
                        </a:rPr>
                        <a:t>走前者：資通系統防護基準普通級符合性對照表</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7F4E"/>
                          </a:solidFill>
                          <a:latin typeface="Arial" pitchFamily="34" charset="0"/>
                          <a:ea typeface="Microsoft JhengHei"/>
                          <a:cs typeface="Microsoft JhengHei"/>
                          <a:ea typeface="Arial" pitchFamily="34" charset="-122"/>
                          <a:cs typeface="Arial" pitchFamily="34" charset="-120"/>
                        </a:rPr>
                        <a:t>已備齊</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1F1E9"/>
                    </a:solidFill>
                  </a:tcPr>
                </a:tc>
              </a:tr>
              <a:tr h="0">
                <a:tc>
                  <a:txBody>
                    <a:bodyPr/>
                    <a:lstStyle/>
                    <a:p>
                      <a:pPr algn="ctr" indent="0" marL="0">
                        <a:buNone/>
                      </a:pPr>
                      <a:r>
                        <a:rPr lang="en-US" sz="1000" dirty="0">
                          <a:solidFill>
                            <a:srgbClr val="7A8794"/>
                          </a:solidFill>
                          <a:latin typeface="Arial" pitchFamily="34" charset="0"/>
                          <a:ea typeface="Microsoft JhengHei"/>
                          <a:cs typeface="Microsoft JhengHei"/>
                          <a:ea typeface="Arial" pitchFamily="34" charset="-122"/>
                          <a:cs typeface="Arial" pitchFamily="34" charset="-120"/>
                        </a:rPr>
                        <a:t>2</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D2B39"/>
                          </a:solidFill>
                          <a:latin typeface="Arial" pitchFamily="34" charset="0"/>
                          <a:ea typeface="Microsoft JhengHei"/>
                          <a:cs typeface="Microsoft JhengHei"/>
                          <a:ea typeface="Arial" pitchFamily="34" charset="-122"/>
                          <a:cs typeface="Arial" pitchFamily="34" charset="-120"/>
                        </a:rPr>
                        <a:t>隱私資訊管理標準（ISO 27701）</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B5480"/>
                          </a:solidFill>
                          <a:latin typeface="Arial" pitchFamily="34" charset="0"/>
                          <a:ea typeface="Microsoft JhengHei"/>
                          <a:cs typeface="Microsoft JhengHei"/>
                          <a:ea typeface="Arial" pitchFamily="34" charset="-122"/>
                          <a:cs typeface="Arial" pitchFamily="34" charset="-120"/>
                        </a:rPr>
                        <a:t>◎</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E5F70"/>
                          </a:solidFill>
                          <a:latin typeface="Arial" pitchFamily="34" charset="0"/>
                          <a:ea typeface="Microsoft JhengHei"/>
                          <a:cs typeface="Microsoft JhengHei"/>
                          <a:ea typeface="Arial" pitchFamily="34" charset="-122"/>
                          <a:cs typeface="Arial" pitchFamily="34" charset="-120"/>
                        </a:rPr>
                        <a:t>個資極少（姓名／職稱／公務聯絡方式／帳號），以個資委外附約替代</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7A8794"/>
                          </a:solidFill>
                          <a:latin typeface="Arial" pitchFamily="34" charset="0"/>
                          <a:ea typeface="Microsoft JhengHei"/>
                          <a:cs typeface="Microsoft JhengHei"/>
                          <a:ea typeface="Arial" pitchFamily="34" charset="-122"/>
                          <a:cs typeface="Arial" pitchFamily="34" charset="-120"/>
                        </a:rPr>
                        <a:t>可談</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3E9EF"/>
                    </a:solidFill>
                  </a:tcPr>
                </a:tc>
              </a:tr>
              <a:tr h="0">
                <a:tc>
                  <a:txBody>
                    <a:bodyPr/>
                    <a:lstStyle/>
                    <a:p>
                      <a:pPr algn="ctr" indent="0" marL="0">
                        <a:buNone/>
                      </a:pPr>
                      <a:r>
                        <a:rPr lang="en-US" sz="1000" dirty="0">
                          <a:solidFill>
                            <a:srgbClr val="7A8794"/>
                          </a:solidFill>
                          <a:latin typeface="Arial" pitchFamily="34" charset="0"/>
                          <a:ea typeface="Microsoft JhengHei"/>
                          <a:cs typeface="Microsoft JhengHei"/>
                          <a:ea typeface="Arial" pitchFamily="34" charset="-122"/>
                          <a:cs typeface="Arial" pitchFamily="34" charset="-120"/>
                        </a:rPr>
                        <a:t>3</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D2B39"/>
                          </a:solidFill>
                          <a:latin typeface="Arial" pitchFamily="34" charset="0"/>
                          <a:ea typeface="Microsoft JhengHei"/>
                          <a:cs typeface="Microsoft JhengHei"/>
                          <a:ea typeface="Arial" pitchFamily="34" charset="-122"/>
                          <a:cs typeface="Arial" pitchFamily="34" charset="-120"/>
                        </a:rPr>
                        <a:t>非大陸地區廠商、非第三地區含陸資</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B5480"/>
                          </a:solidFill>
                          <a:latin typeface="Arial" pitchFamily="34" charset="0"/>
                          <a:ea typeface="Microsoft JhengHei"/>
                          <a:cs typeface="Microsoft JhengHei"/>
                          <a:ea typeface="Arial" pitchFamily="34" charset="-122"/>
                          <a:cs typeface="Arial" pitchFamily="34" charset="-120"/>
                        </a:rPr>
                        <a:t>●</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E5F70"/>
                          </a:solidFill>
                          <a:latin typeface="Arial" pitchFamily="34" charset="0"/>
                          <a:ea typeface="Microsoft JhengHei"/>
                          <a:cs typeface="Microsoft JhengHei"/>
                          <a:ea typeface="Arial" pitchFamily="34" charset="-122"/>
                          <a:cs typeface="Arial" pitchFamily="34" charset="-120"/>
                        </a:rPr>
                        <a:t>非陸資廠商聲明書</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05209"/>
                          </a:solidFill>
                          <a:latin typeface="Arial" pitchFamily="34" charset="0"/>
                          <a:ea typeface="Microsoft JhengHei"/>
                          <a:cs typeface="Microsoft JhengHei"/>
                          <a:ea typeface="Arial" pitchFamily="34" charset="-122"/>
                          <a:cs typeface="Arial" pitchFamily="34" charset="-120"/>
                        </a:rPr>
                        <a:t>待具結</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CE9DC"/>
                    </a:solidFill>
                  </a:tcPr>
                </a:tc>
              </a:tr>
              <a:tr h="0">
                <a:tc>
                  <a:txBody>
                    <a:bodyPr/>
                    <a:lstStyle/>
                    <a:p>
                      <a:pPr algn="ctr" indent="0" marL="0">
                        <a:buNone/>
                      </a:pPr>
                      <a:r>
                        <a:rPr lang="en-US" sz="1000" dirty="0">
                          <a:solidFill>
                            <a:srgbClr val="7A8794"/>
                          </a:solidFill>
                          <a:latin typeface="Arial" pitchFamily="34" charset="0"/>
                          <a:ea typeface="Microsoft JhengHei"/>
                          <a:cs typeface="Microsoft JhengHei"/>
                          <a:ea typeface="Arial" pitchFamily="34" charset="-122"/>
                          <a:cs typeface="Arial" pitchFamily="34" charset="-120"/>
                        </a:rPr>
                        <a:t>4</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D2B39"/>
                          </a:solidFill>
                          <a:latin typeface="Arial" pitchFamily="34" charset="0"/>
                          <a:ea typeface="Microsoft JhengHei"/>
                          <a:cs typeface="Microsoft JhengHei"/>
                          <a:ea typeface="Arial" pitchFamily="34" charset="-122"/>
                          <a:cs typeface="Arial" pitchFamily="34" charset="-120"/>
                        </a:rPr>
                        <a:t>帳號控管措施</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B5480"/>
                          </a:solidFill>
                          <a:latin typeface="Arial" pitchFamily="34" charset="0"/>
                          <a:ea typeface="Microsoft JhengHei"/>
                          <a:cs typeface="Microsoft JhengHei"/>
                          <a:ea typeface="Arial" pitchFamily="34" charset="-122"/>
                          <a:cs typeface="Arial" pitchFamily="34" charset="-120"/>
                        </a:rPr>
                        <a:t>◎</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E5F70"/>
                          </a:solidFill>
                          <a:latin typeface="Arial" pitchFamily="34" charset="0"/>
                          <a:ea typeface="Microsoft JhengHei"/>
                          <a:cs typeface="Microsoft JhengHei"/>
                          <a:ea typeface="Arial" pitchFamily="34" charset="-122"/>
                          <a:cs typeface="Arial" pitchFamily="34" charset="-120"/>
                        </a:rPr>
                        <a:t>伺服器端 RBAC ＋ 資料列權限逐表隔離</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7F4E"/>
                          </a:solidFill>
                          <a:latin typeface="Arial" pitchFamily="34" charset="0"/>
                          <a:ea typeface="Microsoft JhengHei"/>
                          <a:cs typeface="Microsoft JhengHei"/>
                          <a:ea typeface="Arial" pitchFamily="34" charset="-122"/>
                          <a:cs typeface="Arial" pitchFamily="34" charset="-120"/>
                        </a:rPr>
                        <a:t>已具備</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1F1E9"/>
                    </a:solidFill>
                  </a:tcPr>
                </a:tc>
              </a:tr>
              <a:tr h="0">
                <a:tc>
                  <a:txBody>
                    <a:bodyPr/>
                    <a:lstStyle/>
                    <a:p>
                      <a:pPr algn="ctr" indent="0" marL="0">
                        <a:buNone/>
                      </a:pPr>
                      <a:r>
                        <a:rPr lang="en-US" sz="1000" dirty="0">
                          <a:solidFill>
                            <a:srgbClr val="7A8794"/>
                          </a:solidFill>
                          <a:latin typeface="Arial" pitchFamily="34" charset="0"/>
                          <a:ea typeface="Microsoft JhengHei"/>
                          <a:cs typeface="Microsoft JhengHei"/>
                          <a:ea typeface="Arial" pitchFamily="34" charset="-122"/>
                          <a:cs typeface="Arial" pitchFamily="34" charset="-120"/>
                        </a:rPr>
                        <a:t>5</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D2B39"/>
                          </a:solidFill>
                          <a:latin typeface="Arial" pitchFamily="34" charset="0"/>
                          <a:ea typeface="Microsoft JhengHei"/>
                          <a:cs typeface="Microsoft JhengHei"/>
                          <a:ea typeface="Arial" pitchFamily="34" charset="-122"/>
                          <a:cs typeface="Arial" pitchFamily="34" charset="-120"/>
                        </a:rPr>
                        <a:t>資料傳輸措施</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B5480"/>
                          </a:solidFill>
                          <a:latin typeface="Arial" pitchFamily="34" charset="0"/>
                          <a:ea typeface="Microsoft JhengHei"/>
                          <a:cs typeface="Microsoft JhengHei"/>
                          <a:ea typeface="Arial" pitchFamily="34" charset="-122"/>
                          <a:cs typeface="Arial" pitchFamily="34" charset="-120"/>
                        </a:rPr>
                        <a:t>◎</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E5F70"/>
                          </a:solidFill>
                          <a:latin typeface="Arial" pitchFamily="34" charset="0"/>
                          <a:ea typeface="Microsoft JhengHei"/>
                          <a:cs typeface="Microsoft JhengHei"/>
                          <a:ea typeface="Arial" pitchFamily="34" charset="-122"/>
                          <a:cs typeface="Arial" pitchFamily="34" charset="-120"/>
                        </a:rPr>
                        <a:t>TLS 1.2 以上，附實測</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7F4E"/>
                          </a:solidFill>
                          <a:latin typeface="Arial" pitchFamily="34" charset="0"/>
                          <a:ea typeface="Microsoft JhengHei"/>
                          <a:cs typeface="Microsoft JhengHei"/>
                          <a:ea typeface="Arial" pitchFamily="34" charset="-122"/>
                          <a:cs typeface="Arial" pitchFamily="34" charset="-120"/>
                        </a:rPr>
                        <a:t>已具備</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1F1E9"/>
                    </a:solidFill>
                  </a:tcPr>
                </a:tc>
              </a:tr>
              <a:tr h="0">
                <a:tc>
                  <a:txBody>
                    <a:bodyPr/>
                    <a:lstStyle/>
                    <a:p>
                      <a:pPr algn="ctr" indent="0" marL="0">
                        <a:buNone/>
                      </a:pPr>
                      <a:r>
                        <a:rPr lang="en-US" sz="1000" dirty="0">
                          <a:solidFill>
                            <a:srgbClr val="7A8794"/>
                          </a:solidFill>
                          <a:latin typeface="Arial" pitchFamily="34" charset="0"/>
                          <a:ea typeface="Microsoft JhengHei"/>
                          <a:cs typeface="Microsoft JhengHei"/>
                          <a:ea typeface="Arial" pitchFamily="34" charset="-122"/>
                          <a:cs typeface="Arial" pitchFamily="34" charset="-120"/>
                        </a:rPr>
                        <a:t>6</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D2B39"/>
                          </a:solidFill>
                          <a:latin typeface="Arial" pitchFamily="34" charset="0"/>
                          <a:ea typeface="Microsoft JhengHei"/>
                          <a:cs typeface="Microsoft JhengHei"/>
                          <a:ea typeface="Arial" pitchFamily="34" charset="-122"/>
                          <a:cs typeface="Arial" pitchFamily="34" charset="-120"/>
                        </a:rPr>
                        <a:t>事件日誌（含 IP 位址）保存，建議至少六個月</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B5480"/>
                          </a:solidFill>
                          <a:latin typeface="Arial" pitchFamily="34" charset="0"/>
                          <a:ea typeface="Microsoft JhengHei"/>
                          <a:cs typeface="Microsoft JhengHei"/>
                          <a:ea typeface="Arial" pitchFamily="34" charset="-122"/>
                          <a:cs typeface="Arial" pitchFamily="34" charset="-120"/>
                        </a:rPr>
                        <a:t>●</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E5F70"/>
                          </a:solidFill>
                          <a:latin typeface="Arial" pitchFamily="34" charset="0"/>
                          <a:ea typeface="Microsoft JhengHei"/>
                          <a:cs typeface="Microsoft JhengHei"/>
                          <a:ea typeface="Arial" pitchFamily="34" charset="-122"/>
                          <a:cs typeface="Arial" pitchFamily="34" charset="-120"/>
                        </a:rPr>
                        <a:t>帳號權限變更、登入、時間、IP、資料存取皆入庫且不可竄改；書面留存政策可直接當附件</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7F4E"/>
                          </a:solidFill>
                          <a:latin typeface="Arial" pitchFamily="34" charset="0"/>
                          <a:ea typeface="Microsoft JhengHei"/>
                          <a:cs typeface="Microsoft JhengHei"/>
                          <a:ea typeface="Arial" pitchFamily="34" charset="-122"/>
                          <a:cs typeface="Arial" pitchFamily="34" charset="-120"/>
                        </a:rPr>
                        <a:t>已備齊</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1F1E9"/>
                    </a:solidFill>
                  </a:tcPr>
                </a:tc>
              </a:tr>
              <a:tr h="0">
                <a:tc>
                  <a:txBody>
                    <a:bodyPr/>
                    <a:lstStyle/>
                    <a:p>
                      <a:pPr algn="ctr" indent="0" marL="0">
                        <a:buNone/>
                      </a:pPr>
                      <a:r>
                        <a:rPr lang="en-US" sz="1000" dirty="0">
                          <a:solidFill>
                            <a:srgbClr val="7A8794"/>
                          </a:solidFill>
                          <a:latin typeface="Arial" pitchFamily="34" charset="0"/>
                          <a:ea typeface="Microsoft JhengHei"/>
                          <a:cs typeface="Microsoft JhengHei"/>
                          <a:ea typeface="Arial" pitchFamily="34" charset="-122"/>
                          <a:cs typeface="Arial" pitchFamily="34" charset="-120"/>
                        </a:rPr>
                        <a:t>7</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D2B39"/>
                          </a:solidFill>
                          <a:latin typeface="Arial" pitchFamily="34" charset="0"/>
                          <a:ea typeface="Microsoft JhengHei"/>
                          <a:cs typeface="Microsoft JhengHei"/>
                          <a:ea typeface="Arial" pitchFamily="34" charset="-122"/>
                          <a:cs typeface="Arial" pitchFamily="34" charset="-120"/>
                        </a:rPr>
                        <a:t>供應商安全 ＋ 產品安全（各擇一）</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B5480"/>
                          </a:solidFill>
                          <a:latin typeface="Arial" pitchFamily="34" charset="0"/>
                          <a:ea typeface="Microsoft JhengHei"/>
                          <a:cs typeface="Microsoft JhengHei"/>
                          <a:ea typeface="Arial" pitchFamily="34" charset="-122"/>
                          <a:cs typeface="Arial" pitchFamily="34" charset="-120"/>
                        </a:rPr>
                        <a:t>●</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E5F70"/>
                          </a:solidFill>
                          <a:latin typeface="Arial" pitchFamily="34" charset="0"/>
                          <a:ea typeface="Microsoft JhengHei"/>
                          <a:cs typeface="Microsoft JhengHei"/>
                          <a:ea typeface="Arial" pitchFamily="34" charset="-122"/>
                          <a:cs typeface="Arial" pitchFamily="34" charset="-120"/>
                        </a:rPr>
                        <a:t>供應商：公開漏洞回報機制（/security ＋ security.txt）；產品：弱點掃描報告 High 0</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7F4E"/>
                          </a:solidFill>
                          <a:latin typeface="Arial" pitchFamily="34" charset="0"/>
                          <a:ea typeface="Microsoft JhengHei"/>
                          <a:cs typeface="Microsoft JhengHei"/>
                          <a:ea typeface="Arial" pitchFamily="34" charset="-122"/>
                          <a:cs typeface="Arial" pitchFamily="34" charset="-120"/>
                        </a:rPr>
                        <a:t>已備齊</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1F1E9"/>
                    </a:solidFill>
                  </a:tcPr>
                </a:tc>
              </a:tr>
              <a:tr h="0">
                <a:tc>
                  <a:txBody>
                    <a:bodyPr/>
                    <a:lstStyle/>
                    <a:p>
                      <a:pPr algn="ctr" indent="0" marL="0">
                        <a:buNone/>
                      </a:pPr>
                      <a:r>
                        <a:rPr lang="en-US" sz="1000" dirty="0">
                          <a:solidFill>
                            <a:srgbClr val="7A8794"/>
                          </a:solidFill>
                          <a:latin typeface="Arial" pitchFamily="34" charset="0"/>
                          <a:ea typeface="Microsoft JhengHei"/>
                          <a:cs typeface="Microsoft JhengHei"/>
                          <a:ea typeface="Arial" pitchFamily="34" charset="-122"/>
                          <a:cs typeface="Arial" pitchFamily="34" charset="-120"/>
                        </a:rPr>
                        <a:t>8</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D2B39"/>
                          </a:solidFill>
                          <a:latin typeface="Arial" pitchFamily="34" charset="0"/>
                          <a:ea typeface="Microsoft JhengHei"/>
                          <a:cs typeface="Microsoft JhengHei"/>
                          <a:ea typeface="Arial" pitchFamily="34" charset="-122"/>
                          <a:cs typeface="Arial" pitchFamily="34" charset="-120"/>
                        </a:rPr>
                        <a:t>廠商通過 CMMC</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B5480"/>
                          </a:solidFill>
                          <a:latin typeface="Arial" pitchFamily="34" charset="0"/>
                          <a:ea typeface="Microsoft JhengHei"/>
                          <a:cs typeface="Microsoft JhengHei"/>
                          <a:ea typeface="Arial" pitchFamily="34" charset="-122"/>
                          <a:cs typeface="Arial" pitchFamily="34" charset="-120"/>
                        </a:rPr>
                        <a:t>－</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E5F70"/>
                          </a:solidFill>
                          <a:latin typeface="Arial" pitchFamily="34" charset="0"/>
                          <a:ea typeface="Microsoft JhengHei"/>
                          <a:cs typeface="Microsoft JhengHei"/>
                          <a:ea typeface="Arial" pitchFamily="34" charset="-122"/>
                          <a:cs typeface="Arial" pitchFamily="34" charset="-120"/>
                        </a:rPr>
                        <a:t>普級不適用</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7A8794"/>
                          </a:solidFill>
                          <a:latin typeface="Arial" pitchFamily="34" charset="0"/>
                          <a:ea typeface="Microsoft JhengHei"/>
                          <a:cs typeface="Microsoft JhengHei"/>
                          <a:ea typeface="Arial" pitchFamily="34" charset="-122"/>
                          <a:cs typeface="Arial" pitchFamily="34" charset="-120"/>
                        </a:rPr>
                        <a:t>不適用</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3E9EF"/>
                    </a:solidFill>
                  </a:tcPr>
                </a:tc>
              </a:tr>
              <a:tr h="0">
                <a:tc>
                  <a:txBody>
                    <a:bodyPr/>
                    <a:lstStyle/>
                    <a:p>
                      <a:pPr algn="ctr" indent="0" marL="0">
                        <a:buNone/>
                      </a:pPr>
                      <a:r>
                        <a:rPr lang="en-US" sz="1000" dirty="0">
                          <a:solidFill>
                            <a:srgbClr val="7A8794"/>
                          </a:solidFill>
                          <a:latin typeface="Arial" pitchFamily="34" charset="0"/>
                          <a:ea typeface="Microsoft JhengHei"/>
                          <a:cs typeface="Microsoft JhengHei"/>
                          <a:ea typeface="Arial" pitchFamily="34" charset="-122"/>
                          <a:cs typeface="Arial" pitchFamily="34" charset="-120"/>
                        </a:rPr>
                        <a:t>9</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D2B39"/>
                          </a:solidFill>
                          <a:latin typeface="Arial" pitchFamily="34" charset="0"/>
                          <a:ea typeface="Microsoft JhengHei"/>
                          <a:cs typeface="Microsoft JhengHei"/>
                          <a:ea typeface="Arial" pitchFamily="34" charset="-122"/>
                          <a:cs typeface="Arial" pitchFamily="34" charset="-120"/>
                        </a:rPr>
                        <a:t>未經機關審查同意，不得移至本國以外地區</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B5480"/>
                          </a:solidFill>
                          <a:latin typeface="Arial" pitchFamily="34" charset="0"/>
                          <a:ea typeface="Microsoft JhengHei"/>
                          <a:cs typeface="Microsoft JhengHei"/>
                          <a:ea typeface="Arial" pitchFamily="34" charset="-122"/>
                          <a:cs typeface="Arial" pitchFamily="34" charset="-120"/>
                        </a:rPr>
                        <a:t>●</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E5F70"/>
                          </a:solidFill>
                          <a:latin typeface="Arial" pitchFamily="34" charset="0"/>
                          <a:ea typeface="Microsoft JhengHei"/>
                          <a:cs typeface="Microsoft JhengHei"/>
                          <a:ea typeface="Arial" pitchFamily="34" charset="-122"/>
                          <a:cs typeface="Arial" pitchFamily="34" charset="-120"/>
                        </a:rPr>
                        <a:t>主動送資料落地說明書，請機關審查同意（見下頁）</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05209"/>
                          </a:solidFill>
                          <a:latin typeface="Arial" pitchFamily="34" charset="0"/>
                          <a:ea typeface="Microsoft JhengHei"/>
                          <a:cs typeface="Microsoft JhengHei"/>
                          <a:ea typeface="Arial" pitchFamily="34" charset="-122"/>
                          <a:cs typeface="Arial" pitchFamily="34" charset="-120"/>
                        </a:rPr>
                        <a:t>請機關核</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CE9DC"/>
                    </a:solidFill>
                  </a:tcPr>
                </a:tc>
              </a:tr>
              <a:tr h="0">
                <a:tc>
                  <a:txBody>
                    <a:bodyPr/>
                    <a:lstStyle/>
                    <a:p>
                      <a:pPr algn="ctr" indent="0" marL="0">
                        <a:buNone/>
                      </a:pPr>
                      <a:r>
                        <a:rPr lang="en-US" sz="1000" dirty="0">
                          <a:solidFill>
                            <a:srgbClr val="7A8794"/>
                          </a:solidFill>
                          <a:latin typeface="Arial" pitchFamily="34" charset="0"/>
                          <a:ea typeface="Microsoft JhengHei"/>
                          <a:cs typeface="Microsoft JhengHei"/>
                          <a:ea typeface="Arial" pitchFamily="34" charset="-122"/>
                          <a:cs typeface="Arial" pitchFamily="34" charset="-120"/>
                        </a:rPr>
                        <a:t>10</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D2B39"/>
                          </a:solidFill>
                          <a:latin typeface="Arial" pitchFamily="34" charset="0"/>
                          <a:ea typeface="Microsoft JhengHei"/>
                          <a:cs typeface="Microsoft JhengHei"/>
                          <a:ea typeface="Arial" pitchFamily="34" charset="-122"/>
                          <a:cs typeface="Arial" pitchFamily="34" charset="-120"/>
                        </a:rPr>
                        <a:t>存取、備份、備援不得位於大陸地區（含港澳）</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B5480"/>
                          </a:solidFill>
                          <a:latin typeface="Arial" pitchFamily="34" charset="0"/>
                          <a:ea typeface="Microsoft JhengHei"/>
                          <a:cs typeface="Microsoft JhengHei"/>
                          <a:ea typeface="Arial" pitchFamily="34" charset="-122"/>
                          <a:cs typeface="Arial" pitchFamily="34" charset="-120"/>
                        </a:rPr>
                        <a:t>●</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E5F70"/>
                          </a:solidFill>
                          <a:latin typeface="Arial" pitchFamily="34" charset="0"/>
                          <a:ea typeface="Microsoft JhengHei"/>
                          <a:cs typeface="Microsoft JhengHei"/>
                          <a:ea typeface="Arial" pitchFamily="34" charset="-122"/>
                          <a:cs typeface="Arial" pitchFamily="34" charset="-120"/>
                        </a:rPr>
                        <a:t>完全不涉，寫入聲明書</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A7F4E"/>
                          </a:solidFill>
                          <a:latin typeface="Arial" pitchFamily="34" charset="0"/>
                          <a:ea typeface="Microsoft JhengHei"/>
                          <a:cs typeface="Microsoft JhengHei"/>
                          <a:ea typeface="Arial" pitchFamily="34" charset="-122"/>
                          <a:cs typeface="Arial" pitchFamily="34" charset="-120"/>
                        </a:rPr>
                        <a:t>乾淨</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1F1E9"/>
                    </a:solidFill>
                  </a:tcPr>
                </a:tc>
              </a:tr>
              <a:tr h="0">
                <a:tc>
                  <a:txBody>
                    <a:bodyPr/>
                    <a:lstStyle/>
                    <a:p>
                      <a:pPr algn="ctr" indent="0" marL="0">
                        <a:buNone/>
                      </a:pPr>
                      <a:r>
                        <a:rPr lang="en-US" sz="1000" dirty="0">
                          <a:solidFill>
                            <a:srgbClr val="7A8794"/>
                          </a:solidFill>
                          <a:latin typeface="Arial" pitchFamily="34" charset="0"/>
                          <a:ea typeface="Microsoft JhengHei"/>
                          <a:cs typeface="Microsoft JhengHei"/>
                          <a:ea typeface="Arial" pitchFamily="34" charset="-122"/>
                          <a:cs typeface="Arial" pitchFamily="34" charset="-120"/>
                        </a:rPr>
                        <a:t>11</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b="1" dirty="0">
                          <a:solidFill>
                            <a:srgbClr val="1D2B39"/>
                          </a:solidFill>
                          <a:latin typeface="Arial" pitchFamily="34" charset="0"/>
                          <a:ea typeface="Microsoft JhengHei"/>
                          <a:cs typeface="Microsoft JhengHei"/>
                          <a:ea typeface="Arial" pitchFamily="34" charset="-122"/>
                          <a:cs typeface="Arial" pitchFamily="34" charset="-120"/>
                        </a:rPr>
                        <a:t>虛擬主機映像檔安全</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B5480"/>
                          </a:solidFill>
                          <a:latin typeface="Arial" pitchFamily="34" charset="0"/>
                          <a:ea typeface="Microsoft JhengHei"/>
                          <a:cs typeface="Microsoft JhengHei"/>
                          <a:ea typeface="Arial" pitchFamily="34" charset="-122"/>
                          <a:cs typeface="Arial" pitchFamily="34" charset="-120"/>
                        </a:rPr>
                        <a:t>◎</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4E5F70"/>
                          </a:solidFill>
                          <a:latin typeface="Arial" pitchFamily="34" charset="0"/>
                          <a:ea typeface="Microsoft JhengHei"/>
                          <a:cs typeface="Microsoft JhengHei"/>
                          <a:ea typeface="Arial" pitchFamily="34" charset="-122"/>
                          <a:cs typeface="Arial" pitchFamily="34" charset="-120"/>
                        </a:rPr>
                        <a:t>本服務為 SaaS，不提供虛擬主機予機關</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7A8794"/>
                          </a:solidFill>
                          <a:latin typeface="Arial" pitchFamily="34" charset="0"/>
                          <a:ea typeface="Microsoft JhengHei"/>
                          <a:cs typeface="Microsoft JhengHei"/>
                          <a:ea typeface="Arial" pitchFamily="34" charset="-122"/>
                          <a:cs typeface="Arial" pitchFamily="34" charset="-120"/>
                        </a:rPr>
                        <a:t>不適用</a:t>
                      </a:r>
                      <a:endParaRPr lang="en-US" sz="1000" dirty="0">
                        <a:latin typeface="Arial" charset="0"/>
                        <a:ea typeface="Microsoft JhengHei"/>
                        <a:cs typeface="Microsoft JhengHei"/>
                        <a:ea typeface="Arial" charset="0"/>
                        <a:cs typeface="Arial" charset="0"/>
                      </a:endParaRPr>
                    </a:p>
                  </a:txBody>
                  <a:tcPr marL="127000" marR="127000" marT="76200" marB="762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3E9E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貳 · 資安</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13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C05209"/>
                </a:solidFill>
                <a:latin typeface="Arial" pitchFamily="34" charset="0"/>
                <a:ea typeface="Microsoft JhengHei"/>
                <a:cs typeface="Microsoft JhengHei"/>
                <a:ea typeface="Arial" pitchFamily="34" charset="-122"/>
                <a:cs typeface="Arial" pitchFamily="34" charset="-120"/>
              </a:rPr>
              <a:t>最關鍵的一題</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3100" b="1" dirty="0">
                <a:solidFill>
                  <a:srgbClr val="1D2B39"/>
                </a:solidFill>
                <a:latin typeface="Arial" pitchFamily="34" charset="0"/>
                <a:ea typeface="Microsoft JhengHei"/>
                <a:cs typeface="Microsoft JhengHei"/>
                <a:ea typeface="Arial" pitchFamily="34" charset="-122"/>
                <a:cs typeface="Arial" pitchFamily="34" charset="-120"/>
              </a:rPr>
              <a:t>境外不是禁止，是「經機關審查同意」。</a:t>
            </a:r>
            <a:endParaRPr lang="en-US" sz="3100" dirty="0"/>
          </a:p>
        </p:txBody>
      </p:sp>
      <p:sp>
        <p:nvSpPr>
          <p:cNvPr id="6" name="Text 4"/>
          <p:cNvSpPr/>
          <p:nvPr/>
        </p:nvSpPr>
        <p:spPr>
          <a:xfrm>
            <a:off x="658368" y="1481328"/>
            <a:ext cx="10874959" cy="292608"/>
          </a:xfrm>
          <a:prstGeom prst="rect">
            <a:avLst/>
          </a:prstGeom>
          <a:noFill/>
          <a:ln/>
        </p:spPr>
        <p:txBody>
          <a:bodyPr wrap="square" lIns="0" tIns="0" rIns="0" bIns="0" rtlCol="0" anchor="ctr"/>
          <a:lstStyle/>
          <a:p>
            <a:pPr indent="0" marL="0">
              <a:buNone/>
            </a:pPr>
            <a:r>
              <a:rPr lang="en-US" sz="1300" dirty="0">
                <a:solidFill>
                  <a:srgbClr val="4E5F70"/>
                </a:solidFill>
                <a:latin typeface="Arial" pitchFamily="34" charset="0"/>
                <a:ea typeface="Microsoft JhengHei"/>
                <a:cs typeface="Microsoft JhengHei"/>
                <a:ea typeface="Arial" pitchFamily="34" charset="-122"/>
                <a:cs typeface="Arial" pitchFamily="34" charset="-120"/>
              </a:rPr>
              <a:t>一覽表資料安全欄兩條的措辭刻意寫得不一樣——</a:t>
            </a:r>
            <a:pPr indent="0" marL="0">
              <a:buNone/>
            </a:pPr>
            <a:r>
              <a:rPr lang="en-US" sz="1300" b="1" dirty="0">
                <a:solidFill>
                  <a:srgbClr val="C05209"/>
                </a:solidFill>
                <a:latin typeface="Arial" pitchFamily="34" charset="0"/>
                <a:ea typeface="Microsoft JhengHei"/>
                <a:cs typeface="Microsoft JhengHei"/>
                <a:ea typeface="Arial" pitchFamily="34" charset="-122"/>
                <a:cs typeface="Arial" pitchFamily="34" charset="-120"/>
              </a:rPr>
              <a:t>這個對比是整件事的關鍵。</a:t>
            </a:r>
            <a:endParaRPr lang="en-US" sz="1300" dirty="0"/>
          </a:p>
        </p:txBody>
      </p:sp>
      <p:sp>
        <p:nvSpPr>
          <p:cNvPr id="7" name="Shape 5"/>
          <p:cNvSpPr/>
          <p:nvPr/>
        </p:nvSpPr>
        <p:spPr>
          <a:xfrm>
            <a:off x="658368" y="1883664"/>
            <a:ext cx="5245456" cy="1371600"/>
          </a:xfrm>
          <a:prstGeom prst="roundRect">
            <a:avLst>
              <a:gd name="adj" fmla="val 2333"/>
            </a:avLst>
          </a:prstGeom>
          <a:solidFill>
            <a:srgbClr val="E4EDF5"/>
          </a:solidFill>
          <a:ln w="12700">
            <a:solidFill>
              <a:srgbClr val="E4EDF5"/>
            </a:solidFill>
            <a:prstDash val="solid"/>
          </a:ln>
        </p:spPr>
      </p:sp>
      <p:sp>
        <p:nvSpPr>
          <p:cNvPr id="8" name="Text 6"/>
          <p:cNvSpPr/>
          <p:nvPr/>
        </p:nvSpPr>
        <p:spPr>
          <a:xfrm>
            <a:off x="896112" y="2029968"/>
            <a:ext cx="466344" cy="237744"/>
          </a:xfrm>
          <a:prstGeom prst="roundRect">
            <a:avLst>
              <a:gd name="adj" fmla="val 11538"/>
            </a:avLst>
          </a:prstGeom>
          <a:solidFill>
            <a:srgbClr val="E3E9EF"/>
          </a:solidFill>
          <a:ln>
            <a:solidFill>
              <a:srgbClr val="E3E9EF"/>
            </a:solidFill>
          </a:ln>
        </p:spPr>
        <p:txBody>
          <a:bodyPr wrap="square" lIns="0" tIns="0" rIns="0" bIns="0" rtlCol="0" anchor="ctr"/>
          <a:lstStyle/>
          <a:p>
            <a:pPr algn="ctr" indent="0" marL="0">
              <a:buNone/>
            </a:pPr>
            <a:r>
              <a:rPr lang="en-US" sz="900" b="1" spc="60" kern="0" dirty="0">
                <a:solidFill>
                  <a:srgbClr val="7A8794"/>
                </a:solidFill>
                <a:latin typeface="Arial" pitchFamily="34" charset="0"/>
                <a:ea typeface="Microsoft JhengHei"/>
                <a:cs typeface="Microsoft JhengHei"/>
                <a:ea typeface="Arial" pitchFamily="34" charset="-122"/>
                <a:cs typeface="Arial" pitchFamily="34" charset="-120"/>
              </a:rPr>
              <a:t>境外</a:t>
            </a:r>
            <a:endParaRPr lang="en-US" sz="900" dirty="0"/>
          </a:p>
        </p:txBody>
      </p:sp>
      <p:sp>
        <p:nvSpPr>
          <p:cNvPr id="9" name="Text 7"/>
          <p:cNvSpPr/>
          <p:nvPr/>
        </p:nvSpPr>
        <p:spPr>
          <a:xfrm>
            <a:off x="896112" y="2340864"/>
            <a:ext cx="4769968" cy="457200"/>
          </a:xfrm>
          <a:prstGeom prst="rect">
            <a:avLst/>
          </a:prstGeom>
          <a:noFill/>
          <a:ln/>
        </p:spPr>
        <p:txBody>
          <a:bodyPr wrap="square" lIns="0" tIns="0" rIns="0" bIns="0" rtlCol="0" anchor="ctr"/>
          <a:lstStyle/>
          <a:p>
            <a:pPr indent="0" marL="0">
              <a:buNone/>
            </a:pPr>
            <a:r>
              <a:rPr lang="en-US" sz="1250" b="1" dirty="0">
                <a:solidFill>
                  <a:srgbClr val="1D2B39"/>
                </a:solidFill>
                <a:latin typeface="Arial" pitchFamily="34" charset="0"/>
                <a:ea typeface="Microsoft JhengHei"/>
                <a:cs typeface="Microsoft JhengHei"/>
                <a:ea typeface="Arial" pitchFamily="34" charset="-122"/>
                <a:cs typeface="Arial" pitchFamily="34" charset="-120"/>
              </a:rPr>
              <a:t>「未經機關審查同意，不得將雲端資訊系統或儲存資料移至本國以外地區」</a:t>
            </a:r>
            <a:endParaRPr lang="en-US" sz="1250" dirty="0"/>
          </a:p>
        </p:txBody>
      </p:sp>
      <p:sp>
        <p:nvSpPr>
          <p:cNvPr id="10" name="Text 8"/>
          <p:cNvSpPr/>
          <p:nvPr/>
        </p:nvSpPr>
        <p:spPr>
          <a:xfrm>
            <a:off x="896112" y="2825496"/>
            <a:ext cx="4769968" cy="310896"/>
          </a:xfrm>
          <a:prstGeom prst="rect">
            <a:avLst/>
          </a:prstGeom>
          <a:noFill/>
          <a:ln/>
        </p:spPr>
        <p:txBody>
          <a:bodyPr wrap="square" lIns="0" tIns="0" rIns="0" bIns="0" rtlCol="0" anchor="ctr"/>
          <a:lstStyle/>
          <a:p>
            <a:pPr indent="0" marL="0">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 經審查同意就可以。要做的不是搬回校內，是備齊材料請機關審查。</a:t>
            </a:r>
            <a:endParaRPr lang="en-US" sz="1100" dirty="0"/>
          </a:p>
        </p:txBody>
      </p:sp>
      <p:sp>
        <p:nvSpPr>
          <p:cNvPr id="11" name="Shape 9"/>
          <p:cNvSpPr/>
          <p:nvPr/>
        </p:nvSpPr>
        <p:spPr>
          <a:xfrm>
            <a:off x="6287872" y="1883664"/>
            <a:ext cx="5245456" cy="1371600"/>
          </a:xfrm>
          <a:prstGeom prst="roundRect">
            <a:avLst>
              <a:gd name="adj" fmla="val 2333"/>
            </a:avLst>
          </a:prstGeom>
          <a:solidFill>
            <a:srgbClr val="FCE9DC"/>
          </a:solidFill>
          <a:ln w="12700">
            <a:solidFill>
              <a:srgbClr val="FCE9DC"/>
            </a:solidFill>
            <a:prstDash val="solid"/>
          </a:ln>
        </p:spPr>
      </p:sp>
      <p:sp>
        <p:nvSpPr>
          <p:cNvPr id="12" name="Text 10"/>
          <p:cNvSpPr/>
          <p:nvPr/>
        </p:nvSpPr>
        <p:spPr>
          <a:xfrm>
            <a:off x="6525616" y="2029968"/>
            <a:ext cx="694944" cy="237744"/>
          </a:xfrm>
          <a:prstGeom prst="roundRect">
            <a:avLst>
              <a:gd name="adj" fmla="val 11538"/>
            </a:avLst>
          </a:prstGeom>
          <a:solidFill>
            <a:srgbClr val="E3E9EF"/>
          </a:solidFill>
          <a:ln>
            <a:solidFill>
              <a:srgbClr val="E3E9EF"/>
            </a:solidFill>
          </a:ln>
        </p:spPr>
        <p:txBody>
          <a:bodyPr wrap="square" lIns="0" tIns="0" rIns="0" bIns="0" rtlCol="0" anchor="ctr"/>
          <a:lstStyle/>
          <a:p>
            <a:pPr algn="ctr" indent="0" marL="0">
              <a:buNone/>
            </a:pPr>
            <a:r>
              <a:rPr lang="en-US" sz="900" b="1" spc="60" kern="0" dirty="0">
                <a:solidFill>
                  <a:srgbClr val="7A8794"/>
                </a:solidFill>
                <a:latin typeface="Arial" pitchFamily="34" charset="0"/>
                <a:ea typeface="Microsoft JhengHei"/>
                <a:cs typeface="Microsoft JhengHei"/>
                <a:ea typeface="Arial" pitchFamily="34" charset="-122"/>
                <a:cs typeface="Arial" pitchFamily="34" charset="-120"/>
              </a:rPr>
              <a:t>大陸地區</a:t>
            </a:r>
            <a:endParaRPr lang="en-US" sz="900" dirty="0"/>
          </a:p>
        </p:txBody>
      </p:sp>
      <p:sp>
        <p:nvSpPr>
          <p:cNvPr id="13" name="Text 11"/>
          <p:cNvSpPr/>
          <p:nvPr/>
        </p:nvSpPr>
        <p:spPr>
          <a:xfrm>
            <a:off x="6525616" y="2340864"/>
            <a:ext cx="4769968" cy="457200"/>
          </a:xfrm>
          <a:prstGeom prst="rect">
            <a:avLst/>
          </a:prstGeom>
          <a:noFill/>
          <a:ln/>
        </p:spPr>
        <p:txBody>
          <a:bodyPr wrap="square" lIns="0" tIns="0" rIns="0" bIns="0" rtlCol="0" anchor="ctr"/>
          <a:lstStyle/>
          <a:p>
            <a:pPr indent="0" marL="0">
              <a:buNone/>
            </a:pPr>
            <a:r>
              <a:rPr lang="en-US" sz="1250" b="1" dirty="0">
                <a:solidFill>
                  <a:srgbClr val="1D2B39"/>
                </a:solidFill>
                <a:latin typeface="Arial" pitchFamily="34" charset="0"/>
                <a:ea typeface="Microsoft JhengHei"/>
                <a:cs typeface="Microsoft JhengHei"/>
                <a:ea typeface="Arial" pitchFamily="34" charset="-122"/>
                <a:cs typeface="Arial" pitchFamily="34" charset="-120"/>
              </a:rPr>
              <a:t>存取、備份及備援之實體所在地「不得」位於大陸地區（含港澳），且不得跨該等境內傳輸</a:t>
            </a:r>
            <a:endParaRPr lang="en-US" sz="1250" dirty="0"/>
          </a:p>
        </p:txBody>
      </p:sp>
      <p:sp>
        <p:nvSpPr>
          <p:cNvPr id="14" name="Text 12"/>
          <p:cNvSpPr/>
          <p:nvPr/>
        </p:nvSpPr>
        <p:spPr>
          <a:xfrm>
            <a:off x="6525616" y="2825496"/>
            <a:ext cx="4769968" cy="310896"/>
          </a:xfrm>
          <a:prstGeom prst="rect">
            <a:avLst/>
          </a:prstGeom>
          <a:noFill/>
          <a:ln/>
        </p:spPr>
        <p:txBody>
          <a:bodyPr wrap="square" lIns="0" tIns="0" rIns="0" bIns="0" rtlCol="0" anchor="ctr"/>
          <a:lstStyle/>
          <a:p>
            <a:pPr indent="0" marL="0">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 絕對禁止、無例外。本服務完全不涉。</a:t>
            </a:r>
            <a:endParaRPr lang="en-US" sz="1100" dirty="0"/>
          </a:p>
        </p:txBody>
      </p:sp>
      <p:sp>
        <p:nvSpPr>
          <p:cNvPr id="15" name="Shape 13"/>
          <p:cNvSpPr/>
          <p:nvPr/>
        </p:nvSpPr>
        <p:spPr>
          <a:xfrm>
            <a:off x="658368" y="3493008"/>
            <a:ext cx="5245456" cy="1874520"/>
          </a:xfrm>
          <a:prstGeom prst="roundRect">
            <a:avLst>
              <a:gd name="adj" fmla="val 1707"/>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6" name="Text 14"/>
          <p:cNvSpPr/>
          <p:nvPr/>
        </p:nvSpPr>
        <p:spPr>
          <a:xfrm>
            <a:off x="896112" y="3639312"/>
            <a:ext cx="4769968" cy="274320"/>
          </a:xfrm>
          <a:prstGeom prst="rect">
            <a:avLst/>
          </a:prstGeom>
          <a:noFill/>
          <a:ln/>
        </p:spPr>
        <p:txBody>
          <a:bodyPr wrap="square" lIns="0" tIns="0" rIns="0" bIns="0" rtlCol="0" anchor="ctr"/>
          <a:lstStyle/>
          <a:p>
            <a:pPr indent="0" marL="0">
              <a:buNone/>
            </a:pPr>
            <a:r>
              <a:rPr lang="en-US" sz="1450" b="1" dirty="0">
                <a:solidFill>
                  <a:srgbClr val="1D2B39"/>
                </a:solidFill>
                <a:latin typeface="Arial" pitchFamily="34" charset="0"/>
                <a:ea typeface="Microsoft JhengHei"/>
                <a:cs typeface="Microsoft JhengHei"/>
                <a:ea typeface="Arial" pitchFamily="34" charset="-122"/>
                <a:cs typeface="Arial" pitchFamily="34" charset="-120"/>
              </a:rPr>
              <a:t>本案的事實</a:t>
            </a:r>
            <a:endParaRPr lang="en-US" sz="1450" dirty="0"/>
          </a:p>
        </p:txBody>
      </p:sp>
      <p:sp>
        <p:nvSpPr>
          <p:cNvPr id="17" name="Text 15"/>
          <p:cNvSpPr/>
          <p:nvPr/>
        </p:nvSpPr>
        <p:spPr>
          <a:xfrm>
            <a:off x="896112" y="4005072"/>
            <a:ext cx="219456" cy="265176"/>
          </a:xfrm>
          <a:prstGeom prst="rect">
            <a:avLst/>
          </a:prstGeom>
          <a:noFill/>
          <a:ln/>
        </p:spPr>
        <p:txBody>
          <a:bodyPr wrap="square" lIns="0" tIns="0" rIns="0" bIns="0" rtlCol="0" anchor="ctr"/>
          <a:lstStyle/>
          <a:p>
            <a:pPr indent="0" marL="0">
              <a:buNone/>
            </a:pPr>
            <a:r>
              <a:rPr lang="en-US" sz="1050" b="1" dirty="0">
                <a:solidFill>
                  <a:srgbClr val="1A7F4E"/>
                </a:solidFill>
                <a:latin typeface="Arial" pitchFamily="34" charset="0"/>
                <a:ea typeface="Microsoft JhengHei"/>
                <a:cs typeface="Microsoft JhengHei"/>
                <a:ea typeface="Arial" pitchFamily="34" charset="-122"/>
                <a:cs typeface="Arial" pitchFamily="34" charset="-120"/>
              </a:rPr>
              <a:t>✓</a:t>
            </a:r>
            <a:endParaRPr lang="en-US" sz="1050" dirty="0"/>
          </a:p>
        </p:txBody>
      </p:sp>
      <p:sp>
        <p:nvSpPr>
          <p:cNvPr id="18" name="Text 16"/>
          <p:cNvSpPr/>
          <p:nvPr/>
        </p:nvSpPr>
        <p:spPr>
          <a:xfrm>
            <a:off x="1115568" y="4005072"/>
            <a:ext cx="4550512" cy="265176"/>
          </a:xfrm>
          <a:prstGeom prst="rect">
            <a:avLst/>
          </a:prstGeom>
          <a:noFill/>
          <a:ln/>
        </p:spPr>
        <p:txBody>
          <a:bodyPr wrap="square" lIns="0" tIns="0" rIns="0" bIns="0" rtlCol="0" anchor="ctr"/>
          <a:lstStyle/>
          <a:p>
            <a:pPr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資料庫位於日本；日本有完整個資保護法制（APPI）</a:t>
            </a:r>
            <a:endParaRPr lang="en-US" sz="1150" dirty="0"/>
          </a:p>
        </p:txBody>
      </p:sp>
      <p:sp>
        <p:nvSpPr>
          <p:cNvPr id="19" name="Text 17"/>
          <p:cNvSpPr/>
          <p:nvPr/>
        </p:nvSpPr>
        <p:spPr>
          <a:xfrm>
            <a:off x="896112" y="4270248"/>
            <a:ext cx="219456" cy="265176"/>
          </a:xfrm>
          <a:prstGeom prst="rect">
            <a:avLst/>
          </a:prstGeom>
          <a:noFill/>
          <a:ln/>
        </p:spPr>
        <p:txBody>
          <a:bodyPr wrap="square" lIns="0" tIns="0" rIns="0" bIns="0" rtlCol="0" anchor="ctr"/>
          <a:lstStyle/>
          <a:p>
            <a:pPr indent="0" marL="0">
              <a:buNone/>
            </a:pPr>
            <a:r>
              <a:rPr lang="en-US" sz="1050" b="1" dirty="0">
                <a:solidFill>
                  <a:srgbClr val="1A7F4E"/>
                </a:solidFill>
                <a:latin typeface="Arial" pitchFamily="34" charset="0"/>
                <a:ea typeface="Microsoft JhengHei"/>
                <a:cs typeface="Microsoft JhengHei"/>
                <a:ea typeface="Arial" pitchFamily="34" charset="-122"/>
                <a:cs typeface="Arial" pitchFamily="34" charset="-120"/>
              </a:rPr>
              <a:t>✓</a:t>
            </a:r>
            <a:endParaRPr lang="en-US" sz="1050" dirty="0"/>
          </a:p>
        </p:txBody>
      </p:sp>
      <p:sp>
        <p:nvSpPr>
          <p:cNvPr id="20" name="Text 18"/>
          <p:cNvSpPr/>
          <p:nvPr/>
        </p:nvSpPr>
        <p:spPr>
          <a:xfrm>
            <a:off x="1115568" y="4270248"/>
            <a:ext cx="4550512" cy="265176"/>
          </a:xfrm>
          <a:prstGeom prst="rect">
            <a:avLst/>
          </a:prstGeom>
          <a:noFill/>
          <a:ln/>
        </p:spPr>
        <p:txBody>
          <a:bodyPr wrap="square" lIns="0" tIns="0" rIns="0" bIns="0" rtlCol="0" anchor="ctr"/>
          <a:lstStyle/>
          <a:p>
            <a:pPr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不涉大陸地區（含港澳），第二條完全乾淨</a:t>
            </a:r>
            <a:endParaRPr lang="en-US" sz="1150" dirty="0"/>
          </a:p>
        </p:txBody>
      </p:sp>
      <p:sp>
        <p:nvSpPr>
          <p:cNvPr id="21" name="Text 19"/>
          <p:cNvSpPr/>
          <p:nvPr/>
        </p:nvSpPr>
        <p:spPr>
          <a:xfrm>
            <a:off x="896112" y="4535424"/>
            <a:ext cx="219456" cy="265176"/>
          </a:xfrm>
          <a:prstGeom prst="rect">
            <a:avLst/>
          </a:prstGeom>
          <a:noFill/>
          <a:ln/>
        </p:spPr>
        <p:txBody>
          <a:bodyPr wrap="square" lIns="0" tIns="0" rIns="0" bIns="0" rtlCol="0" anchor="ctr"/>
          <a:lstStyle/>
          <a:p>
            <a:pPr indent="0" marL="0">
              <a:buNone/>
            </a:pPr>
            <a:r>
              <a:rPr lang="en-US" sz="1050" b="1" dirty="0">
                <a:solidFill>
                  <a:srgbClr val="1A7F4E"/>
                </a:solidFill>
                <a:latin typeface="Arial" pitchFamily="34" charset="0"/>
                <a:ea typeface="Microsoft JhengHei"/>
                <a:cs typeface="Microsoft JhengHei"/>
                <a:ea typeface="Arial" pitchFamily="34" charset="-122"/>
                <a:cs typeface="Arial" pitchFamily="34" charset="-120"/>
              </a:rPr>
              <a:t>✓</a:t>
            </a:r>
            <a:endParaRPr lang="en-US" sz="1050" dirty="0"/>
          </a:p>
        </p:txBody>
      </p:sp>
      <p:sp>
        <p:nvSpPr>
          <p:cNvPr id="22" name="Text 20"/>
          <p:cNvSpPr/>
          <p:nvPr/>
        </p:nvSpPr>
        <p:spPr>
          <a:xfrm>
            <a:off x="1115568" y="4535424"/>
            <a:ext cx="4550512" cy="265176"/>
          </a:xfrm>
          <a:prstGeom prst="rect">
            <a:avLst/>
          </a:prstGeom>
          <a:noFill/>
          <a:ln/>
        </p:spPr>
        <p:txBody>
          <a:bodyPr wrap="square" lIns="0" tIns="0" rIns="0" bIns="0" rtlCol="0" anchor="ctr"/>
          <a:lstStyle/>
          <a:p>
            <a:pPr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AI 模組可整組關閉，關閉後不對外送任何內容</a:t>
            </a:r>
            <a:endParaRPr lang="en-US" sz="1150" dirty="0"/>
          </a:p>
        </p:txBody>
      </p:sp>
      <p:sp>
        <p:nvSpPr>
          <p:cNvPr id="23" name="Text 21"/>
          <p:cNvSpPr/>
          <p:nvPr/>
        </p:nvSpPr>
        <p:spPr>
          <a:xfrm>
            <a:off x="896112" y="4800600"/>
            <a:ext cx="219456" cy="265176"/>
          </a:xfrm>
          <a:prstGeom prst="rect">
            <a:avLst/>
          </a:prstGeom>
          <a:noFill/>
          <a:ln/>
        </p:spPr>
        <p:txBody>
          <a:bodyPr wrap="square" lIns="0" tIns="0" rIns="0" bIns="0" rtlCol="0" anchor="ctr"/>
          <a:lstStyle/>
          <a:p>
            <a:pPr indent="0" marL="0">
              <a:buNone/>
            </a:pPr>
            <a:r>
              <a:rPr lang="en-US" sz="1050" b="1" dirty="0">
                <a:solidFill>
                  <a:srgbClr val="1A7F4E"/>
                </a:solidFill>
                <a:latin typeface="Arial" pitchFamily="34" charset="0"/>
                <a:ea typeface="Microsoft JhengHei"/>
                <a:cs typeface="Microsoft JhengHei"/>
                <a:ea typeface="Arial" pitchFamily="34" charset="-122"/>
                <a:cs typeface="Arial" pitchFamily="34" charset="-120"/>
              </a:rPr>
              <a:t>✓</a:t>
            </a:r>
            <a:endParaRPr lang="en-US" sz="1050" dirty="0"/>
          </a:p>
        </p:txBody>
      </p:sp>
      <p:sp>
        <p:nvSpPr>
          <p:cNvPr id="24" name="Text 22"/>
          <p:cNvSpPr/>
          <p:nvPr/>
        </p:nvSpPr>
        <p:spPr>
          <a:xfrm>
            <a:off x="1115568" y="4800600"/>
            <a:ext cx="4550512" cy="265176"/>
          </a:xfrm>
          <a:prstGeom prst="rect">
            <a:avLst/>
          </a:prstGeom>
          <a:noFill/>
          <a:ln/>
        </p:spPr>
        <p:txBody>
          <a:bodyPr wrap="square" lIns="0" tIns="0" rIns="0" bIns="0" rtlCol="0" anchor="ctr"/>
          <a:lstStyle/>
          <a:p>
            <a:pPr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傳輸 TLS 1.2 以上、靜態加密；資料可完整匯出</a:t>
            </a:r>
            <a:endParaRPr lang="en-US" sz="1150" dirty="0"/>
          </a:p>
        </p:txBody>
      </p:sp>
      <p:sp>
        <p:nvSpPr>
          <p:cNvPr id="25" name="Shape 23"/>
          <p:cNvSpPr/>
          <p:nvPr/>
        </p:nvSpPr>
        <p:spPr>
          <a:xfrm>
            <a:off x="6287872" y="3493008"/>
            <a:ext cx="5245456" cy="1874520"/>
          </a:xfrm>
          <a:prstGeom prst="roundRect">
            <a:avLst>
              <a:gd name="adj" fmla="val 1707"/>
            </a:avLst>
          </a:prstGeom>
          <a:solidFill>
            <a:srgbClr val="E4EDF5"/>
          </a:solidFill>
          <a:ln w="12700">
            <a:solidFill>
              <a:srgbClr val="E4EDF5"/>
            </a:solidFill>
            <a:prstDash val="solid"/>
          </a:ln>
        </p:spPr>
      </p:sp>
      <p:sp>
        <p:nvSpPr>
          <p:cNvPr id="26" name="Text 24"/>
          <p:cNvSpPr/>
          <p:nvPr/>
        </p:nvSpPr>
        <p:spPr>
          <a:xfrm>
            <a:off x="6507328" y="3657600"/>
            <a:ext cx="4806544" cy="274320"/>
          </a:xfrm>
          <a:prstGeom prst="rect">
            <a:avLst/>
          </a:prstGeom>
          <a:noFill/>
          <a:ln/>
        </p:spPr>
        <p:txBody>
          <a:bodyPr wrap="square" lIns="0" tIns="0" rIns="0" bIns="0" rtlCol="0" anchor="ctr"/>
          <a:lstStyle/>
          <a:p>
            <a:pPr indent="0" marL="0">
              <a:buNone/>
            </a:pPr>
            <a:r>
              <a:rPr lang="en-US" sz="1450" b="1" dirty="0">
                <a:solidFill>
                  <a:srgbClr val="1D2B39"/>
                </a:solidFill>
                <a:latin typeface="Arial" pitchFamily="34" charset="0"/>
                <a:ea typeface="Microsoft JhengHei"/>
                <a:cs typeface="Microsoft JhengHei"/>
                <a:ea typeface="Arial" pitchFamily="34" charset="-122"/>
                <a:cs typeface="Arial" pitchFamily="34" charset="-120"/>
              </a:rPr>
              <a:t>可參照的校內先例</a:t>
            </a:r>
            <a:endParaRPr lang="en-US" sz="1450" dirty="0"/>
          </a:p>
        </p:txBody>
      </p:sp>
      <p:sp>
        <p:nvSpPr>
          <p:cNvPr id="27" name="Text 25"/>
          <p:cNvSpPr/>
          <p:nvPr/>
        </p:nvSpPr>
        <p:spPr>
          <a:xfrm>
            <a:off x="6507328" y="4005072"/>
            <a:ext cx="4806544" cy="1216152"/>
          </a:xfrm>
          <a:prstGeom prst="rect">
            <a:avLst/>
          </a:prstGeom>
          <a:noFill/>
          <a:ln/>
        </p:spPr>
        <p:txBody>
          <a:bodyPr wrap="square" lIns="0" tIns="0" rIns="0" bIns="0" rtlCol="0" anchor="t"/>
          <a:lstStyle/>
          <a:p>
            <a:pPr indent="0" marL="0">
              <a:lnSpc>
                <a:spcPts val="1656"/>
              </a:lnSpc>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貴校自 112 年 12 月 1 日起全校實施 Office 365 A3（電子計算機中心公告），教職員信箱、行事曆與雲端硬碟均位於境外雲端。</a:t>
            </a:r>
            <a:endParaRPr lang="en-US" sz="1150" dirty="0"/>
          </a:p>
          <a:p>
            <a:pPr indent="0" marL="0">
              <a:lnSpc>
                <a:spcPts val="1656"/>
              </a:lnSpc>
              <a:buNone/>
            </a:pPr>
            <a:endParaRPr lang="en-US" sz="1150" dirty="0"/>
          </a:p>
          <a:p>
            <a:pPr indent="0" marL="0">
              <a:lnSpc>
                <a:spcPts val="1656"/>
              </a:lnSpc>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想請教貴校當時審查同意的作業方式，我方比照相同規格備妥文件即可。</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貳 · 資安</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14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C05209"/>
                </a:solidFill>
                <a:latin typeface="Arial" pitchFamily="34" charset="0"/>
                <a:ea typeface="Microsoft JhengHei"/>
                <a:cs typeface="Microsoft JhengHei"/>
                <a:ea typeface="Arial" pitchFamily="34" charset="-122"/>
                <a:cs typeface="Arial" pitchFamily="34" charset="-120"/>
              </a:rPr>
              <a:t>常被問到的三題</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3100" b="1" dirty="0">
                <a:solidFill>
                  <a:srgbClr val="1D2B39"/>
                </a:solidFill>
                <a:latin typeface="Arial" pitchFamily="34" charset="0"/>
                <a:ea typeface="Microsoft JhengHei"/>
                <a:cs typeface="Microsoft JhengHei"/>
                <a:ea typeface="Arial" pitchFamily="34" charset="-122"/>
                <a:cs typeface="Arial" pitchFamily="34" charset="-120"/>
              </a:rPr>
              <a:t>ISO 是「或」，第三方檢測有門檻。</a:t>
            </a:r>
            <a:endParaRPr lang="en-US" sz="3100" dirty="0"/>
          </a:p>
        </p:txBody>
      </p:sp>
      <p:sp>
        <p:nvSpPr>
          <p:cNvPr id="6" name="Shape 4"/>
          <p:cNvSpPr/>
          <p:nvPr/>
        </p:nvSpPr>
        <p:spPr>
          <a:xfrm>
            <a:off x="658368" y="1591056"/>
            <a:ext cx="3368954" cy="2377440"/>
          </a:xfrm>
          <a:prstGeom prst="roundRect">
            <a:avLst>
              <a:gd name="adj" fmla="val 1346"/>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7" name="Text 5"/>
          <p:cNvSpPr/>
          <p:nvPr/>
        </p:nvSpPr>
        <p:spPr>
          <a:xfrm>
            <a:off x="877824" y="1755648"/>
            <a:ext cx="2930042"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沒有 ISO 27001 可以嗎？</a:t>
            </a:r>
            <a:endParaRPr lang="en-US" sz="1500" dirty="0"/>
          </a:p>
        </p:txBody>
      </p:sp>
      <p:sp>
        <p:nvSpPr>
          <p:cNvPr id="8" name="Text 6"/>
          <p:cNvSpPr/>
          <p:nvPr/>
        </p:nvSpPr>
        <p:spPr>
          <a:xfrm>
            <a:off x="877824" y="2103120"/>
            <a:ext cx="2930042" cy="1719072"/>
          </a:xfrm>
          <a:prstGeom prst="rect">
            <a:avLst/>
          </a:prstGeom>
          <a:noFill/>
          <a:ln/>
        </p:spPr>
        <p:txBody>
          <a:bodyPr wrap="square" lIns="0" tIns="0" rIns="0" bIns="0" rtlCol="0" anchor="t"/>
          <a:lstStyle/>
          <a:p>
            <a:pPr indent="0" marL="0">
              <a:lnSpc>
                <a:spcPts val="1656"/>
              </a:lnSpc>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一覽表原文：「須具備完善資通安全管理措施或通過 CNS 27001 或 ISO 27001 等標準、其他具有同等或以上效果之系統或標準」。關鍵是「或」。本案走前者，提供逐項的符合性對照表為佐證。</a:t>
            </a:r>
            <a:endParaRPr lang="en-US" sz="1150" dirty="0"/>
          </a:p>
        </p:txBody>
      </p:sp>
      <p:sp>
        <p:nvSpPr>
          <p:cNvPr id="9" name="Shape 7"/>
          <p:cNvSpPr/>
          <p:nvPr/>
        </p:nvSpPr>
        <p:spPr>
          <a:xfrm>
            <a:off x="4411370" y="1591056"/>
            <a:ext cx="3368954" cy="2377440"/>
          </a:xfrm>
          <a:prstGeom prst="roundRect">
            <a:avLst>
              <a:gd name="adj" fmla="val 1346"/>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0" name="Text 8"/>
          <p:cNvSpPr/>
          <p:nvPr/>
        </p:nvSpPr>
        <p:spPr>
          <a:xfrm>
            <a:off x="4630826" y="1755648"/>
            <a:ext cx="2930042"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要不要第三方安全性檢測？</a:t>
            </a:r>
            <a:endParaRPr lang="en-US" sz="1500" dirty="0"/>
          </a:p>
        </p:txBody>
      </p:sp>
      <p:sp>
        <p:nvSpPr>
          <p:cNvPr id="11" name="Text 9"/>
          <p:cNvSpPr/>
          <p:nvPr/>
        </p:nvSpPr>
        <p:spPr>
          <a:xfrm>
            <a:off x="4630826" y="2103120"/>
            <a:ext cx="2930042" cy="1719072"/>
          </a:xfrm>
          <a:prstGeom prst="rect">
            <a:avLst/>
          </a:prstGeom>
          <a:noFill/>
          <a:ln/>
        </p:spPr>
        <p:txBody>
          <a:bodyPr wrap="square" lIns="0" tIns="0" rIns="0" bIns="0" rtlCol="0" anchor="t"/>
          <a:lstStyle/>
          <a:p>
            <a:pPr indent="0" marL="0">
              <a:lnSpc>
                <a:spcPts val="1656"/>
              </a:lnSpc>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一覽表說明欄：屬機關核心資通系統，或委託金額達新臺幣一千萬元以上者，機關應自行或另行委託第三方檢測。本案兩者皆不是，不適用；改以我方提供的弱點掃描報告佐證。</a:t>
            </a:r>
            <a:endParaRPr lang="en-US" sz="1150" dirty="0"/>
          </a:p>
        </p:txBody>
      </p:sp>
      <p:sp>
        <p:nvSpPr>
          <p:cNvPr id="12" name="Shape 10"/>
          <p:cNvSpPr/>
          <p:nvPr/>
        </p:nvSpPr>
        <p:spPr>
          <a:xfrm>
            <a:off x="8164373" y="1591056"/>
            <a:ext cx="3368954" cy="2377440"/>
          </a:xfrm>
          <a:prstGeom prst="roundRect">
            <a:avLst>
              <a:gd name="adj" fmla="val 1346"/>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3" name="Text 11"/>
          <p:cNvSpPr/>
          <p:nvPr/>
        </p:nvSpPr>
        <p:spPr>
          <a:xfrm>
            <a:off x="8383829" y="1755648"/>
            <a:ext cx="2930042"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萬一有一項真的做不到？</a:t>
            </a:r>
            <a:endParaRPr lang="en-US" sz="1500" dirty="0"/>
          </a:p>
        </p:txBody>
      </p:sp>
      <p:sp>
        <p:nvSpPr>
          <p:cNvPr id="14" name="Text 12"/>
          <p:cNvSpPr/>
          <p:nvPr/>
        </p:nvSpPr>
        <p:spPr>
          <a:xfrm>
            <a:off x="8383829" y="2103120"/>
            <a:ext cx="2930042" cy="1719072"/>
          </a:xfrm>
          <a:prstGeom prst="rect">
            <a:avLst/>
          </a:prstGeom>
          <a:noFill/>
          <a:ln/>
        </p:spPr>
        <p:txBody>
          <a:bodyPr wrap="square" lIns="0" tIns="0" rIns="0" bIns="0" rtlCol="0" anchor="t"/>
          <a:lstStyle/>
          <a:p>
            <a:pPr indent="0" marL="0">
              <a:lnSpc>
                <a:spcPts val="1656"/>
              </a:lnSpc>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一覽表「供應商及產品安全要求」欄原文開頭即載明：「…提出佐證資料，若無符合條件者提請機關資安長確認風險」。制度設計的出口是風險確認，不是廢標。</a:t>
            </a:r>
            <a:endParaRPr lang="en-US" sz="1150" dirty="0"/>
          </a:p>
        </p:txBody>
      </p:sp>
      <p:sp>
        <p:nvSpPr>
          <p:cNvPr id="15" name="Shape 13"/>
          <p:cNvSpPr/>
          <p:nvPr/>
        </p:nvSpPr>
        <p:spPr>
          <a:xfrm>
            <a:off x="658368" y="4242816"/>
            <a:ext cx="10874959" cy="914400"/>
          </a:xfrm>
          <a:prstGeom prst="roundRect">
            <a:avLst>
              <a:gd name="adj" fmla="val 3500"/>
            </a:avLst>
          </a:prstGeom>
          <a:solidFill>
            <a:srgbClr val="E4EDF5"/>
          </a:solidFill>
          <a:ln w="12700">
            <a:solidFill>
              <a:srgbClr val="E4EDF5"/>
            </a:solidFill>
            <a:prstDash val="solid"/>
          </a:ln>
        </p:spPr>
      </p:sp>
      <p:sp>
        <p:nvSpPr>
          <p:cNvPr id="16" name="Text 14"/>
          <p:cNvSpPr/>
          <p:nvPr/>
        </p:nvSpPr>
        <p:spPr>
          <a:xfrm>
            <a:off x="932688" y="4242816"/>
            <a:ext cx="10326319" cy="914400"/>
          </a:xfrm>
          <a:prstGeom prst="rect">
            <a:avLst/>
          </a:prstGeom>
          <a:noFill/>
          <a:ln/>
        </p:spPr>
        <p:txBody>
          <a:bodyPr wrap="square" lIns="0" tIns="0" rIns="0" bIns="0" rtlCol="0" anchor="ctr"/>
          <a:lstStyle/>
          <a:p>
            <a:pPr indent="0" marL="0">
              <a:lnSpc>
                <a:spcPts val="1900"/>
              </a:lnSpc>
              <a:buNone/>
            </a:pPr>
            <a:r>
              <a:rPr lang="en-US" sz="1250" dirty="0">
                <a:solidFill>
                  <a:srgbClr val="4E5F70"/>
                </a:solidFill>
                <a:latin typeface="Arial" pitchFamily="34" charset="0"/>
                <a:ea typeface="Microsoft JhengHei"/>
                <a:cs typeface="Microsoft JhengHei"/>
                <a:ea typeface="Arial" pitchFamily="34" charset="-122"/>
                <a:cs typeface="Arial" pitchFamily="34" charset="-120"/>
              </a:rPr>
              <a:t>另一個結構性事實：</a:t>
            </a:r>
            <a:pPr indent="0" marL="0">
              <a:lnSpc>
                <a:spcPts val="1900"/>
              </a:lnSpc>
              <a:buNone/>
            </a:pPr>
            <a:r>
              <a:rPr lang="en-US" sz="1250" b="1" dirty="0">
                <a:solidFill>
                  <a:srgbClr val="1D2B39"/>
                </a:solidFill>
                <a:latin typeface="Arial" pitchFamily="34" charset="0"/>
                <a:ea typeface="Microsoft JhengHei"/>
                <a:cs typeface="Microsoft JhengHei"/>
                <a:ea typeface="Arial" pitchFamily="34" charset="-122"/>
                <a:cs typeface="Arial" pitchFamily="34" charset="-120"/>
              </a:rPr>
              <a:t>函文說明一寫明「由機關視個案特性將所列資安事項納入契約辦理」，且圖示 ●＝建議辦理。</a:t>
            </a:r>
            <a:pPr indent="0" marL="0">
              <a:lnSpc>
                <a:spcPts val="1900"/>
              </a:lnSpc>
              <a:buNone/>
            </a:pPr>
            <a:r>
              <a:rPr lang="en-US" sz="1250" dirty="0">
                <a:solidFill>
                  <a:srgbClr val="4E5F70"/>
                </a:solidFill>
                <a:latin typeface="Arial" pitchFamily="34" charset="0"/>
                <a:ea typeface="Microsoft JhengHei"/>
                <a:cs typeface="Microsoft JhengHei"/>
                <a:ea typeface="Arial" pitchFamily="34" charset="-122"/>
                <a:cs typeface="Arial" pitchFamily="34" charset="-120"/>
              </a:rPr>
              <a:t>這是「參考」一覽表，機關本就有裁量空間挑合理的子集。</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貳 · 資安</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15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C05209"/>
                </a:solidFill>
                <a:latin typeface="Arial" pitchFamily="34" charset="0"/>
                <a:ea typeface="Microsoft JhengHei"/>
                <a:cs typeface="Microsoft JhengHei"/>
                <a:ea typeface="Arial" pitchFamily="34" charset="-122"/>
                <a:cs typeface="Arial" pitchFamily="34" charset="-120"/>
              </a:rPr>
              <a:t>已完成的技術佐證</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3100" b="1" dirty="0">
                <a:solidFill>
                  <a:srgbClr val="1D2B39"/>
                </a:solidFill>
                <a:latin typeface="Arial" pitchFamily="34" charset="0"/>
                <a:ea typeface="Microsoft JhengHei"/>
                <a:cs typeface="Microsoft JhengHei"/>
                <a:ea typeface="Arial" pitchFamily="34" charset="-122"/>
                <a:cs typeface="Arial" pitchFamily="34" charset="-120"/>
              </a:rPr>
              <a:t>能拿出報告的，都已經跑完了。</a:t>
            </a:r>
            <a:endParaRPr lang="en-US" sz="3100" dirty="0"/>
          </a:p>
        </p:txBody>
      </p:sp>
      <p:sp>
        <p:nvSpPr>
          <p:cNvPr id="6" name="Shape 4"/>
          <p:cNvSpPr/>
          <p:nvPr/>
        </p:nvSpPr>
        <p:spPr>
          <a:xfrm>
            <a:off x="658368" y="1481328"/>
            <a:ext cx="3368954" cy="3246120"/>
          </a:xfrm>
          <a:prstGeom prst="roundRect">
            <a:avLst>
              <a:gd name="adj" fmla="val 986"/>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7" name="Text 5"/>
          <p:cNvSpPr/>
          <p:nvPr/>
        </p:nvSpPr>
        <p:spPr>
          <a:xfrm>
            <a:off x="896112" y="1645920"/>
            <a:ext cx="2893466" cy="640080"/>
          </a:xfrm>
          <a:prstGeom prst="rect">
            <a:avLst/>
          </a:prstGeom>
          <a:noFill/>
          <a:ln/>
        </p:spPr>
        <p:txBody>
          <a:bodyPr wrap="square" lIns="0" tIns="0" rIns="0" bIns="0" rtlCol="0" anchor="b"/>
          <a:lstStyle/>
          <a:p>
            <a:pPr indent="0" marL="0">
              <a:buNone/>
            </a:pPr>
            <a:r>
              <a:rPr lang="en-US" sz="4400" b="1" dirty="0">
                <a:solidFill>
                  <a:srgbClr val="1A7F4E"/>
                </a:solidFill>
                <a:latin typeface="Arial" pitchFamily="34" charset="0"/>
                <a:ea typeface="Microsoft JhengHei"/>
                <a:cs typeface="Microsoft JhengHei"/>
                <a:ea typeface="Arial" pitchFamily="34" charset="-122"/>
                <a:cs typeface="Arial" pitchFamily="34" charset="-120"/>
              </a:rPr>
              <a:t>0</a:t>
            </a:r>
            <a:endParaRPr lang="en-US" sz="4400" dirty="0"/>
          </a:p>
        </p:txBody>
      </p:sp>
      <p:sp>
        <p:nvSpPr>
          <p:cNvPr id="8" name="Text 6"/>
          <p:cNvSpPr/>
          <p:nvPr/>
        </p:nvSpPr>
        <p:spPr>
          <a:xfrm>
            <a:off x="896112" y="2304288"/>
            <a:ext cx="2893466" cy="237744"/>
          </a:xfrm>
          <a:prstGeom prst="rect">
            <a:avLst/>
          </a:prstGeom>
          <a:noFill/>
          <a:ln/>
        </p:spPr>
        <p:txBody>
          <a:bodyPr wrap="square" lIns="0" tIns="0" rIns="0" bIns="0" rtlCol="0" anchor="ctr"/>
          <a:lstStyle/>
          <a:p>
            <a:pPr indent="0" marL="0">
              <a:buNone/>
            </a:pPr>
            <a:r>
              <a:rPr lang="en-US" sz="950" b="1" spc="160" kern="0" dirty="0">
                <a:solidFill>
                  <a:srgbClr val="7A8794"/>
                </a:solidFill>
                <a:latin typeface="Arial" pitchFamily="34" charset="0"/>
                <a:ea typeface="Microsoft JhengHei"/>
                <a:cs typeface="Microsoft JhengHei"/>
                <a:ea typeface="Arial" pitchFamily="34" charset="-122"/>
                <a:cs typeface="Arial" pitchFamily="34" charset="-120"/>
              </a:rPr>
              <a:t>高風險弱點</a:t>
            </a:r>
            <a:endParaRPr lang="en-US" sz="950" dirty="0"/>
          </a:p>
        </p:txBody>
      </p:sp>
      <p:sp>
        <p:nvSpPr>
          <p:cNvPr id="9" name="Text 7"/>
          <p:cNvSpPr/>
          <p:nvPr/>
        </p:nvSpPr>
        <p:spPr>
          <a:xfrm>
            <a:off x="896112" y="2542032"/>
            <a:ext cx="2893466" cy="274320"/>
          </a:xfrm>
          <a:prstGeom prst="rect">
            <a:avLst/>
          </a:prstGeom>
          <a:noFill/>
          <a:ln/>
        </p:spPr>
        <p:txBody>
          <a:bodyPr wrap="square" lIns="0" tIns="0" rIns="0" bIns="0" rtlCol="0" anchor="ctr"/>
          <a:lstStyle/>
          <a:p>
            <a:pPr indent="0" marL="0">
              <a:buNone/>
            </a:pPr>
            <a:r>
              <a:rPr lang="en-US" sz="1450" b="1" dirty="0">
                <a:solidFill>
                  <a:srgbClr val="1D2B39"/>
                </a:solidFill>
                <a:latin typeface="Arial" pitchFamily="34" charset="0"/>
                <a:ea typeface="Microsoft JhengHei"/>
                <a:cs typeface="Microsoft JhengHei"/>
                <a:ea typeface="Arial" pitchFamily="34" charset="-122"/>
                <a:cs typeface="Arial" pitchFamily="34" charset="-120"/>
              </a:rPr>
              <a:t>弱點掃描報告</a:t>
            </a:r>
            <a:endParaRPr lang="en-US" sz="1450" dirty="0"/>
          </a:p>
        </p:txBody>
      </p:sp>
      <p:sp>
        <p:nvSpPr>
          <p:cNvPr id="10" name="Text 8"/>
          <p:cNvSpPr/>
          <p:nvPr/>
        </p:nvSpPr>
        <p:spPr>
          <a:xfrm>
            <a:off x="896112" y="2871216"/>
            <a:ext cx="2893466" cy="1737360"/>
          </a:xfrm>
          <a:prstGeom prst="rect">
            <a:avLst/>
          </a:prstGeom>
          <a:noFill/>
          <a:ln/>
        </p:spPr>
        <p:txBody>
          <a:bodyPr wrap="square" lIns="0" tIns="0" rIns="0" bIns="0" rtlCol="0" anchor="t"/>
          <a:lstStyle/>
          <a:p>
            <a:pPr indent="0" marL="0">
              <a:lnSpc>
                <a:spcPts val="1550"/>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OWASP ZAP baseline ＋ AJAX spider，受測標的為正式站。High 0、通過檢測項 60、警告 7 類（均為刻意設計、誤報或資訊性提示，逐項有處置說明）。</a:t>
            </a:r>
            <a:endParaRPr lang="en-US" sz="1100" dirty="0"/>
          </a:p>
          <a:p>
            <a:pPr indent="0" marL="0">
              <a:lnSpc>
                <a:spcPts val="1550"/>
              </a:lnSpc>
              <a:buNone/>
            </a:pPr>
            <a:endParaRPr lang="en-US" sz="1100" dirty="0"/>
          </a:p>
          <a:p>
            <a:pPr indent="0" marL="0">
              <a:lnSpc>
                <a:spcPts val="1550"/>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另附修補歷程：首次掃描警告 13 類，移轉主機並統一設定安全標頭後複測，7 類根因相同者全部消失（13→7、通過 54→60）。</a:t>
            </a:r>
            <a:endParaRPr lang="en-US" sz="1100" dirty="0"/>
          </a:p>
        </p:txBody>
      </p:sp>
      <p:sp>
        <p:nvSpPr>
          <p:cNvPr id="11" name="Shape 9"/>
          <p:cNvSpPr/>
          <p:nvPr/>
        </p:nvSpPr>
        <p:spPr>
          <a:xfrm>
            <a:off x="4411370" y="1481328"/>
            <a:ext cx="3368954" cy="3246120"/>
          </a:xfrm>
          <a:prstGeom prst="roundRect">
            <a:avLst>
              <a:gd name="adj" fmla="val 986"/>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2" name="Text 10"/>
          <p:cNvSpPr/>
          <p:nvPr/>
        </p:nvSpPr>
        <p:spPr>
          <a:xfrm>
            <a:off x="4649114" y="1645920"/>
            <a:ext cx="2893466" cy="640080"/>
          </a:xfrm>
          <a:prstGeom prst="rect">
            <a:avLst/>
          </a:prstGeom>
          <a:noFill/>
          <a:ln/>
        </p:spPr>
        <p:txBody>
          <a:bodyPr wrap="square" lIns="0" tIns="0" rIns="0" bIns="0" rtlCol="0" anchor="b"/>
          <a:lstStyle/>
          <a:p>
            <a:pPr indent="0" marL="0">
              <a:buNone/>
            </a:pPr>
            <a:r>
              <a:rPr lang="en-US" sz="4400" b="1" dirty="0">
                <a:solidFill>
                  <a:srgbClr val="1E5A85"/>
                </a:solidFill>
                <a:latin typeface="Arial" pitchFamily="34" charset="0"/>
                <a:ea typeface="Microsoft JhengHei"/>
                <a:cs typeface="Microsoft JhengHei"/>
                <a:ea typeface="Arial" pitchFamily="34" charset="-122"/>
                <a:cs typeface="Arial" pitchFamily="34" charset="-120"/>
              </a:rPr>
              <a:t>6</a:t>
            </a:r>
            <a:endParaRPr lang="en-US" sz="4400" dirty="0"/>
          </a:p>
        </p:txBody>
      </p:sp>
      <p:sp>
        <p:nvSpPr>
          <p:cNvPr id="13" name="Text 11"/>
          <p:cNvSpPr/>
          <p:nvPr/>
        </p:nvSpPr>
        <p:spPr>
          <a:xfrm>
            <a:off x="4649114" y="2304288"/>
            <a:ext cx="2893466" cy="237744"/>
          </a:xfrm>
          <a:prstGeom prst="rect">
            <a:avLst/>
          </a:prstGeom>
          <a:noFill/>
          <a:ln/>
        </p:spPr>
        <p:txBody>
          <a:bodyPr wrap="square" lIns="0" tIns="0" rIns="0" bIns="0" rtlCol="0" anchor="ctr"/>
          <a:lstStyle/>
          <a:p>
            <a:pPr indent="0" marL="0">
              <a:buNone/>
            </a:pPr>
            <a:r>
              <a:rPr lang="en-US" sz="950" b="1" spc="160" kern="0" dirty="0">
                <a:solidFill>
                  <a:srgbClr val="7A8794"/>
                </a:solidFill>
                <a:latin typeface="Arial" pitchFamily="34" charset="0"/>
                <a:ea typeface="Microsoft JhengHei"/>
                <a:cs typeface="Microsoft JhengHei"/>
                <a:ea typeface="Arial" pitchFamily="34" charset="-122"/>
                <a:cs typeface="Arial" pitchFamily="34" charset="-120"/>
              </a:rPr>
              <a:t>個月日誌留存</a:t>
            </a:r>
            <a:endParaRPr lang="en-US" sz="950" dirty="0"/>
          </a:p>
        </p:txBody>
      </p:sp>
      <p:sp>
        <p:nvSpPr>
          <p:cNvPr id="14" name="Text 12"/>
          <p:cNvSpPr/>
          <p:nvPr/>
        </p:nvSpPr>
        <p:spPr>
          <a:xfrm>
            <a:off x="4649114" y="2542032"/>
            <a:ext cx="2893466" cy="274320"/>
          </a:xfrm>
          <a:prstGeom prst="rect">
            <a:avLst/>
          </a:prstGeom>
          <a:noFill/>
          <a:ln/>
        </p:spPr>
        <p:txBody>
          <a:bodyPr wrap="square" lIns="0" tIns="0" rIns="0" bIns="0" rtlCol="0" anchor="ctr"/>
          <a:lstStyle/>
          <a:p>
            <a:pPr indent="0" marL="0">
              <a:buNone/>
            </a:pPr>
            <a:r>
              <a:rPr lang="en-US" sz="1450" b="1" dirty="0">
                <a:solidFill>
                  <a:srgbClr val="1D2B39"/>
                </a:solidFill>
                <a:latin typeface="Arial" pitchFamily="34" charset="0"/>
                <a:ea typeface="Microsoft JhengHei"/>
                <a:cs typeface="Microsoft JhengHei"/>
                <a:ea typeface="Arial" pitchFamily="34" charset="-122"/>
                <a:cs typeface="Arial" pitchFamily="34" charset="-120"/>
              </a:rPr>
              <a:t>事件日誌</a:t>
            </a:r>
            <a:endParaRPr lang="en-US" sz="1450" dirty="0"/>
          </a:p>
        </p:txBody>
      </p:sp>
      <p:sp>
        <p:nvSpPr>
          <p:cNvPr id="15" name="Text 13"/>
          <p:cNvSpPr/>
          <p:nvPr/>
        </p:nvSpPr>
        <p:spPr>
          <a:xfrm>
            <a:off x="4649114" y="2871216"/>
            <a:ext cx="2893466" cy="1737360"/>
          </a:xfrm>
          <a:prstGeom prst="rect">
            <a:avLst/>
          </a:prstGeom>
          <a:noFill/>
          <a:ln/>
        </p:spPr>
        <p:txBody>
          <a:bodyPr wrap="square" lIns="0" tIns="0" rIns="0" bIns="0" rtlCol="0" anchor="t"/>
          <a:lstStyle/>
          <a:p>
            <a:pPr indent="0" marL="0">
              <a:lnSpc>
                <a:spcPts val="1550"/>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一覽表明文列舉的六類全數入庫：帳號與權限變更、登入名稱、時間、IP 位址、資料存取、重要安全性事件。</a:t>
            </a:r>
            <a:endParaRPr lang="en-US" sz="1100" dirty="0"/>
          </a:p>
          <a:p>
            <a:pPr indent="0" marL="0">
              <a:lnSpc>
                <a:spcPts val="1550"/>
              </a:lnSpc>
              <a:buNone/>
            </a:pPr>
            <a:endParaRPr lang="en-US" sz="1100" dirty="0"/>
          </a:p>
          <a:p>
            <a:pPr indent="0" marL="0">
              <a:lnSpc>
                <a:spcPts val="1550"/>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IP 由伺服器端解析（前端不得傳入）；紀錄只增不改；無任何自動清除機制；專案刪除亦留痕。</a:t>
            </a:r>
            <a:endParaRPr lang="en-US" sz="1100" dirty="0"/>
          </a:p>
        </p:txBody>
      </p:sp>
      <p:sp>
        <p:nvSpPr>
          <p:cNvPr id="16" name="Shape 14"/>
          <p:cNvSpPr/>
          <p:nvPr/>
        </p:nvSpPr>
        <p:spPr>
          <a:xfrm>
            <a:off x="8164373" y="1481328"/>
            <a:ext cx="3368954" cy="3246120"/>
          </a:xfrm>
          <a:prstGeom prst="roundRect">
            <a:avLst>
              <a:gd name="adj" fmla="val 986"/>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7" name="Text 15"/>
          <p:cNvSpPr/>
          <p:nvPr/>
        </p:nvSpPr>
        <p:spPr>
          <a:xfrm>
            <a:off x="8402117" y="1645920"/>
            <a:ext cx="2893466" cy="640080"/>
          </a:xfrm>
          <a:prstGeom prst="rect">
            <a:avLst/>
          </a:prstGeom>
          <a:noFill/>
          <a:ln/>
        </p:spPr>
        <p:txBody>
          <a:bodyPr wrap="square" lIns="0" tIns="0" rIns="0" bIns="0" rtlCol="0" anchor="b"/>
          <a:lstStyle/>
          <a:p>
            <a:pPr indent="0" marL="0">
              <a:buNone/>
            </a:pPr>
            <a:r>
              <a:rPr lang="en-US" sz="4400" b="1" dirty="0">
                <a:solidFill>
                  <a:srgbClr val="1E5A85"/>
                </a:solidFill>
                <a:latin typeface="Arial" pitchFamily="34" charset="0"/>
                <a:ea typeface="Microsoft JhengHei"/>
                <a:cs typeface="Microsoft JhengHei"/>
                <a:ea typeface="Arial" pitchFamily="34" charset="-122"/>
                <a:cs typeface="Arial" pitchFamily="34" charset="-120"/>
              </a:rPr>
              <a:t>2</a:t>
            </a:r>
            <a:endParaRPr lang="en-US" sz="4400" dirty="0"/>
          </a:p>
        </p:txBody>
      </p:sp>
      <p:sp>
        <p:nvSpPr>
          <p:cNvPr id="18" name="Text 16"/>
          <p:cNvSpPr/>
          <p:nvPr/>
        </p:nvSpPr>
        <p:spPr>
          <a:xfrm>
            <a:off x="8402117" y="2304288"/>
            <a:ext cx="2893466" cy="237744"/>
          </a:xfrm>
          <a:prstGeom prst="rect">
            <a:avLst/>
          </a:prstGeom>
          <a:noFill/>
          <a:ln/>
        </p:spPr>
        <p:txBody>
          <a:bodyPr wrap="square" lIns="0" tIns="0" rIns="0" bIns="0" rtlCol="0" anchor="ctr"/>
          <a:lstStyle/>
          <a:p>
            <a:pPr indent="0" marL="0">
              <a:buNone/>
            </a:pPr>
            <a:r>
              <a:rPr lang="en-US" sz="950" b="1" spc="160" kern="0" dirty="0">
                <a:solidFill>
                  <a:srgbClr val="7A8794"/>
                </a:solidFill>
                <a:latin typeface="Arial" pitchFamily="34" charset="0"/>
                <a:ea typeface="Microsoft JhengHei"/>
                <a:cs typeface="Microsoft JhengHei"/>
                <a:ea typeface="Arial" pitchFamily="34" charset="-122"/>
                <a:cs typeface="Arial" pitchFamily="34" charset="-120"/>
              </a:rPr>
              <a:t>個公開回報入口</a:t>
            </a:r>
            <a:endParaRPr lang="en-US" sz="950" dirty="0"/>
          </a:p>
        </p:txBody>
      </p:sp>
      <p:sp>
        <p:nvSpPr>
          <p:cNvPr id="19" name="Text 17"/>
          <p:cNvSpPr/>
          <p:nvPr/>
        </p:nvSpPr>
        <p:spPr>
          <a:xfrm>
            <a:off x="8402117" y="2542032"/>
            <a:ext cx="2893466" cy="274320"/>
          </a:xfrm>
          <a:prstGeom prst="rect">
            <a:avLst/>
          </a:prstGeom>
          <a:noFill/>
          <a:ln/>
        </p:spPr>
        <p:txBody>
          <a:bodyPr wrap="square" lIns="0" tIns="0" rIns="0" bIns="0" rtlCol="0" anchor="ctr"/>
          <a:lstStyle/>
          <a:p>
            <a:pPr indent="0" marL="0">
              <a:buNone/>
            </a:pPr>
            <a:r>
              <a:rPr lang="en-US" sz="1450" b="1" dirty="0">
                <a:solidFill>
                  <a:srgbClr val="1D2B39"/>
                </a:solidFill>
                <a:latin typeface="Arial" pitchFamily="34" charset="0"/>
                <a:ea typeface="Microsoft JhengHei"/>
                <a:cs typeface="Microsoft JhengHei"/>
                <a:ea typeface="Arial" pitchFamily="34" charset="-122"/>
                <a:cs typeface="Arial" pitchFamily="34" charset="-120"/>
              </a:rPr>
              <a:t>漏洞回報應變機制</a:t>
            </a:r>
            <a:endParaRPr lang="en-US" sz="1450" dirty="0"/>
          </a:p>
        </p:txBody>
      </p:sp>
      <p:sp>
        <p:nvSpPr>
          <p:cNvPr id="20" name="Text 18"/>
          <p:cNvSpPr/>
          <p:nvPr/>
        </p:nvSpPr>
        <p:spPr>
          <a:xfrm>
            <a:off x="8402117" y="2871216"/>
            <a:ext cx="2893466" cy="1737360"/>
          </a:xfrm>
          <a:prstGeom prst="rect">
            <a:avLst/>
          </a:prstGeom>
          <a:noFill/>
          <a:ln/>
        </p:spPr>
        <p:txBody>
          <a:bodyPr wrap="square" lIns="0" tIns="0" rIns="0" bIns="0" rtlCol="0" anchor="t"/>
          <a:lstStyle/>
          <a:p>
            <a:pPr indent="0" marL="0">
              <a:lnSpc>
                <a:spcPts val="1550"/>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公開頁面（不需登入）＋ 依 RFC 9116 的 /.well-known/security.txt，並載明內部應變流程六步與聯絡信箱。</a:t>
            </a:r>
            <a:endParaRPr lang="en-US" sz="1100" dirty="0"/>
          </a:p>
          <a:p>
            <a:pPr indent="0" marL="0">
              <a:lnSpc>
                <a:spcPts val="1550"/>
              </a:lnSpc>
              <a:buNone/>
            </a:pPr>
            <a:endParaRPr lang="en-US" sz="1100" dirty="0"/>
          </a:p>
          <a:p>
            <a:pPr indent="0" marL="0">
              <a:lnSpc>
                <a:spcPts val="1550"/>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這一項滿足一覽表「供應商安全」的條件之一，不需要第三方檢測團隊。</a:t>
            </a:r>
            <a:endParaRPr lang="en-US" sz="1100" dirty="0"/>
          </a:p>
        </p:txBody>
      </p:sp>
      <p:sp>
        <p:nvSpPr>
          <p:cNvPr id="21" name="Text 19"/>
          <p:cNvSpPr/>
          <p:nvPr/>
        </p:nvSpPr>
        <p:spPr>
          <a:xfrm>
            <a:off x="658368" y="4937760"/>
            <a:ext cx="10874959" cy="274320"/>
          </a:xfrm>
          <a:prstGeom prst="rect">
            <a:avLst/>
          </a:prstGeom>
          <a:noFill/>
          <a:ln/>
        </p:spPr>
        <p:txBody>
          <a:bodyPr wrap="square" lIns="0" tIns="0" rIns="0" bIns="0" rtlCol="0" anchor="ctr"/>
          <a:lstStyle/>
          <a:p>
            <a:pPr indent="0" marL="0">
              <a:buNone/>
            </a:pPr>
            <a:r>
              <a:rPr lang="en-US" sz="1200" dirty="0">
                <a:solidFill>
                  <a:srgbClr val="7A8794"/>
                </a:solidFill>
                <a:latin typeface="Arial" pitchFamily="34" charset="0"/>
                <a:ea typeface="Microsoft JhengHei"/>
                <a:cs typeface="Microsoft JhengHei"/>
                <a:ea typeface="Arial" pitchFamily="34" charset="-122"/>
                <a:cs typeface="Arial" pitchFamily="34" charset="-120"/>
              </a:rPr>
              <a:t>一句話版本：</a:t>
            </a:r>
            <a:pPr indent="0" marL="0">
              <a:buNone/>
            </a:pPr>
            <a:r>
              <a:rPr lang="en-US" sz="1200" b="1" dirty="0">
                <a:solidFill>
                  <a:srgbClr val="1D2B39"/>
                </a:solidFill>
                <a:latin typeface="Arial" pitchFamily="34" charset="0"/>
                <a:ea typeface="Microsoft JhengHei"/>
                <a:cs typeface="Microsoft JhengHei"/>
                <a:ea typeface="Arial" pitchFamily="34" charset="-122"/>
                <a:cs typeface="Arial" pitchFamily="34" charset="-120"/>
              </a:rPr>
              <a:t>普級 11 項要求、High 0、日誌六個月</a:t>
            </a:r>
            <a:pPr indent="0" marL="0">
              <a:buNone/>
            </a:pPr>
            <a:r>
              <a:rPr lang="en-US" sz="1200" dirty="0">
                <a:solidFill>
                  <a:srgbClr val="7A8794"/>
                </a:solidFill>
                <a:latin typeface="Arial" pitchFamily="34" charset="0"/>
                <a:ea typeface="Microsoft JhengHei"/>
                <a:cs typeface="Microsoft JhengHei"/>
                <a:ea typeface="Arial" pitchFamily="34" charset="-122"/>
                <a:cs typeface="Arial" pitchFamily="34" charset="-120"/>
              </a:rPr>
              <a:t>——記住這三個數字就夠了。</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貳 · 資安</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16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C05209"/>
                </a:solidFill>
                <a:latin typeface="Arial" pitchFamily="34" charset="0"/>
                <a:ea typeface="Microsoft JhengHei"/>
                <a:cs typeface="Microsoft JhengHei"/>
                <a:ea typeface="Arial" pitchFamily="34" charset="-122"/>
                <a:cs typeface="Arial" pitchFamily="34" charset="-120"/>
              </a:rPr>
              <a:t>AI 會不會亂做決定</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3100" b="1" dirty="0">
                <a:solidFill>
                  <a:srgbClr val="1D2B39"/>
                </a:solidFill>
                <a:latin typeface="Arial" pitchFamily="34" charset="0"/>
                <a:ea typeface="Microsoft JhengHei"/>
                <a:cs typeface="Microsoft JhengHei"/>
                <a:ea typeface="Arial" pitchFamily="34" charset="-122"/>
                <a:cs typeface="Arial" pitchFamily="34" charset="-120"/>
              </a:rPr>
              <a:t>三條紅線，寫在架構裡，不是寫在簡報上。</a:t>
            </a:r>
            <a:endParaRPr lang="en-US" sz="3100" dirty="0"/>
          </a:p>
        </p:txBody>
      </p:sp>
      <p:sp>
        <p:nvSpPr>
          <p:cNvPr id="6" name="Shape 4"/>
          <p:cNvSpPr/>
          <p:nvPr/>
        </p:nvSpPr>
        <p:spPr>
          <a:xfrm>
            <a:off x="658368" y="1536192"/>
            <a:ext cx="41148" cy="841248"/>
          </a:xfrm>
          <a:prstGeom prst="rect">
            <a:avLst/>
          </a:prstGeom>
          <a:solidFill>
            <a:srgbClr val="E8630C"/>
          </a:solidFill>
          <a:ln w="12700">
            <a:solidFill>
              <a:srgbClr val="E8630C"/>
            </a:solidFill>
            <a:prstDash val="solid"/>
          </a:ln>
        </p:spPr>
      </p:sp>
      <p:sp>
        <p:nvSpPr>
          <p:cNvPr id="7" name="Text 5"/>
          <p:cNvSpPr/>
          <p:nvPr/>
        </p:nvSpPr>
        <p:spPr>
          <a:xfrm>
            <a:off x="932688" y="1481328"/>
            <a:ext cx="2743200" cy="219456"/>
          </a:xfrm>
          <a:prstGeom prst="rect">
            <a:avLst/>
          </a:prstGeom>
          <a:noFill/>
          <a:ln/>
        </p:spPr>
        <p:txBody>
          <a:bodyPr wrap="square" lIns="0" tIns="0" rIns="0" bIns="0" rtlCol="0" anchor="ctr"/>
          <a:lstStyle/>
          <a:p>
            <a:pPr indent="0" marL="0">
              <a:buNone/>
            </a:pPr>
            <a:r>
              <a:rPr lang="en-US" sz="950" b="1" spc="200" kern="0" dirty="0">
                <a:solidFill>
                  <a:srgbClr val="C05209"/>
                </a:solidFill>
                <a:latin typeface="Arial" pitchFamily="34" charset="0"/>
                <a:ea typeface="Microsoft JhengHei"/>
                <a:cs typeface="Microsoft JhengHei"/>
                <a:ea typeface="Arial" pitchFamily="34" charset="-122"/>
                <a:cs typeface="Arial" pitchFamily="34" charset="-120"/>
              </a:rPr>
              <a:t>紅線 01</a:t>
            </a:r>
            <a:endParaRPr lang="en-US" sz="950" dirty="0"/>
          </a:p>
        </p:txBody>
      </p:sp>
      <p:sp>
        <p:nvSpPr>
          <p:cNvPr id="8" name="Text 6"/>
          <p:cNvSpPr/>
          <p:nvPr/>
        </p:nvSpPr>
        <p:spPr>
          <a:xfrm>
            <a:off x="932688" y="1700784"/>
            <a:ext cx="4572000"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AI 只產生草稿</a:t>
            </a:r>
            <a:endParaRPr lang="en-US" sz="1500" dirty="0"/>
          </a:p>
        </p:txBody>
      </p:sp>
      <p:sp>
        <p:nvSpPr>
          <p:cNvPr id="9" name="Text 7"/>
          <p:cNvSpPr/>
          <p:nvPr/>
        </p:nvSpPr>
        <p:spPr>
          <a:xfrm>
            <a:off x="932688" y="1993392"/>
            <a:ext cx="10490911" cy="420624"/>
          </a:xfrm>
          <a:prstGeom prst="rect">
            <a:avLst/>
          </a:prstGeom>
          <a:noFill/>
          <a:ln/>
        </p:spPr>
        <p:txBody>
          <a:bodyPr wrap="square" lIns="0" tIns="0" rIns="0" bIns="0" rtlCol="0" anchor="t"/>
          <a:lstStyle/>
          <a:p>
            <a:pPr indent="0" marL="0">
              <a:lnSpc>
                <a:spcPts val="1600"/>
              </a:lnSpc>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核定、判定、結案、驗收、凍結——Agent 的工具箱裡根本沒有這些工具。這是工具白名單保證的，不是靠提示詞叮嚀它。狀態轉移一律走資料庫層規則加上人簽核。</a:t>
            </a:r>
            <a:endParaRPr lang="en-US" sz="1150" dirty="0"/>
          </a:p>
        </p:txBody>
      </p:sp>
      <p:sp>
        <p:nvSpPr>
          <p:cNvPr id="10" name="Shape 8"/>
          <p:cNvSpPr/>
          <p:nvPr/>
        </p:nvSpPr>
        <p:spPr>
          <a:xfrm>
            <a:off x="658368" y="2587752"/>
            <a:ext cx="41148" cy="841248"/>
          </a:xfrm>
          <a:prstGeom prst="rect">
            <a:avLst/>
          </a:prstGeom>
          <a:solidFill>
            <a:srgbClr val="E8630C"/>
          </a:solidFill>
          <a:ln w="12700">
            <a:solidFill>
              <a:srgbClr val="E8630C"/>
            </a:solidFill>
            <a:prstDash val="solid"/>
          </a:ln>
        </p:spPr>
      </p:sp>
      <p:sp>
        <p:nvSpPr>
          <p:cNvPr id="11" name="Text 9"/>
          <p:cNvSpPr/>
          <p:nvPr/>
        </p:nvSpPr>
        <p:spPr>
          <a:xfrm>
            <a:off x="932688" y="2532888"/>
            <a:ext cx="2743200" cy="219456"/>
          </a:xfrm>
          <a:prstGeom prst="rect">
            <a:avLst/>
          </a:prstGeom>
          <a:noFill/>
          <a:ln/>
        </p:spPr>
        <p:txBody>
          <a:bodyPr wrap="square" lIns="0" tIns="0" rIns="0" bIns="0" rtlCol="0" anchor="ctr"/>
          <a:lstStyle/>
          <a:p>
            <a:pPr indent="0" marL="0">
              <a:buNone/>
            </a:pPr>
            <a:r>
              <a:rPr lang="en-US" sz="950" b="1" spc="200" kern="0" dirty="0">
                <a:solidFill>
                  <a:srgbClr val="C05209"/>
                </a:solidFill>
                <a:latin typeface="Arial" pitchFamily="34" charset="0"/>
                <a:ea typeface="Microsoft JhengHei"/>
                <a:cs typeface="Microsoft JhengHei"/>
                <a:ea typeface="Arial" pitchFamily="34" charset="-122"/>
                <a:cs typeface="Arial" pitchFamily="34" charset="-120"/>
              </a:rPr>
              <a:t>紅線 02</a:t>
            </a:r>
            <a:endParaRPr lang="en-US" sz="950" dirty="0"/>
          </a:p>
        </p:txBody>
      </p:sp>
      <p:sp>
        <p:nvSpPr>
          <p:cNvPr id="12" name="Text 10"/>
          <p:cNvSpPr/>
          <p:nvPr/>
        </p:nvSpPr>
        <p:spPr>
          <a:xfrm>
            <a:off x="932688" y="2752344"/>
            <a:ext cx="4572000"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數字永遠由確定性引擎算</a:t>
            </a:r>
            <a:endParaRPr lang="en-US" sz="1500" dirty="0"/>
          </a:p>
        </p:txBody>
      </p:sp>
      <p:sp>
        <p:nvSpPr>
          <p:cNvPr id="13" name="Text 11"/>
          <p:cNvSpPr/>
          <p:nvPr/>
        </p:nvSpPr>
        <p:spPr>
          <a:xfrm>
            <a:off x="932688" y="3044952"/>
            <a:ext cx="10490911" cy="420624"/>
          </a:xfrm>
          <a:prstGeom prst="rect">
            <a:avLst/>
          </a:prstGeom>
          <a:noFill/>
          <a:ln/>
        </p:spPr>
        <p:txBody>
          <a:bodyPr wrap="square" lIns="0" tIns="0" rIns="0" bIns="0" rtlCol="0" anchor="t"/>
          <a:lstStyle/>
          <a:p>
            <a:pPr indent="0" marL="0">
              <a:lnSpc>
                <a:spcPts val="1600"/>
              </a:lnSpc>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金額、數量、期限、違約金由程式計算後回傳給 AI 複述。AI 不准自己乘除，也不准自己編法規條號——引用不到來源時，它必須寫「依適用條文與現場量測辦理」。</a:t>
            </a:r>
            <a:endParaRPr lang="en-US" sz="1150" dirty="0"/>
          </a:p>
        </p:txBody>
      </p:sp>
      <p:sp>
        <p:nvSpPr>
          <p:cNvPr id="14" name="Shape 12"/>
          <p:cNvSpPr/>
          <p:nvPr/>
        </p:nvSpPr>
        <p:spPr>
          <a:xfrm>
            <a:off x="658368" y="3639312"/>
            <a:ext cx="41148" cy="841248"/>
          </a:xfrm>
          <a:prstGeom prst="rect">
            <a:avLst/>
          </a:prstGeom>
          <a:solidFill>
            <a:srgbClr val="E8630C"/>
          </a:solidFill>
          <a:ln w="12700">
            <a:solidFill>
              <a:srgbClr val="E8630C"/>
            </a:solidFill>
            <a:prstDash val="solid"/>
          </a:ln>
        </p:spPr>
      </p:sp>
      <p:sp>
        <p:nvSpPr>
          <p:cNvPr id="15" name="Text 13"/>
          <p:cNvSpPr/>
          <p:nvPr/>
        </p:nvSpPr>
        <p:spPr>
          <a:xfrm>
            <a:off x="932688" y="3584448"/>
            <a:ext cx="2743200" cy="219456"/>
          </a:xfrm>
          <a:prstGeom prst="rect">
            <a:avLst/>
          </a:prstGeom>
          <a:noFill/>
          <a:ln/>
        </p:spPr>
        <p:txBody>
          <a:bodyPr wrap="square" lIns="0" tIns="0" rIns="0" bIns="0" rtlCol="0" anchor="ctr"/>
          <a:lstStyle/>
          <a:p>
            <a:pPr indent="0" marL="0">
              <a:buNone/>
            </a:pPr>
            <a:r>
              <a:rPr lang="en-US" sz="950" b="1" spc="200" kern="0" dirty="0">
                <a:solidFill>
                  <a:srgbClr val="C05209"/>
                </a:solidFill>
                <a:latin typeface="Arial" pitchFamily="34" charset="0"/>
                <a:ea typeface="Microsoft JhengHei"/>
                <a:cs typeface="Microsoft JhengHei"/>
                <a:ea typeface="Arial" pitchFamily="34" charset="-122"/>
                <a:cs typeface="Arial" pitchFamily="34" charset="-120"/>
              </a:rPr>
              <a:t>紅線 03</a:t>
            </a:r>
            <a:endParaRPr lang="en-US" sz="950" dirty="0"/>
          </a:p>
        </p:txBody>
      </p:sp>
      <p:sp>
        <p:nvSpPr>
          <p:cNvPr id="16" name="Text 14"/>
          <p:cNvSpPr/>
          <p:nvPr/>
        </p:nvSpPr>
        <p:spPr>
          <a:xfrm>
            <a:off x="932688" y="3803904"/>
            <a:ext cx="4572000"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每個 Agent 動作都留痕</a:t>
            </a:r>
            <a:endParaRPr lang="en-US" sz="1500" dirty="0"/>
          </a:p>
        </p:txBody>
      </p:sp>
      <p:sp>
        <p:nvSpPr>
          <p:cNvPr id="17" name="Text 15"/>
          <p:cNvSpPr/>
          <p:nvPr/>
        </p:nvSpPr>
        <p:spPr>
          <a:xfrm>
            <a:off x="932688" y="4096512"/>
            <a:ext cx="10490911" cy="420624"/>
          </a:xfrm>
          <a:prstGeom prst="rect">
            <a:avLst/>
          </a:prstGeom>
          <a:noFill/>
          <a:ln/>
        </p:spPr>
        <p:txBody>
          <a:bodyPr wrap="square" lIns="0" tIns="0" rIns="0" bIns="0" rtlCol="0" anchor="t"/>
          <a:lstStyle/>
          <a:p>
            <a:pPr indent="0" marL="0">
              <a:lnSpc>
                <a:spcPts val="1600"/>
              </a:lnSpc>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角色、動作種類、目標、理由、引用佐證、人的覆核結果，逐筆入庫可匯出。稽核問「這個數字誰算的」，答案永遠是：程式，而且有紀錄。</a:t>
            </a:r>
            <a:endParaRPr lang="en-US" sz="1150" dirty="0"/>
          </a:p>
        </p:txBody>
      </p:sp>
      <p:sp>
        <p:nvSpPr>
          <p:cNvPr id="18" name="Shape 16"/>
          <p:cNvSpPr/>
          <p:nvPr/>
        </p:nvSpPr>
        <p:spPr>
          <a:xfrm>
            <a:off x="658368" y="4791456"/>
            <a:ext cx="10874959" cy="868680"/>
          </a:xfrm>
          <a:prstGeom prst="roundRect">
            <a:avLst>
              <a:gd name="adj" fmla="val 3684"/>
            </a:avLst>
          </a:prstGeom>
          <a:solidFill>
            <a:srgbClr val="FCE9DC"/>
          </a:solidFill>
          <a:ln w="12700">
            <a:solidFill>
              <a:srgbClr val="FCE9DC"/>
            </a:solidFill>
            <a:prstDash val="solid"/>
          </a:ln>
        </p:spPr>
      </p:sp>
      <p:sp>
        <p:nvSpPr>
          <p:cNvPr id="19" name="Text 17"/>
          <p:cNvSpPr/>
          <p:nvPr/>
        </p:nvSpPr>
        <p:spPr>
          <a:xfrm>
            <a:off x="932688" y="4791456"/>
            <a:ext cx="10326319" cy="868680"/>
          </a:xfrm>
          <a:prstGeom prst="rect">
            <a:avLst/>
          </a:prstGeom>
          <a:noFill/>
          <a:ln/>
        </p:spPr>
        <p:txBody>
          <a:bodyPr wrap="square" lIns="0" tIns="0" rIns="0" bIns="0" rtlCol="0" anchor="ctr"/>
          <a:lstStyle/>
          <a:p>
            <a:pPr indent="0" marL="0">
              <a:lnSpc>
                <a:spcPts val="1900"/>
              </a:lnSpc>
              <a:buNone/>
            </a:pPr>
            <a:r>
              <a:rPr lang="en-US" sz="1250" b="1" dirty="0">
                <a:solidFill>
                  <a:srgbClr val="1D2B39"/>
                </a:solidFill>
                <a:latin typeface="Arial" pitchFamily="34" charset="0"/>
                <a:ea typeface="Microsoft JhengHei"/>
                <a:cs typeface="Microsoft JhengHei"/>
                <a:ea typeface="Arial" pitchFamily="34" charset="-122"/>
                <a:cs typeface="Arial" pitchFamily="34" charset="-120"/>
              </a:rPr>
              <a:t>加上第四條：每個 AI 功能都是可獨立開關的模組。</a:t>
            </a:r>
            <a:pPr indent="0" marL="0">
              <a:lnSpc>
                <a:spcPts val="1900"/>
              </a:lnSpc>
              <a:buNone/>
            </a:pPr>
            <a:r>
              <a:rPr lang="en-US" sz="1250" dirty="0">
                <a:solidFill>
                  <a:srgbClr val="4E5F70"/>
                </a:solidFill>
                <a:latin typeface="Arial" pitchFamily="34" charset="0"/>
                <a:ea typeface="Microsoft JhengHei"/>
                <a:cs typeface="Microsoft JhengHei"/>
                <a:ea typeface="Arial" pitchFamily="34" charset="-122"/>
                <a:cs typeface="Arial" pitchFamily="34" charset="-120"/>
              </a:rPr>
              <a:t>　十六個模組逐一可關，關閉時系統照常運作。機關不必在「要 AI」和「不要 AI」之間二選一。</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貳 · 資安</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17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C05209"/>
                </a:solidFill>
                <a:latin typeface="Arial" pitchFamily="34" charset="0"/>
                <a:ea typeface="Microsoft JhengHei"/>
                <a:cs typeface="Microsoft JhengHei"/>
                <a:ea typeface="Arial" pitchFamily="34" charset="-122"/>
                <a:cs typeface="Arial" pitchFamily="34" charset="-120"/>
              </a:rPr>
              <a:t>個資委外</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3100" b="1" dirty="0">
                <a:solidFill>
                  <a:srgbClr val="1D2B39"/>
                </a:solidFill>
                <a:latin typeface="Arial" pitchFamily="34" charset="0"/>
                <a:ea typeface="Microsoft JhengHei"/>
                <a:cs typeface="Microsoft JhengHei"/>
                <a:ea typeface="Arial" pitchFamily="34" charset="-122"/>
                <a:cs typeface="Arial" pitchFamily="34" charset="-120"/>
              </a:rPr>
              <a:t>個資這層是契約題，不是技術題。</a:t>
            </a:r>
            <a:endParaRPr lang="en-US" sz="3100" dirty="0"/>
          </a:p>
        </p:txBody>
      </p:sp>
      <p:sp>
        <p:nvSpPr>
          <p:cNvPr id="6" name="Shape 4"/>
          <p:cNvSpPr/>
          <p:nvPr/>
        </p:nvSpPr>
        <p:spPr>
          <a:xfrm>
            <a:off x="658368" y="1481328"/>
            <a:ext cx="10874959" cy="566928"/>
          </a:xfrm>
          <a:prstGeom prst="roundRect">
            <a:avLst>
              <a:gd name="adj" fmla="val 5645"/>
            </a:avLst>
          </a:prstGeom>
          <a:solidFill>
            <a:srgbClr val="FFFFFF"/>
          </a:solidFill>
          <a:ln w="9525">
            <a:solidFill>
              <a:srgbClr val="E6EBF0"/>
            </a:solidFill>
            <a:prstDash val="solid"/>
          </a:ln>
        </p:spPr>
      </p:sp>
      <p:sp>
        <p:nvSpPr>
          <p:cNvPr id="7" name="Text 5"/>
          <p:cNvSpPr/>
          <p:nvPr/>
        </p:nvSpPr>
        <p:spPr>
          <a:xfrm>
            <a:off x="896112" y="1536192"/>
            <a:ext cx="10399471" cy="457200"/>
          </a:xfrm>
          <a:prstGeom prst="rect">
            <a:avLst/>
          </a:prstGeom>
          <a:noFill/>
          <a:ln/>
        </p:spPr>
        <p:txBody>
          <a:bodyPr wrap="square" lIns="0" tIns="0" rIns="0" bIns="0" rtlCol="0" anchor="ctr"/>
          <a:lstStyle/>
          <a:p>
            <a:pPr indent="0" marL="0">
              <a:lnSpc>
                <a:spcPts val="1550"/>
              </a:lnSpc>
              <a:buNone/>
            </a:pPr>
            <a:r>
              <a:rPr lang="en-US" sz="1100" b="1" dirty="0">
                <a:solidFill>
                  <a:srgbClr val="1B5480"/>
                </a:solidFill>
                <a:latin typeface="Arial" pitchFamily="34" charset="0"/>
                <a:ea typeface="Microsoft JhengHei"/>
                <a:cs typeface="Microsoft JhengHei"/>
                <a:ea typeface="Arial" pitchFamily="34" charset="-122"/>
                <a:cs typeface="Arial" pitchFamily="34" charset="-120"/>
              </a:rPr>
              <a:t>個人資料保護法施行細則第 8 條　</a:t>
            </a:r>
            <a:pPr indent="0" marL="0">
              <a:lnSpc>
                <a:spcPts val="1550"/>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公務機關委託他人蒐集、處理或利用個人資料者，應對受託者為適當之監督，並明確約定監督事項及方式。</a:t>
            </a:r>
            <a:endParaRPr lang="en-US" sz="1100" dirty="0"/>
          </a:p>
        </p:txBody>
      </p:sp>
      <p:sp>
        <p:nvSpPr>
          <p:cNvPr id="8" name="Shape 6"/>
          <p:cNvSpPr/>
          <p:nvPr/>
        </p:nvSpPr>
        <p:spPr>
          <a:xfrm>
            <a:off x="658368" y="2286000"/>
            <a:ext cx="5245456" cy="2286000"/>
          </a:xfrm>
          <a:prstGeom prst="roundRect">
            <a:avLst>
              <a:gd name="adj" fmla="val 1400"/>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9" name="Text 7"/>
          <p:cNvSpPr/>
          <p:nvPr/>
        </p:nvSpPr>
        <p:spPr>
          <a:xfrm>
            <a:off x="896112" y="2468880"/>
            <a:ext cx="4769968" cy="731520"/>
          </a:xfrm>
          <a:prstGeom prst="rect">
            <a:avLst/>
          </a:prstGeom>
          <a:noFill/>
          <a:ln/>
        </p:spPr>
        <p:txBody>
          <a:bodyPr wrap="square" lIns="0" tIns="0" rIns="0" bIns="0" rtlCol="0" anchor="t"/>
          <a:lstStyle/>
          <a:p>
            <a:pPr indent="0" marL="0">
              <a:lnSpc>
                <a:spcPts val="1700"/>
              </a:lnSpc>
              <a:buNone/>
            </a:pPr>
            <a:r>
              <a:rPr lang="en-US" sz="1200" dirty="0">
                <a:solidFill>
                  <a:srgbClr val="4E5F70"/>
                </a:solidFill>
                <a:latin typeface="Arial" pitchFamily="34" charset="0"/>
                <a:ea typeface="Microsoft JhengHei"/>
                <a:cs typeface="Microsoft JhengHei"/>
                <a:ea typeface="Arial" pitchFamily="34" charset="-122"/>
                <a:cs typeface="Arial" pitchFamily="34" charset="-120"/>
              </a:rPr>
              <a:t>本服務涉及的個資範圍很窄：</a:t>
            </a:r>
            <a:pPr indent="0" marL="0">
              <a:lnSpc>
                <a:spcPts val="1700"/>
              </a:lnSpc>
              <a:buNone/>
            </a:pPr>
            <a:r>
              <a:rPr lang="en-US" sz="1200" b="1" dirty="0">
                <a:solidFill>
                  <a:srgbClr val="1D2B39"/>
                </a:solidFill>
                <a:latin typeface="Arial" pitchFamily="34" charset="0"/>
                <a:ea typeface="Microsoft JhengHei"/>
                <a:cs typeface="Microsoft JhengHei"/>
                <a:ea typeface="Arial" pitchFamily="34" charset="-122"/>
                <a:cs typeface="Arial" pitchFamily="34" charset="-120"/>
              </a:rPr>
              <a:t>姓名、職稱、單位、公務聯絡方式、系統帳號</a:t>
            </a:r>
            <a:pPr indent="0" marL="0">
              <a:lnSpc>
                <a:spcPts val="1700"/>
              </a:lnSpc>
              <a:buNone/>
            </a:pPr>
            <a:r>
              <a:rPr lang="en-US" sz="1200" dirty="0">
                <a:solidFill>
                  <a:srgbClr val="4E5F70"/>
                </a:solidFill>
                <a:latin typeface="Arial" pitchFamily="34" charset="0"/>
                <a:ea typeface="Microsoft JhengHei"/>
                <a:cs typeface="Microsoft JhengHei"/>
                <a:ea typeface="Arial" pitchFamily="34" charset="-122"/>
                <a:cs typeface="Arial" pitchFamily="34" charset="-120"/>
              </a:rPr>
              <a:t>——不涉特種個資、不涉學籍或健康資料，也不以機關資料訓練模型。</a:t>
            </a:r>
            <a:endParaRPr lang="en-US" sz="1200" dirty="0"/>
          </a:p>
        </p:txBody>
      </p:sp>
      <p:sp>
        <p:nvSpPr>
          <p:cNvPr id="10" name="Text 8"/>
          <p:cNvSpPr/>
          <p:nvPr/>
        </p:nvSpPr>
        <p:spPr>
          <a:xfrm>
            <a:off x="896112" y="3273552"/>
            <a:ext cx="4769968" cy="1188720"/>
          </a:xfrm>
          <a:prstGeom prst="rect">
            <a:avLst/>
          </a:prstGeom>
          <a:noFill/>
          <a:ln/>
        </p:spPr>
        <p:txBody>
          <a:bodyPr wrap="square" lIns="0" tIns="0" rIns="0" bIns="0" rtlCol="0" anchor="t"/>
          <a:lstStyle/>
          <a:p>
            <a:pPr indent="0" marL="0">
              <a:lnSpc>
                <a:spcPts val="1650"/>
              </a:lnSpc>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貴校的個資制度建在教育部「教育體系資通安全暨個人資料管理規範」上，委外附約通常照該規範 B.12.1.2 的八要項撰寫，境外傳輸則對應 B.11.1.1 的五條。</a:t>
            </a:r>
            <a:pPr indent="0" marL="0">
              <a:lnSpc>
                <a:spcPts val="1650"/>
              </a:lnSpc>
              <a:buNone/>
            </a:pPr>
            <a:r>
              <a:rPr lang="en-US" sz="1150" b="1" dirty="0">
                <a:solidFill>
                  <a:srgbClr val="1D2B39"/>
                </a:solidFill>
                <a:latin typeface="Arial" pitchFamily="34" charset="0"/>
                <a:ea typeface="Microsoft JhengHei"/>
                <a:cs typeface="Microsoft JhengHei"/>
                <a:ea typeface="Arial" pitchFamily="34" charset="-122"/>
                <a:cs typeface="Arial" pitchFamily="34" charset="-120"/>
              </a:rPr>
              <a:t>我方直接照那些條目先寫好附約草案，法制單位不必起草。</a:t>
            </a:r>
            <a:endParaRPr lang="en-US" sz="1150" dirty="0"/>
          </a:p>
        </p:txBody>
      </p:sp>
      <p:sp>
        <p:nvSpPr>
          <p:cNvPr id="11" name="Shape 9"/>
          <p:cNvSpPr/>
          <p:nvPr/>
        </p:nvSpPr>
        <p:spPr>
          <a:xfrm>
            <a:off x="6287872" y="2286000"/>
            <a:ext cx="5245456" cy="2286000"/>
          </a:xfrm>
          <a:prstGeom prst="roundRect">
            <a:avLst>
              <a:gd name="adj" fmla="val 1400"/>
            </a:avLst>
          </a:prstGeom>
          <a:solidFill>
            <a:srgbClr val="E4EDF5"/>
          </a:solidFill>
          <a:ln w="12700">
            <a:solidFill>
              <a:srgbClr val="E4EDF5"/>
            </a:solidFill>
            <a:prstDash val="solid"/>
          </a:ln>
        </p:spPr>
      </p:sp>
      <p:sp>
        <p:nvSpPr>
          <p:cNvPr id="12" name="Text 10"/>
          <p:cNvSpPr/>
          <p:nvPr/>
        </p:nvSpPr>
        <p:spPr>
          <a:xfrm>
            <a:off x="6525616" y="2450592"/>
            <a:ext cx="4769968" cy="274320"/>
          </a:xfrm>
          <a:prstGeom prst="rect">
            <a:avLst/>
          </a:prstGeom>
          <a:noFill/>
          <a:ln/>
        </p:spPr>
        <p:txBody>
          <a:bodyPr wrap="square" lIns="0" tIns="0" rIns="0" bIns="0" rtlCol="0" anchor="ctr"/>
          <a:lstStyle/>
          <a:p>
            <a:pPr indent="0" marL="0">
              <a:buNone/>
            </a:pPr>
            <a:r>
              <a:rPr lang="en-US" sz="1450" b="1" dirty="0">
                <a:solidFill>
                  <a:srgbClr val="1D2B39"/>
                </a:solidFill>
                <a:latin typeface="Arial" pitchFamily="34" charset="0"/>
                <a:ea typeface="Microsoft JhengHei"/>
                <a:cs typeface="Microsoft JhengHei"/>
                <a:ea typeface="Arial" pitchFamily="34" charset="-122"/>
                <a:cs typeface="Arial" pitchFamily="34" charset="-120"/>
              </a:rPr>
              <a:t>附約會寫進去的事</a:t>
            </a:r>
            <a:endParaRPr lang="en-US" sz="1450" dirty="0"/>
          </a:p>
        </p:txBody>
      </p:sp>
      <p:sp>
        <p:nvSpPr>
          <p:cNvPr id="13" name="Text 11"/>
          <p:cNvSpPr/>
          <p:nvPr/>
        </p:nvSpPr>
        <p:spPr>
          <a:xfrm>
            <a:off x="6525616" y="2816352"/>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4" name="Text 12"/>
          <p:cNvSpPr/>
          <p:nvPr/>
        </p:nvSpPr>
        <p:spPr>
          <a:xfrm>
            <a:off x="6745072" y="2816352"/>
            <a:ext cx="4550512" cy="265176"/>
          </a:xfrm>
          <a:prstGeom prst="rect">
            <a:avLst/>
          </a:prstGeom>
          <a:noFill/>
          <a:ln/>
        </p:spPr>
        <p:txBody>
          <a:bodyPr wrap="square" lIns="0" tIns="0" rIns="0" bIns="0" rtlCol="0" anchor="ctr"/>
          <a:lstStyle/>
          <a:p>
            <a:pPr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蒐集處理利用之範圍、類別、目的與期間</a:t>
            </a:r>
            <a:endParaRPr lang="en-US" sz="1150" dirty="0"/>
          </a:p>
        </p:txBody>
      </p:sp>
      <p:sp>
        <p:nvSpPr>
          <p:cNvPr id="15" name="Text 13"/>
          <p:cNvSpPr/>
          <p:nvPr/>
        </p:nvSpPr>
        <p:spPr>
          <a:xfrm>
            <a:off x="6525616" y="3081528"/>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6" name="Text 14"/>
          <p:cNvSpPr/>
          <p:nvPr/>
        </p:nvSpPr>
        <p:spPr>
          <a:xfrm>
            <a:off x="6745072" y="3081528"/>
            <a:ext cx="4550512" cy="265176"/>
          </a:xfrm>
          <a:prstGeom prst="rect">
            <a:avLst/>
          </a:prstGeom>
          <a:noFill/>
          <a:ln/>
        </p:spPr>
        <p:txBody>
          <a:bodyPr wrap="square" lIns="0" tIns="0" rIns="0" bIns="0" rtlCol="0" anchor="ctr"/>
          <a:lstStyle/>
          <a:p>
            <a:pPr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保密義務與事故責任</a:t>
            </a:r>
            <a:endParaRPr lang="en-US" sz="1150" dirty="0"/>
          </a:p>
        </p:txBody>
      </p:sp>
      <p:sp>
        <p:nvSpPr>
          <p:cNvPr id="17" name="Text 15"/>
          <p:cNvSpPr/>
          <p:nvPr/>
        </p:nvSpPr>
        <p:spPr>
          <a:xfrm>
            <a:off x="6525616" y="3346704"/>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8" name="Text 16"/>
          <p:cNvSpPr/>
          <p:nvPr/>
        </p:nvSpPr>
        <p:spPr>
          <a:xfrm>
            <a:off x="6745072" y="3346704"/>
            <a:ext cx="4550512" cy="265176"/>
          </a:xfrm>
          <a:prstGeom prst="rect">
            <a:avLst/>
          </a:prstGeom>
          <a:noFill/>
          <a:ln/>
        </p:spPr>
        <p:txBody>
          <a:bodyPr wrap="square" lIns="0" tIns="0" rIns="0" bIns="0" rtlCol="0" anchor="ctr"/>
          <a:lstStyle/>
          <a:p>
            <a:pPr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機關保有稽核權（含實地稽核）</a:t>
            </a:r>
            <a:endParaRPr lang="en-US" sz="1150" dirty="0"/>
          </a:p>
        </p:txBody>
      </p:sp>
      <p:sp>
        <p:nvSpPr>
          <p:cNvPr id="19" name="Text 17"/>
          <p:cNvSpPr/>
          <p:nvPr/>
        </p:nvSpPr>
        <p:spPr>
          <a:xfrm>
            <a:off x="6525616" y="3611880"/>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20" name="Text 18"/>
          <p:cNvSpPr/>
          <p:nvPr/>
        </p:nvSpPr>
        <p:spPr>
          <a:xfrm>
            <a:off x="6745072" y="3611880"/>
            <a:ext cx="4550512" cy="265176"/>
          </a:xfrm>
          <a:prstGeom prst="rect">
            <a:avLst/>
          </a:prstGeom>
          <a:noFill/>
          <a:ln/>
        </p:spPr>
        <p:txBody>
          <a:bodyPr wrap="square" lIns="0" tIns="0" rIns="0" bIns="0" rtlCol="0" anchor="ctr"/>
          <a:lstStyle/>
          <a:p>
            <a:pPr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再委外（分包）之限制</a:t>
            </a:r>
            <a:endParaRPr lang="en-US" sz="1150" dirty="0"/>
          </a:p>
        </p:txBody>
      </p:sp>
      <p:sp>
        <p:nvSpPr>
          <p:cNvPr id="21" name="Text 19"/>
          <p:cNvSpPr/>
          <p:nvPr/>
        </p:nvSpPr>
        <p:spPr>
          <a:xfrm>
            <a:off x="6525616" y="3877056"/>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22" name="Text 20"/>
          <p:cNvSpPr/>
          <p:nvPr/>
        </p:nvSpPr>
        <p:spPr>
          <a:xfrm>
            <a:off x="6745072" y="3877056"/>
            <a:ext cx="4550512" cy="265176"/>
          </a:xfrm>
          <a:prstGeom prst="rect">
            <a:avLst/>
          </a:prstGeom>
          <a:noFill/>
          <a:ln/>
        </p:spPr>
        <p:txBody>
          <a:bodyPr wrap="square" lIns="0" tIns="0" rIns="0" bIns="0" rtlCol="0" anchor="ctr"/>
          <a:lstStyle/>
          <a:p>
            <a:pPr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資安事故之通知義務與時限</a:t>
            </a:r>
            <a:endParaRPr lang="en-US" sz="1150" dirty="0"/>
          </a:p>
        </p:txBody>
      </p:sp>
      <p:sp>
        <p:nvSpPr>
          <p:cNvPr id="23" name="Text 21"/>
          <p:cNvSpPr/>
          <p:nvPr/>
        </p:nvSpPr>
        <p:spPr>
          <a:xfrm>
            <a:off x="6525616" y="4142232"/>
            <a:ext cx="219456" cy="265176"/>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24" name="Text 22"/>
          <p:cNvSpPr/>
          <p:nvPr/>
        </p:nvSpPr>
        <p:spPr>
          <a:xfrm>
            <a:off x="6745072" y="4142232"/>
            <a:ext cx="4550512" cy="265176"/>
          </a:xfrm>
          <a:prstGeom prst="rect">
            <a:avLst/>
          </a:prstGeom>
          <a:noFill/>
          <a:ln/>
        </p:spPr>
        <p:txBody>
          <a:bodyPr wrap="square" lIns="0" tIns="0" rIns="0" bIns="0" rtlCol="0" anchor="ctr"/>
          <a:lstStyle/>
          <a:p>
            <a:pPr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契約終止時資料返還、刪除與銷毀切結</a:t>
            </a:r>
            <a:endParaRPr lang="en-US" sz="1150" dirty="0"/>
          </a:p>
        </p:txBody>
      </p:sp>
      <p:sp>
        <p:nvSpPr>
          <p:cNvPr id="25" name="Text 23"/>
          <p:cNvSpPr/>
          <p:nvPr/>
        </p:nvSpPr>
        <p:spPr>
          <a:xfrm>
            <a:off x="658368" y="4736592"/>
            <a:ext cx="10874959" cy="329184"/>
          </a:xfrm>
          <a:prstGeom prst="rect">
            <a:avLst/>
          </a:prstGeom>
          <a:noFill/>
          <a:ln/>
        </p:spPr>
        <p:txBody>
          <a:bodyPr wrap="square" lIns="0" tIns="0" rIns="0" bIns="0" rtlCol="0" anchor="ctr"/>
          <a:lstStyle/>
          <a:p>
            <a:pPr indent="0" marL="0">
              <a:buNone/>
            </a:pPr>
            <a:r>
              <a:rPr lang="en-US" sz="1100" dirty="0">
                <a:solidFill>
                  <a:srgbClr val="7A8794"/>
                </a:solidFill>
                <a:latin typeface="Arial" pitchFamily="34" charset="0"/>
                <a:ea typeface="Microsoft JhengHei"/>
                <a:cs typeface="Microsoft JhengHei"/>
                <a:ea typeface="Arial" pitchFamily="34" charset="-122"/>
                <a:cs typeface="Arial" pitchFamily="34" charset="-120"/>
              </a:rPr>
              <a:t>補充：個資法第 21 條（國際傳輸限制）規範對象為非公務機關；國立中央大學屬公務機關，故境外傳輸並無法定禁令，而是回到前頁的「機關審查同意」與本頁的契約約定。</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54C74"/>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A9C8DE"/>
                </a:solidFill>
                <a:latin typeface="Arial" pitchFamily="34" charset="0"/>
                <a:ea typeface="Microsoft JhengHei"/>
                <a:cs typeface="Microsoft JhengHei"/>
                <a:ea typeface="Arial" pitchFamily="34" charset="-122"/>
                <a:cs typeface="Arial" pitchFamily="34" charset="-120"/>
              </a:rPr>
              <a:t>參 · 簽辦</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A9C8DE"/>
                </a:solidFill>
                <a:latin typeface="Arial" pitchFamily="34" charset="0"/>
                <a:ea typeface="Microsoft JhengHei"/>
                <a:cs typeface="Microsoft JhengHei"/>
                <a:ea typeface="Arial" pitchFamily="34" charset="-122"/>
                <a:cs typeface="Arial" pitchFamily="34" charset="-120"/>
              </a:rPr>
              <a:t>18 / 25</a:t>
            </a:r>
            <a:endParaRPr lang="en-US" sz="900" dirty="0"/>
          </a:p>
        </p:txBody>
      </p:sp>
      <p:sp>
        <p:nvSpPr>
          <p:cNvPr id="4" name="Text 2"/>
          <p:cNvSpPr/>
          <p:nvPr/>
        </p:nvSpPr>
        <p:spPr>
          <a:xfrm>
            <a:off x="658368" y="2103120"/>
            <a:ext cx="1828800" cy="914400"/>
          </a:xfrm>
          <a:prstGeom prst="rect">
            <a:avLst/>
          </a:prstGeom>
          <a:noFill/>
          <a:ln/>
        </p:spPr>
        <p:txBody>
          <a:bodyPr wrap="square" lIns="0" tIns="0" rIns="0" bIns="0" rtlCol="0" anchor="ctr"/>
          <a:lstStyle/>
          <a:p>
            <a:pPr indent="0" marL="0">
              <a:buNone/>
            </a:pPr>
            <a:r>
              <a:rPr lang="en-US" sz="6200" b="1" dirty="0">
                <a:solidFill>
                  <a:srgbClr val="E8630C"/>
                </a:solidFill>
                <a:latin typeface="Arial" pitchFamily="34" charset="0"/>
                <a:ea typeface="Microsoft JhengHei"/>
                <a:cs typeface="Microsoft JhengHei"/>
                <a:ea typeface="Arial" pitchFamily="34" charset="-122"/>
                <a:cs typeface="Arial" pitchFamily="34" charset="-120"/>
              </a:rPr>
              <a:t>參</a:t>
            </a:r>
            <a:endParaRPr lang="en-US" sz="6200" dirty="0"/>
          </a:p>
        </p:txBody>
      </p:sp>
      <p:sp>
        <p:nvSpPr>
          <p:cNvPr id="5" name="Text 3"/>
          <p:cNvSpPr/>
          <p:nvPr/>
        </p:nvSpPr>
        <p:spPr>
          <a:xfrm>
            <a:off x="658368" y="3127248"/>
            <a:ext cx="5981228" cy="73152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Microsoft JhengHei"/>
                <a:cs typeface="Microsoft JhengHei"/>
                <a:ea typeface="Arial" pitchFamily="34" charset="-122"/>
                <a:cs typeface="Arial" pitchFamily="34" charset="-120"/>
              </a:rPr>
              <a:t>簽辦怎麼走。</a:t>
            </a:r>
            <a:endParaRPr lang="en-US" sz="3600" dirty="0"/>
          </a:p>
        </p:txBody>
      </p:sp>
      <p:sp>
        <p:nvSpPr>
          <p:cNvPr id="6" name="Text 4"/>
          <p:cNvSpPr/>
          <p:nvPr/>
        </p:nvSpPr>
        <p:spPr>
          <a:xfrm>
            <a:off x="658368" y="3913632"/>
            <a:ext cx="5437480" cy="548640"/>
          </a:xfrm>
          <a:prstGeom prst="rect">
            <a:avLst/>
          </a:prstGeom>
          <a:noFill/>
          <a:ln/>
        </p:spPr>
        <p:txBody>
          <a:bodyPr wrap="square" lIns="0" tIns="0" rIns="0" bIns="0" rtlCol="0" anchor="t"/>
          <a:lstStyle/>
          <a:p>
            <a:pPr indent="0" marL="0">
              <a:lnSpc>
                <a:spcPts val="2200"/>
              </a:lnSpc>
              <a:buNone/>
            </a:pPr>
            <a:r>
              <a:rPr lang="en-US" sz="1450" dirty="0">
                <a:solidFill>
                  <a:srgbClr val="A9C8DE"/>
                </a:solidFill>
                <a:latin typeface="Arial" pitchFamily="34" charset="0"/>
                <a:ea typeface="Microsoft JhengHei"/>
                <a:cs typeface="Microsoft JhengHei"/>
                <a:ea typeface="Arial" pitchFamily="34" charset="-122"/>
                <a:cs typeface="Arial" pitchFamily="34" charset="-120"/>
              </a:rPr>
              <a:t>採購方式已經確定，核定層級也確定。</a:t>
            </a:r>
            <a:endParaRPr lang="en-US" sz="1450" dirty="0"/>
          </a:p>
          <a:p>
            <a:pPr indent="0" marL="0">
              <a:lnSpc>
                <a:spcPts val="2200"/>
              </a:lnSpc>
              <a:buNone/>
            </a:pPr>
            <a:r>
              <a:rPr lang="en-US" sz="1450" dirty="0">
                <a:solidFill>
                  <a:srgbClr val="A9C8DE"/>
                </a:solidFill>
                <a:latin typeface="Arial" pitchFamily="34" charset="0"/>
                <a:ea typeface="Microsoft JhengHei"/>
                <a:cs typeface="Microsoft JhengHei"/>
                <a:ea typeface="Arial" pitchFamily="34" charset="-122"/>
                <a:cs typeface="Arial" pitchFamily="34" charset="-120"/>
              </a:rPr>
              <a:t>只剩驗收時點要請組長定。</a:t>
            </a:r>
            <a:endParaRPr lang="en-US" sz="1450" dirty="0"/>
          </a:p>
        </p:txBody>
      </p:sp>
      <p:sp>
        <p:nvSpPr>
          <p:cNvPr id="7" name="Text 5"/>
          <p:cNvSpPr/>
          <p:nvPr/>
        </p:nvSpPr>
        <p:spPr>
          <a:xfrm>
            <a:off x="7400843" y="2331720"/>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8" name="Text 6"/>
          <p:cNvSpPr/>
          <p:nvPr/>
        </p:nvSpPr>
        <p:spPr>
          <a:xfrm>
            <a:off x="7620299" y="2331720"/>
            <a:ext cx="3913028"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本案已經確定的四件事</a:t>
            </a:r>
            <a:endParaRPr lang="en-US" sz="1250" dirty="0"/>
          </a:p>
        </p:txBody>
      </p:sp>
      <p:sp>
        <p:nvSpPr>
          <p:cNvPr id="9" name="Text 7"/>
          <p:cNvSpPr/>
          <p:nvPr/>
        </p:nvSpPr>
        <p:spPr>
          <a:xfrm>
            <a:off x="7400843" y="2624328"/>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0" name="Text 8"/>
          <p:cNvSpPr/>
          <p:nvPr/>
        </p:nvSpPr>
        <p:spPr>
          <a:xfrm>
            <a:off x="7620299" y="2624328"/>
            <a:ext cx="3913028"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履約期間與驗收時點（要決定）</a:t>
            </a:r>
            <a:endParaRPr lang="en-US" sz="1250" dirty="0"/>
          </a:p>
        </p:txBody>
      </p:sp>
      <p:sp>
        <p:nvSpPr>
          <p:cNvPr id="11" name="Text 9"/>
          <p:cNvSpPr/>
          <p:nvPr/>
        </p:nvSpPr>
        <p:spPr>
          <a:xfrm>
            <a:off x="7400843" y="2916936"/>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2" name="Text 10"/>
          <p:cNvSpPr/>
          <p:nvPr/>
        </p:nvSpPr>
        <p:spPr>
          <a:xfrm>
            <a:off x="7620299" y="2916936"/>
            <a:ext cx="3913028"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寫進契約的服務承諾</a:t>
            </a:r>
            <a:endParaRPr lang="en-US" sz="1250" dirty="0"/>
          </a:p>
        </p:txBody>
      </p:sp>
      <p:sp>
        <p:nvSpPr>
          <p:cNvPr id="13" name="Text 11"/>
          <p:cNvSpPr/>
          <p:nvPr/>
        </p:nvSpPr>
        <p:spPr>
          <a:xfrm>
            <a:off x="7400843" y="3209544"/>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4" name="Text 12"/>
          <p:cNvSpPr/>
          <p:nvPr/>
        </p:nvSpPr>
        <p:spPr>
          <a:xfrm>
            <a:off x="7620299" y="3209544"/>
            <a:ext cx="3913028"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簽稿七段骨架</a:t>
            </a:r>
            <a:endParaRPr lang="en-US" sz="1250" dirty="0"/>
          </a:p>
        </p:txBody>
      </p:sp>
      <p:sp>
        <p:nvSpPr>
          <p:cNvPr id="15" name="Text 13"/>
          <p:cNvSpPr/>
          <p:nvPr/>
        </p:nvSpPr>
        <p:spPr>
          <a:xfrm>
            <a:off x="7400843" y="3502152"/>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6" name="Text 14"/>
          <p:cNvSpPr/>
          <p:nvPr/>
        </p:nvSpPr>
        <p:spPr>
          <a:xfrm>
            <a:off x="7620299" y="3502152"/>
            <a:ext cx="3913028"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七份附件與現況</a:t>
            </a:r>
            <a:endParaRPr lang="en-US" sz="1250" dirty="0"/>
          </a:p>
        </p:txBody>
      </p:sp>
      <p:sp>
        <p:nvSpPr>
          <p:cNvPr id="17" name="Text 15"/>
          <p:cNvSpPr/>
          <p:nvPr/>
        </p:nvSpPr>
        <p:spPr>
          <a:xfrm>
            <a:off x="7400843" y="3794760"/>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8" name="Text 16"/>
          <p:cNvSpPr/>
          <p:nvPr/>
        </p:nvSpPr>
        <p:spPr>
          <a:xfrm>
            <a:off x="7620299" y="3794760"/>
            <a:ext cx="3913028"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會辦動線</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參 · 簽辦</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19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C05209"/>
                </a:solidFill>
                <a:latin typeface="Arial" pitchFamily="34" charset="0"/>
                <a:ea typeface="Microsoft JhengHei"/>
                <a:cs typeface="Microsoft JhengHei"/>
                <a:ea typeface="Arial" pitchFamily="34" charset="-122"/>
                <a:cs typeface="Arial" pitchFamily="34" charset="-120"/>
              </a:rPr>
              <a:t>本案定位</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3100" b="1" dirty="0">
                <a:solidFill>
                  <a:srgbClr val="1D2B39"/>
                </a:solidFill>
                <a:latin typeface="Arial" pitchFamily="34" charset="0"/>
                <a:ea typeface="Microsoft JhengHei"/>
                <a:cs typeface="Microsoft JhengHei"/>
                <a:ea typeface="Arial" pitchFamily="34" charset="-122"/>
                <a:cs typeface="Arial" pitchFamily="34" charset="-120"/>
              </a:rPr>
              <a:t>該確定的都確定了，只剩一件事要定。</a:t>
            </a:r>
            <a:endParaRPr lang="en-US" sz="3100" dirty="0"/>
          </a:p>
        </p:txBody>
      </p:sp>
      <p:sp>
        <p:nvSpPr>
          <p:cNvPr id="6" name="Shape 4"/>
          <p:cNvSpPr/>
          <p:nvPr/>
        </p:nvSpPr>
        <p:spPr>
          <a:xfrm>
            <a:off x="658368" y="1481328"/>
            <a:ext cx="2513000" cy="1600200"/>
          </a:xfrm>
          <a:prstGeom prst="roundRect">
            <a:avLst>
              <a:gd name="adj" fmla="val 2000"/>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7" name="Text 5"/>
          <p:cNvSpPr/>
          <p:nvPr/>
        </p:nvSpPr>
        <p:spPr>
          <a:xfrm>
            <a:off x="877824" y="1645920"/>
            <a:ext cx="694944" cy="237744"/>
          </a:xfrm>
          <a:prstGeom prst="roundRect">
            <a:avLst>
              <a:gd name="adj" fmla="val 11538"/>
            </a:avLst>
          </a:prstGeom>
          <a:solidFill>
            <a:srgbClr val="E1F1E9"/>
          </a:solidFill>
          <a:ln>
            <a:solidFill>
              <a:srgbClr val="E1F1E9"/>
            </a:solidFill>
          </a:ln>
        </p:spPr>
        <p:txBody>
          <a:bodyPr wrap="square" lIns="0" tIns="0" rIns="0" bIns="0" rtlCol="0" anchor="ctr"/>
          <a:lstStyle/>
          <a:p>
            <a:pPr algn="ctr" indent="0" marL="0">
              <a:buNone/>
            </a:pPr>
            <a:r>
              <a:rPr lang="en-US" sz="900" b="1" spc="60" kern="0" dirty="0">
                <a:solidFill>
                  <a:srgbClr val="1A7F4E"/>
                </a:solidFill>
                <a:latin typeface="Arial" pitchFamily="34" charset="0"/>
                <a:ea typeface="Microsoft JhengHei"/>
                <a:cs typeface="Microsoft JhengHei"/>
                <a:ea typeface="Arial" pitchFamily="34" charset="-122"/>
                <a:cs typeface="Arial" pitchFamily="34" charset="-120"/>
              </a:rPr>
              <a:t>採購方式</a:t>
            </a:r>
            <a:endParaRPr lang="en-US" sz="900" dirty="0"/>
          </a:p>
        </p:txBody>
      </p:sp>
      <p:sp>
        <p:nvSpPr>
          <p:cNvPr id="8" name="Text 6"/>
          <p:cNvSpPr/>
          <p:nvPr/>
        </p:nvSpPr>
        <p:spPr>
          <a:xfrm>
            <a:off x="877824" y="2011680"/>
            <a:ext cx="2074088"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小額採購逕洽</a:t>
            </a:r>
            <a:endParaRPr lang="en-US" sz="1500" dirty="0"/>
          </a:p>
        </p:txBody>
      </p:sp>
      <p:sp>
        <p:nvSpPr>
          <p:cNvPr id="9" name="Text 7"/>
          <p:cNvSpPr/>
          <p:nvPr/>
        </p:nvSpPr>
        <p:spPr>
          <a:xfrm>
            <a:off x="877824" y="2359152"/>
            <a:ext cx="2074088" cy="576072"/>
          </a:xfrm>
          <a:prstGeom prst="rect">
            <a:avLst/>
          </a:prstGeom>
          <a:noFill/>
          <a:ln/>
        </p:spPr>
        <p:txBody>
          <a:bodyPr wrap="square" lIns="0" tIns="0" rIns="0" bIns="0" rtlCol="0" anchor="t"/>
          <a:lstStyle/>
          <a:p>
            <a:pPr indent="0" marL="0">
              <a:lnSpc>
                <a:spcPts val="1512"/>
              </a:lnSpc>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15 萬元以下，得不經公告程序逕洽廠商，免提供報價或企劃書。無須三家比價。</a:t>
            </a:r>
            <a:endParaRPr lang="en-US" sz="1050" dirty="0"/>
          </a:p>
        </p:txBody>
      </p:sp>
      <p:sp>
        <p:nvSpPr>
          <p:cNvPr id="10" name="Shape 8"/>
          <p:cNvSpPr/>
          <p:nvPr/>
        </p:nvSpPr>
        <p:spPr>
          <a:xfrm>
            <a:off x="3445688" y="1481328"/>
            <a:ext cx="2513000" cy="1600200"/>
          </a:xfrm>
          <a:prstGeom prst="roundRect">
            <a:avLst>
              <a:gd name="adj" fmla="val 2000"/>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1" name="Text 9"/>
          <p:cNvSpPr/>
          <p:nvPr/>
        </p:nvSpPr>
        <p:spPr>
          <a:xfrm>
            <a:off x="3665144" y="1645920"/>
            <a:ext cx="694944" cy="237744"/>
          </a:xfrm>
          <a:prstGeom prst="roundRect">
            <a:avLst>
              <a:gd name="adj" fmla="val 11538"/>
            </a:avLst>
          </a:prstGeom>
          <a:solidFill>
            <a:srgbClr val="E1F1E9"/>
          </a:solidFill>
          <a:ln>
            <a:solidFill>
              <a:srgbClr val="E1F1E9"/>
            </a:solidFill>
          </a:ln>
        </p:spPr>
        <p:txBody>
          <a:bodyPr wrap="square" lIns="0" tIns="0" rIns="0" bIns="0" rtlCol="0" anchor="ctr"/>
          <a:lstStyle/>
          <a:p>
            <a:pPr algn="ctr" indent="0" marL="0">
              <a:buNone/>
            </a:pPr>
            <a:r>
              <a:rPr lang="en-US" sz="900" b="1" spc="60" kern="0" dirty="0">
                <a:solidFill>
                  <a:srgbClr val="1A7F4E"/>
                </a:solidFill>
                <a:latin typeface="Arial" pitchFamily="34" charset="0"/>
                <a:ea typeface="Microsoft JhengHei"/>
                <a:cs typeface="Microsoft JhengHei"/>
                <a:ea typeface="Arial" pitchFamily="34" charset="-122"/>
                <a:cs typeface="Arial" pitchFamily="34" charset="-120"/>
              </a:rPr>
              <a:t>核定層級</a:t>
            </a:r>
            <a:endParaRPr lang="en-US" sz="900" dirty="0"/>
          </a:p>
        </p:txBody>
      </p:sp>
      <p:sp>
        <p:nvSpPr>
          <p:cNvPr id="12" name="Text 10"/>
          <p:cNvSpPr/>
          <p:nvPr/>
        </p:nvSpPr>
        <p:spPr>
          <a:xfrm>
            <a:off x="3665144" y="2011680"/>
            <a:ext cx="2074088"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組長核定</a:t>
            </a:r>
            <a:endParaRPr lang="en-US" sz="1500" dirty="0"/>
          </a:p>
        </p:txBody>
      </p:sp>
      <p:sp>
        <p:nvSpPr>
          <p:cNvPr id="13" name="Text 11"/>
          <p:cNvSpPr/>
          <p:nvPr/>
        </p:nvSpPr>
        <p:spPr>
          <a:xfrm>
            <a:off x="3665144" y="2359152"/>
            <a:ext cx="2074088" cy="576072"/>
          </a:xfrm>
          <a:prstGeom prst="rect">
            <a:avLst/>
          </a:prstGeom>
          <a:noFill/>
          <a:ln/>
        </p:spPr>
        <p:txBody>
          <a:bodyPr wrap="square" lIns="0" tIns="0" rIns="0" bIns="0" rtlCol="0" anchor="t"/>
          <a:lstStyle/>
          <a:p>
            <a:pPr indent="0" marL="0">
              <a:lnSpc>
                <a:spcPts val="1512"/>
              </a:lnSpc>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屬小額採購，本組權責即可核定，不必往上跑層級。</a:t>
            </a:r>
            <a:endParaRPr lang="en-US" sz="1050" dirty="0"/>
          </a:p>
        </p:txBody>
      </p:sp>
      <p:sp>
        <p:nvSpPr>
          <p:cNvPr id="14" name="Shape 12"/>
          <p:cNvSpPr/>
          <p:nvPr/>
        </p:nvSpPr>
        <p:spPr>
          <a:xfrm>
            <a:off x="6233008" y="1481328"/>
            <a:ext cx="2513000" cy="1600200"/>
          </a:xfrm>
          <a:prstGeom prst="roundRect">
            <a:avLst>
              <a:gd name="adj" fmla="val 2000"/>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5" name="Text 13"/>
          <p:cNvSpPr/>
          <p:nvPr/>
        </p:nvSpPr>
        <p:spPr>
          <a:xfrm>
            <a:off x="6452464" y="1645920"/>
            <a:ext cx="694944" cy="237744"/>
          </a:xfrm>
          <a:prstGeom prst="roundRect">
            <a:avLst>
              <a:gd name="adj" fmla="val 11538"/>
            </a:avLst>
          </a:prstGeom>
          <a:solidFill>
            <a:srgbClr val="E1F1E9"/>
          </a:solidFill>
          <a:ln>
            <a:solidFill>
              <a:srgbClr val="E1F1E9"/>
            </a:solidFill>
          </a:ln>
        </p:spPr>
        <p:txBody>
          <a:bodyPr wrap="square" lIns="0" tIns="0" rIns="0" bIns="0" rtlCol="0" anchor="ctr"/>
          <a:lstStyle/>
          <a:p>
            <a:pPr algn="ctr" indent="0" marL="0">
              <a:buNone/>
            </a:pPr>
            <a:r>
              <a:rPr lang="en-US" sz="900" b="1" spc="60" kern="0" dirty="0">
                <a:solidFill>
                  <a:srgbClr val="1A7F4E"/>
                </a:solidFill>
                <a:latin typeface="Arial" pitchFamily="34" charset="0"/>
                <a:ea typeface="Microsoft JhengHei"/>
                <a:cs typeface="Microsoft JhengHei"/>
                <a:ea typeface="Arial" pitchFamily="34" charset="-122"/>
                <a:cs typeface="Arial" pitchFamily="34" charset="-120"/>
              </a:rPr>
              <a:t>財產登記</a:t>
            </a:r>
            <a:endParaRPr lang="en-US" sz="900" dirty="0"/>
          </a:p>
        </p:txBody>
      </p:sp>
      <p:sp>
        <p:nvSpPr>
          <p:cNvPr id="16" name="Text 14"/>
          <p:cNvSpPr/>
          <p:nvPr/>
        </p:nvSpPr>
        <p:spPr>
          <a:xfrm>
            <a:off x="6452464" y="2011680"/>
            <a:ext cx="2074088"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不涉財產登記</a:t>
            </a:r>
            <a:endParaRPr lang="en-US" sz="1500" dirty="0"/>
          </a:p>
        </p:txBody>
      </p:sp>
      <p:sp>
        <p:nvSpPr>
          <p:cNvPr id="17" name="Text 15"/>
          <p:cNvSpPr/>
          <p:nvPr/>
        </p:nvSpPr>
        <p:spPr>
          <a:xfrm>
            <a:off x="6452464" y="2359152"/>
            <a:ext cx="2074088" cy="576072"/>
          </a:xfrm>
          <a:prstGeom prst="rect">
            <a:avLst/>
          </a:prstGeom>
          <a:noFill/>
          <a:ln/>
        </p:spPr>
        <p:txBody>
          <a:bodyPr wrap="square" lIns="0" tIns="0" rIns="0" bIns="0" rtlCol="0" anchor="t"/>
          <a:lstStyle/>
          <a:p>
            <a:pPr indent="0" marL="0">
              <a:lnSpc>
                <a:spcPts val="1512"/>
              </a:lnSpc>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純訂閱服務，機關未取得軟硬體所有權，省一段流程。</a:t>
            </a:r>
            <a:endParaRPr lang="en-US" sz="1050" dirty="0"/>
          </a:p>
        </p:txBody>
      </p:sp>
      <p:sp>
        <p:nvSpPr>
          <p:cNvPr id="18" name="Shape 16"/>
          <p:cNvSpPr/>
          <p:nvPr/>
        </p:nvSpPr>
        <p:spPr>
          <a:xfrm>
            <a:off x="9020327" y="1481328"/>
            <a:ext cx="2513000" cy="1600200"/>
          </a:xfrm>
          <a:prstGeom prst="roundRect">
            <a:avLst>
              <a:gd name="adj" fmla="val 2000"/>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9" name="Text 17"/>
          <p:cNvSpPr/>
          <p:nvPr/>
        </p:nvSpPr>
        <p:spPr>
          <a:xfrm>
            <a:off x="9239783" y="1645920"/>
            <a:ext cx="694944" cy="237744"/>
          </a:xfrm>
          <a:prstGeom prst="roundRect">
            <a:avLst>
              <a:gd name="adj" fmla="val 11538"/>
            </a:avLst>
          </a:prstGeom>
          <a:solidFill>
            <a:srgbClr val="E1F1E9"/>
          </a:solidFill>
          <a:ln>
            <a:solidFill>
              <a:srgbClr val="E1F1E9"/>
            </a:solidFill>
          </a:ln>
        </p:spPr>
        <p:txBody>
          <a:bodyPr wrap="square" lIns="0" tIns="0" rIns="0" bIns="0" rtlCol="0" anchor="ctr"/>
          <a:lstStyle/>
          <a:p>
            <a:pPr algn="ctr" indent="0" marL="0">
              <a:buNone/>
            </a:pPr>
            <a:r>
              <a:rPr lang="en-US" sz="900" b="1" spc="60" kern="0" dirty="0">
                <a:solidFill>
                  <a:srgbClr val="1A7F4E"/>
                </a:solidFill>
                <a:latin typeface="Arial" pitchFamily="34" charset="0"/>
                <a:ea typeface="Microsoft JhengHei"/>
                <a:cs typeface="Microsoft JhengHei"/>
                <a:ea typeface="Arial" pitchFamily="34" charset="-122"/>
                <a:cs typeface="Arial" pitchFamily="34" charset="-120"/>
              </a:rPr>
              <a:t>校內規定</a:t>
            </a:r>
            <a:endParaRPr lang="en-US" sz="900" dirty="0"/>
          </a:p>
        </p:txBody>
      </p:sp>
      <p:sp>
        <p:nvSpPr>
          <p:cNvPr id="20" name="Text 18"/>
          <p:cNvSpPr/>
          <p:nvPr/>
        </p:nvSpPr>
        <p:spPr>
          <a:xfrm>
            <a:off x="9239783" y="2011680"/>
            <a:ext cx="2074088"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無加嚴規定</a:t>
            </a:r>
            <a:endParaRPr lang="en-US" sz="1500" dirty="0"/>
          </a:p>
        </p:txBody>
      </p:sp>
      <p:sp>
        <p:nvSpPr>
          <p:cNvPr id="21" name="Text 19"/>
          <p:cNvSpPr/>
          <p:nvPr/>
        </p:nvSpPr>
        <p:spPr>
          <a:xfrm>
            <a:off x="9239783" y="2359152"/>
            <a:ext cx="2074088" cy="576072"/>
          </a:xfrm>
          <a:prstGeom prst="rect">
            <a:avLst/>
          </a:prstGeom>
          <a:noFill/>
          <a:ln/>
        </p:spPr>
        <p:txBody>
          <a:bodyPr wrap="square" lIns="0" tIns="0" rIns="0" bIns="0" rtlCol="0" anchor="t"/>
          <a:lstStyle/>
          <a:p>
            <a:pPr indent="0" marL="0">
              <a:lnSpc>
                <a:spcPts val="1512"/>
              </a:lnSpc>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已確認貴校對 15 萬以下無額外加嚴要求。</a:t>
            </a:r>
            <a:endParaRPr lang="en-US" sz="1050" dirty="0"/>
          </a:p>
        </p:txBody>
      </p:sp>
      <p:sp>
        <p:nvSpPr>
          <p:cNvPr id="22" name="Shape 20"/>
          <p:cNvSpPr/>
          <p:nvPr/>
        </p:nvSpPr>
        <p:spPr>
          <a:xfrm>
            <a:off x="658368" y="3401568"/>
            <a:ext cx="10874959" cy="1737360"/>
          </a:xfrm>
          <a:prstGeom prst="roundRect">
            <a:avLst>
              <a:gd name="adj" fmla="val 1842"/>
            </a:avLst>
          </a:prstGeom>
          <a:solidFill>
            <a:srgbClr val="FCE9DC"/>
          </a:solidFill>
          <a:ln w="12700">
            <a:solidFill>
              <a:srgbClr val="FCE9DC"/>
            </a:solidFill>
            <a:prstDash val="solid"/>
          </a:ln>
        </p:spPr>
      </p:sp>
      <p:sp>
        <p:nvSpPr>
          <p:cNvPr id="23" name="Text 21"/>
          <p:cNvSpPr/>
          <p:nvPr/>
        </p:nvSpPr>
        <p:spPr>
          <a:xfrm>
            <a:off x="969264" y="3566160"/>
            <a:ext cx="10253167" cy="292608"/>
          </a:xfrm>
          <a:prstGeom prst="rect">
            <a:avLst/>
          </a:prstGeom>
          <a:noFill/>
          <a:ln/>
        </p:spPr>
        <p:txBody>
          <a:bodyPr wrap="square" lIns="0" tIns="0" rIns="0" bIns="0" rtlCol="0" anchor="ctr"/>
          <a:lstStyle/>
          <a:p>
            <a:pPr indent="0" marL="0">
              <a:buNone/>
            </a:pPr>
            <a:r>
              <a:rPr lang="en-US" sz="1600" b="1" dirty="0">
                <a:solidFill>
                  <a:srgbClr val="1D2B39"/>
                </a:solidFill>
                <a:latin typeface="Arial" pitchFamily="34" charset="0"/>
                <a:ea typeface="Microsoft JhengHei"/>
                <a:cs typeface="Microsoft JhengHei"/>
                <a:ea typeface="Arial" pitchFamily="34" charset="-122"/>
                <a:cs typeface="Arial" pitchFamily="34" charset="-120"/>
              </a:rPr>
              <a:t>剩下的兩件事</a:t>
            </a:r>
            <a:endParaRPr lang="en-US" sz="1600" dirty="0"/>
          </a:p>
        </p:txBody>
      </p:sp>
      <p:sp>
        <p:nvSpPr>
          <p:cNvPr id="24" name="Text 22"/>
          <p:cNvSpPr/>
          <p:nvPr/>
        </p:nvSpPr>
        <p:spPr>
          <a:xfrm>
            <a:off x="969264" y="3986784"/>
            <a:ext cx="274320" cy="274320"/>
          </a:xfrm>
          <a:prstGeom prst="rect">
            <a:avLst/>
          </a:prstGeom>
          <a:noFill/>
          <a:ln/>
        </p:spPr>
        <p:txBody>
          <a:bodyPr wrap="square" lIns="0" tIns="0" rIns="0" bIns="0" rtlCol="0" anchor="ctr"/>
          <a:lstStyle/>
          <a:p>
            <a:pPr indent="0" marL="0">
              <a:buNone/>
            </a:pPr>
            <a:r>
              <a:rPr lang="en-US" sz="1400" b="1" dirty="0">
                <a:solidFill>
                  <a:srgbClr val="E8630C"/>
                </a:solidFill>
                <a:latin typeface="Arial" pitchFamily="34" charset="0"/>
                <a:ea typeface="Microsoft JhengHei"/>
                <a:cs typeface="Microsoft JhengHei"/>
                <a:ea typeface="Arial" pitchFamily="34" charset="-122"/>
                <a:cs typeface="Arial" pitchFamily="34" charset="-120"/>
              </a:rPr>
              <a:t>一</a:t>
            </a:r>
            <a:endParaRPr lang="en-US" sz="1400" dirty="0"/>
          </a:p>
        </p:txBody>
      </p:sp>
      <p:sp>
        <p:nvSpPr>
          <p:cNvPr id="25" name="Text 23"/>
          <p:cNvSpPr/>
          <p:nvPr/>
        </p:nvSpPr>
        <p:spPr>
          <a:xfrm>
            <a:off x="1280160" y="3986784"/>
            <a:ext cx="4632808" cy="274320"/>
          </a:xfrm>
          <a:prstGeom prst="rect">
            <a:avLst/>
          </a:prstGeom>
          <a:noFill/>
          <a:ln/>
        </p:spPr>
        <p:txBody>
          <a:bodyPr wrap="square" lIns="0" tIns="0" rIns="0" bIns="0" rtlCol="0" anchor="ctr"/>
          <a:lstStyle/>
          <a:p>
            <a:pPr indent="0" marL="0">
              <a:buNone/>
            </a:pPr>
            <a:r>
              <a:rPr lang="en-US" sz="1400" b="1" dirty="0">
                <a:solidFill>
                  <a:srgbClr val="1D2B39"/>
                </a:solidFill>
                <a:latin typeface="Arial" pitchFamily="34" charset="0"/>
                <a:ea typeface="Microsoft JhengHei"/>
                <a:cs typeface="Microsoft JhengHei"/>
                <a:ea typeface="Arial" pitchFamily="34" charset="-122"/>
                <a:cs typeface="Arial" pitchFamily="34" charset="-120"/>
              </a:rPr>
              <a:t>履約期間與驗收時點</a:t>
            </a:r>
            <a:endParaRPr lang="en-US" sz="1400" dirty="0"/>
          </a:p>
        </p:txBody>
      </p:sp>
      <p:sp>
        <p:nvSpPr>
          <p:cNvPr id="26" name="Text 24"/>
          <p:cNvSpPr/>
          <p:nvPr/>
        </p:nvSpPr>
        <p:spPr>
          <a:xfrm>
            <a:off x="1280160" y="4315968"/>
            <a:ext cx="4632808" cy="548640"/>
          </a:xfrm>
          <a:prstGeom prst="rect">
            <a:avLst/>
          </a:prstGeom>
          <a:noFill/>
          <a:ln/>
        </p:spPr>
        <p:txBody>
          <a:bodyPr wrap="square" lIns="0" tIns="0" rIns="0" bIns="0" rtlCol="0" anchor="t"/>
          <a:lstStyle/>
          <a:p>
            <a:pPr indent="0" marL="0">
              <a:lnSpc>
                <a:spcPts val="1650"/>
              </a:lnSpc>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簽一定要寫到「什麼時候驗收」。下一頁提三個方案，今天就可以定。</a:t>
            </a:r>
            <a:endParaRPr lang="en-US" sz="1150" dirty="0"/>
          </a:p>
        </p:txBody>
      </p:sp>
      <p:sp>
        <p:nvSpPr>
          <p:cNvPr id="27" name="Text 25"/>
          <p:cNvSpPr/>
          <p:nvPr/>
        </p:nvSpPr>
        <p:spPr>
          <a:xfrm>
            <a:off x="6278728" y="3986784"/>
            <a:ext cx="274320" cy="274320"/>
          </a:xfrm>
          <a:prstGeom prst="rect">
            <a:avLst/>
          </a:prstGeom>
          <a:noFill/>
          <a:ln/>
        </p:spPr>
        <p:txBody>
          <a:bodyPr wrap="square" lIns="0" tIns="0" rIns="0" bIns="0" rtlCol="0" anchor="ctr"/>
          <a:lstStyle/>
          <a:p>
            <a:pPr indent="0" marL="0">
              <a:buNone/>
            </a:pPr>
            <a:r>
              <a:rPr lang="en-US" sz="1400" b="1" dirty="0">
                <a:solidFill>
                  <a:srgbClr val="E8630C"/>
                </a:solidFill>
                <a:latin typeface="Arial" pitchFamily="34" charset="0"/>
                <a:ea typeface="Microsoft JhengHei"/>
                <a:cs typeface="Microsoft JhengHei"/>
                <a:ea typeface="Arial" pitchFamily="34" charset="-122"/>
                <a:cs typeface="Arial" pitchFamily="34" charset="-120"/>
              </a:rPr>
              <a:t>二</a:t>
            </a:r>
            <a:endParaRPr lang="en-US" sz="1400" dirty="0"/>
          </a:p>
        </p:txBody>
      </p:sp>
      <p:sp>
        <p:nvSpPr>
          <p:cNvPr id="28" name="Text 26"/>
          <p:cNvSpPr/>
          <p:nvPr/>
        </p:nvSpPr>
        <p:spPr>
          <a:xfrm>
            <a:off x="6589624" y="3986784"/>
            <a:ext cx="4632808" cy="274320"/>
          </a:xfrm>
          <a:prstGeom prst="rect">
            <a:avLst/>
          </a:prstGeom>
          <a:noFill/>
          <a:ln/>
        </p:spPr>
        <p:txBody>
          <a:bodyPr wrap="square" lIns="0" tIns="0" rIns="0" bIns="0" rtlCol="0" anchor="ctr"/>
          <a:lstStyle/>
          <a:p>
            <a:pPr indent="0" marL="0">
              <a:buNone/>
            </a:pPr>
            <a:r>
              <a:rPr lang="en-US" sz="1400" b="1" dirty="0">
                <a:solidFill>
                  <a:srgbClr val="1D2B39"/>
                </a:solidFill>
                <a:latin typeface="Arial" pitchFamily="34" charset="0"/>
                <a:ea typeface="Microsoft JhengHei"/>
                <a:cs typeface="Microsoft JhengHei"/>
                <a:ea typeface="Arial" pitchFamily="34" charset="-122"/>
                <a:cs typeface="Arial" pitchFamily="34" charset="-120"/>
              </a:rPr>
              <a:t>會辦計網中心</a:t>
            </a:r>
            <a:endParaRPr lang="en-US" sz="1400" dirty="0"/>
          </a:p>
        </p:txBody>
      </p:sp>
      <p:sp>
        <p:nvSpPr>
          <p:cNvPr id="29" name="Text 27"/>
          <p:cNvSpPr/>
          <p:nvPr/>
        </p:nvSpPr>
        <p:spPr>
          <a:xfrm>
            <a:off x="6589624" y="4315968"/>
            <a:ext cx="4632808" cy="548640"/>
          </a:xfrm>
          <a:prstGeom prst="rect">
            <a:avLst/>
          </a:prstGeom>
          <a:noFill/>
          <a:ln/>
        </p:spPr>
        <p:txBody>
          <a:bodyPr wrap="square" lIns="0" tIns="0" rIns="0" bIns="0" rtlCol="0" anchor="t"/>
          <a:lstStyle/>
          <a:p>
            <a:pPr indent="0" marL="0">
              <a:lnSpc>
                <a:spcPts val="1650"/>
              </a:lnSpc>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資訊類採購必會辦。文件我已備齊，希望送簽前先與他們對過一次。</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參 · 簽辦</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20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C05209"/>
                </a:solidFill>
                <a:latin typeface="Arial" pitchFamily="34" charset="0"/>
                <a:ea typeface="Microsoft JhengHei"/>
                <a:cs typeface="Microsoft JhengHei"/>
                <a:ea typeface="Arial" pitchFamily="34" charset="-122"/>
                <a:cs typeface="Arial" pitchFamily="34" charset="-120"/>
              </a:rPr>
              <a:t>要決定的第一件事</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3100" b="1" dirty="0">
                <a:solidFill>
                  <a:srgbClr val="1D2B39"/>
                </a:solidFill>
                <a:latin typeface="Arial" pitchFamily="34" charset="0"/>
                <a:ea typeface="Microsoft JhengHei"/>
                <a:cs typeface="Microsoft JhengHei"/>
                <a:ea typeface="Arial" pitchFamily="34" charset="-122"/>
                <a:cs typeface="Arial" pitchFamily="34" charset="-120"/>
              </a:rPr>
              <a:t>簽要簽到什麼時候驗收。</a:t>
            </a:r>
            <a:endParaRPr lang="en-US" sz="3100" dirty="0"/>
          </a:p>
        </p:txBody>
      </p:sp>
      <p:sp>
        <p:nvSpPr>
          <p:cNvPr id="6" name="Shape 4"/>
          <p:cNvSpPr/>
          <p:nvPr/>
        </p:nvSpPr>
        <p:spPr>
          <a:xfrm>
            <a:off x="658368" y="1481328"/>
            <a:ext cx="10874959" cy="713232"/>
          </a:xfrm>
          <a:prstGeom prst="roundRect">
            <a:avLst>
              <a:gd name="adj" fmla="val 4487"/>
            </a:avLst>
          </a:prstGeom>
          <a:solidFill>
            <a:srgbClr val="FFFFFF"/>
          </a:solidFill>
          <a:ln w="9525">
            <a:solidFill>
              <a:srgbClr val="E6EBF0"/>
            </a:solidFill>
            <a:prstDash val="solid"/>
          </a:ln>
        </p:spPr>
      </p:sp>
      <p:sp>
        <p:nvSpPr>
          <p:cNvPr id="7" name="Text 5"/>
          <p:cNvSpPr/>
          <p:nvPr/>
        </p:nvSpPr>
        <p:spPr>
          <a:xfrm>
            <a:off x="896112" y="1536192"/>
            <a:ext cx="10399471" cy="603504"/>
          </a:xfrm>
          <a:prstGeom prst="rect">
            <a:avLst/>
          </a:prstGeom>
          <a:noFill/>
          <a:ln/>
        </p:spPr>
        <p:txBody>
          <a:bodyPr wrap="square" lIns="0" tIns="0" rIns="0" bIns="0" rtlCol="0" anchor="ctr"/>
          <a:lstStyle/>
          <a:p>
            <a:pPr indent="0" marL="0">
              <a:lnSpc>
                <a:spcPts val="1550"/>
              </a:lnSpc>
              <a:buNone/>
            </a:pPr>
            <a:r>
              <a:rPr lang="en-US" sz="1100" b="1" dirty="0">
                <a:solidFill>
                  <a:srgbClr val="1B5480"/>
                </a:solidFill>
                <a:latin typeface="Arial" pitchFamily="34" charset="0"/>
                <a:ea typeface="Microsoft JhengHei"/>
                <a:cs typeface="Microsoft JhengHei"/>
                <a:ea typeface="Arial" pitchFamily="34" charset="-122"/>
                <a:cs typeface="Arial" pitchFamily="34" charset="-120"/>
              </a:rPr>
              <a:t>政府採購法施行細則　</a:t>
            </a:r>
            <a:pPr indent="0" marL="0">
              <a:lnSpc>
                <a:spcPts val="1550"/>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§90-1　勞務驗收，得以書面或召開審查會方式辦理；其書面驗收文件或審查會紀錄，得視為驗收紀錄。　　§94　無初驗程序者，除契約另有規定外，機關應於接獲廠商通知備驗或可得驗收之程序完成後三十日內辦理驗收。</a:t>
            </a:r>
            <a:endParaRPr lang="en-US" sz="1100" dirty="0"/>
          </a:p>
        </p:txBody>
      </p:sp>
      <p:sp>
        <p:nvSpPr>
          <p:cNvPr id="8" name="Text 6"/>
          <p:cNvSpPr/>
          <p:nvPr/>
        </p:nvSpPr>
        <p:spPr>
          <a:xfrm>
            <a:off x="658368" y="2340864"/>
            <a:ext cx="10874959" cy="292608"/>
          </a:xfrm>
          <a:prstGeom prst="rect">
            <a:avLst/>
          </a:prstGeom>
          <a:noFill/>
          <a:ln/>
        </p:spPr>
        <p:txBody>
          <a:bodyPr wrap="square" lIns="0" tIns="0" rIns="0" bIns="0" rtlCol="0" anchor="ctr"/>
          <a:lstStyle/>
          <a:p>
            <a:pPr indent="0" marL="0">
              <a:buNone/>
            </a:pPr>
            <a:r>
              <a:rPr lang="en-US" sz="1250" dirty="0">
                <a:solidFill>
                  <a:srgbClr val="4E5F70"/>
                </a:solidFill>
                <a:latin typeface="Arial" pitchFamily="34" charset="0"/>
                <a:ea typeface="Microsoft JhengHei"/>
                <a:cs typeface="Microsoft JhengHei"/>
                <a:ea typeface="Arial" pitchFamily="34" charset="-122"/>
                <a:cs typeface="Arial" pitchFamily="34" charset="-120"/>
              </a:rPr>
              <a:t>本案是勞務採購，所以可以書面驗收、不必到場查驗、不辦資產點交。要在簽裡寫死的只有一件事：什麼事件觸發驗收。</a:t>
            </a:r>
            <a:endParaRPr lang="en-US" sz="12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58368" y="2761488"/>
          <a:ext cx="10874959" cy="914400"/>
        </p:xfrm>
        <a:graphic>
          <a:graphicData uri="http://schemas.openxmlformats.org/drawingml/2006/table">
            <a:tbl>
              <a:tblPr/>
              <a:tblGrid>
                <a:gridCol w="1371600"/>
                <a:gridCol w="2834640"/>
                <a:gridCol w="1371600"/>
                <a:gridCol w="4016959"/>
                <a:gridCol w="914400"/>
              </a:tblGrid>
              <a:tr h="0">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方案</a:t>
                      </a:r>
                      <a:endParaRPr lang="en-US" sz="9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驗收時點</a:t>
                      </a:r>
                      <a:endParaRPr lang="en-US" sz="9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付款</a:t>
                      </a:r>
                      <a:endParaRPr lang="en-US" sz="9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對貴組</a:t>
                      </a:r>
                      <a:endParaRPr lang="en-US" sz="9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c>
                  <a:txBody>
                    <a:bodyPr/>
                    <a:lstStyle/>
                    <a:p>
                      <a:pPr algn="l" indent="0" marL="0">
                        <a:buNone/>
                      </a:pPr>
                      <a:endParaRPr lang="en-US" sz="9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r>
              <a:tr h="0">
                <a:tc>
                  <a:txBody>
                    <a:bodyPr/>
                    <a:lstStyle/>
                    <a:p>
                      <a:pPr algn="l" indent="0" marL="0">
                        <a:buNone/>
                      </a:pPr>
                      <a:r>
                        <a:rPr lang="en-US" sz="1050" b="1" dirty="0">
                          <a:solidFill>
                            <a:srgbClr val="1D2B39"/>
                          </a:solidFill>
                          <a:latin typeface="Arial" pitchFamily="34" charset="0"/>
                          <a:ea typeface="Microsoft JhengHei"/>
                          <a:cs typeface="Microsoft JhengHei"/>
                          <a:ea typeface="Arial" pitchFamily="34" charset="-122"/>
                          <a:cs typeface="Arial" pitchFamily="34" charset="-120"/>
                        </a:rPr>
                        <a:t>甲　期滿驗收</a:t>
                      </a:r>
                      <a:endParaRPr lang="en-US" sz="10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服務期間屆滿後書面驗收</a:t>
                      </a:r>
                      <a:endParaRPr lang="en-US" sz="10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期滿一次付清</a:t>
                      </a:r>
                      <a:endParaRPr lang="en-US" sz="10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最保守，但整個服務期間沒有檢核點，出問題只能到期末處理</a:t>
                      </a:r>
                      <a:endParaRPr lang="en-US" sz="10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7A8794"/>
                          </a:solidFill>
                          <a:latin typeface="Arial" pitchFamily="34" charset="0"/>
                          <a:ea typeface="Microsoft JhengHei"/>
                          <a:cs typeface="Microsoft JhengHei"/>
                          <a:ea typeface="Arial" pitchFamily="34" charset="-122"/>
                          <a:cs typeface="Arial" pitchFamily="34" charset="-120"/>
                        </a:rPr>
                        <a:t>可接受</a:t>
                      </a:r>
                      <a:endParaRPr lang="en-US" sz="10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3E9EF"/>
                    </a:solidFill>
                  </a:tcPr>
                </a:tc>
              </a:tr>
              <a:tr h="0">
                <a:tc>
                  <a:txBody>
                    <a:bodyPr/>
                    <a:lstStyle/>
                    <a:p>
                      <a:pPr algn="l" indent="0" marL="0">
                        <a:buNone/>
                      </a:pPr>
                      <a:r>
                        <a:rPr lang="en-US" sz="1050" b="1" dirty="0">
                          <a:solidFill>
                            <a:srgbClr val="1D2B39"/>
                          </a:solidFill>
                          <a:latin typeface="Arial" pitchFamily="34" charset="0"/>
                          <a:ea typeface="Microsoft JhengHei"/>
                          <a:cs typeface="Microsoft JhengHei"/>
                          <a:ea typeface="Arial" pitchFamily="34" charset="-122"/>
                          <a:cs typeface="Arial" pitchFamily="34" charset="-120"/>
                        </a:rPr>
                        <a:t>乙　開通驗收</a:t>
                      </a:r>
                      <a:endParaRPr lang="en-US" sz="10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服務開通、貴組確認約定功能可用後三十日內書面驗收</a:t>
                      </a:r>
                      <a:endParaRPr lang="en-US" sz="10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驗收合格後一次付款</a:t>
                      </a:r>
                      <a:endParaRPr lang="en-US" sz="10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一次驗收一次核銷，作業最省；履約保障改由服務承諾條款負責（下頁）</a:t>
                      </a:r>
                      <a:endParaRPr lang="en-US" sz="10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A7F4E"/>
                          </a:solidFill>
                          <a:latin typeface="Arial" pitchFamily="34" charset="0"/>
                          <a:ea typeface="Microsoft JhengHei"/>
                          <a:cs typeface="Microsoft JhengHei"/>
                          <a:ea typeface="Arial" pitchFamily="34" charset="-122"/>
                          <a:cs typeface="Arial" pitchFamily="34" charset="-120"/>
                        </a:rPr>
                        <a:t>建議</a:t>
                      </a:r>
                      <a:endParaRPr lang="en-US" sz="10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1F1E9"/>
                    </a:solidFill>
                  </a:tcPr>
                </a:tc>
              </a:tr>
              <a:tr h="0">
                <a:tc>
                  <a:txBody>
                    <a:bodyPr/>
                    <a:lstStyle/>
                    <a:p>
                      <a:pPr algn="l" indent="0" marL="0">
                        <a:buNone/>
                      </a:pPr>
                      <a:r>
                        <a:rPr lang="en-US" sz="1050" b="1" dirty="0">
                          <a:solidFill>
                            <a:srgbClr val="1D2B39"/>
                          </a:solidFill>
                          <a:latin typeface="Arial" pitchFamily="34" charset="0"/>
                          <a:ea typeface="Microsoft JhengHei"/>
                          <a:cs typeface="Microsoft JhengHei"/>
                          <a:ea typeface="Arial" pitchFamily="34" charset="-122"/>
                          <a:cs typeface="Arial" pitchFamily="34" charset="-120"/>
                        </a:rPr>
                        <a:t>丙　分期驗收</a:t>
                      </a:r>
                      <a:endParaRPr lang="en-US" sz="10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開通驗收 ＋ 期滿結案驗收</a:t>
                      </a:r>
                      <a:endParaRPr lang="en-US" sz="10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分二期</a:t>
                      </a:r>
                      <a:endParaRPr lang="en-US" sz="10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多一個檢核點，但要跑兩次驗收與兩次核銷</a:t>
                      </a:r>
                      <a:endParaRPr lang="en-US" sz="10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7A8794"/>
                          </a:solidFill>
                          <a:latin typeface="Arial" pitchFamily="34" charset="0"/>
                          <a:ea typeface="Microsoft JhengHei"/>
                          <a:cs typeface="Microsoft JhengHei"/>
                          <a:ea typeface="Arial" pitchFamily="34" charset="-122"/>
                          <a:cs typeface="Arial" pitchFamily="34" charset="-120"/>
                        </a:rPr>
                        <a:t>也可以</a:t>
                      </a:r>
                      <a:endParaRPr lang="en-US" sz="1050" dirty="0">
                        <a:latin typeface="Arial" charset="0"/>
                        <a:ea typeface="Microsoft JhengHei"/>
                        <a:cs typeface="Microsoft JhengHei"/>
                        <a:ea typeface="Arial" charset="0"/>
                        <a:cs typeface="Arial" charset="0"/>
                      </a:endParaRPr>
                    </a:p>
                  </a:txBody>
                  <a:tcPr marL="127000" marR="127000" marT="152400" marB="1524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3E9EF"/>
                    </a:solidFill>
                  </a:tcPr>
                </a:tc>
              </a:tr>
            </a:tbl>
          </a:graphicData>
        </a:graphic>
      </p:graphicFrame>
      <p:sp>
        <p:nvSpPr>
          <p:cNvPr id="10" name="Shape 7"/>
          <p:cNvSpPr/>
          <p:nvPr/>
        </p:nvSpPr>
        <p:spPr>
          <a:xfrm>
            <a:off x="658368" y="5029200"/>
            <a:ext cx="10874959" cy="914400"/>
          </a:xfrm>
          <a:prstGeom prst="roundRect">
            <a:avLst>
              <a:gd name="adj" fmla="val 3500"/>
            </a:avLst>
          </a:prstGeom>
          <a:solidFill>
            <a:srgbClr val="E4EDF5"/>
          </a:solidFill>
          <a:ln w="12700">
            <a:solidFill>
              <a:srgbClr val="E4EDF5"/>
            </a:solidFill>
            <a:prstDash val="solid"/>
          </a:ln>
        </p:spPr>
      </p:sp>
      <p:sp>
        <p:nvSpPr>
          <p:cNvPr id="11" name="Text 8"/>
          <p:cNvSpPr/>
          <p:nvPr/>
        </p:nvSpPr>
        <p:spPr>
          <a:xfrm>
            <a:off x="932688" y="5029200"/>
            <a:ext cx="10326319" cy="914400"/>
          </a:xfrm>
          <a:prstGeom prst="rect">
            <a:avLst/>
          </a:prstGeom>
          <a:noFill/>
          <a:ln/>
        </p:spPr>
        <p:txBody>
          <a:bodyPr wrap="square" lIns="0" tIns="0" rIns="0" bIns="0" rtlCol="0" anchor="ctr"/>
          <a:lstStyle/>
          <a:p>
            <a:pPr indent="0" marL="0">
              <a:lnSpc>
                <a:spcPts val="1900"/>
              </a:lnSpc>
              <a:buNone/>
            </a:pPr>
            <a:r>
              <a:rPr lang="en-US" sz="1250" b="1" dirty="0">
                <a:solidFill>
                  <a:srgbClr val="1D2B39"/>
                </a:solidFill>
                <a:latin typeface="Arial" pitchFamily="34" charset="0"/>
                <a:ea typeface="Microsoft JhengHei"/>
                <a:cs typeface="Microsoft JhengHei"/>
                <a:ea typeface="Arial" pitchFamily="34" charset="-122"/>
                <a:cs typeface="Arial" pitchFamily="34" charset="-120"/>
              </a:rPr>
              <a:t>建議方案乙，理由：</a:t>
            </a:r>
            <a:pPr indent="0" marL="0">
              <a:lnSpc>
                <a:spcPts val="1900"/>
              </a:lnSpc>
              <a:buNone/>
            </a:pPr>
            <a:r>
              <a:rPr lang="en-US" sz="1250" dirty="0">
                <a:solidFill>
                  <a:srgbClr val="4E5F70"/>
                </a:solidFill>
                <a:latin typeface="Arial" pitchFamily="34" charset="0"/>
                <a:ea typeface="Microsoft JhengHei"/>
                <a:cs typeface="Microsoft JhengHei"/>
                <a:ea typeface="Arial" pitchFamily="34" charset="-122"/>
                <a:cs typeface="Arial" pitchFamily="34" charset="-120"/>
              </a:rPr>
              <a:t>訂閱服務的價值是在期間內持續提供，把驗收拖到期末並不會讓貴組多一分保障；真正的保障是寫進契約的服務承諾。若貴組偏好保守，我方完全接受方案丙，服務內容不變。</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參 · 簽辦</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21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C05209"/>
                </a:solidFill>
                <a:latin typeface="Arial" pitchFamily="34" charset="0"/>
                <a:ea typeface="Microsoft JhengHei"/>
                <a:cs typeface="Microsoft JhengHei"/>
                <a:ea typeface="Arial" pitchFamily="34" charset="-122"/>
                <a:cs typeface="Arial" pitchFamily="34" charset="-120"/>
              </a:rPr>
              <a:t>要決定的第一件事之二</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3100" b="1" dirty="0">
                <a:solidFill>
                  <a:srgbClr val="1D2B39"/>
                </a:solidFill>
                <a:latin typeface="Arial" pitchFamily="34" charset="0"/>
                <a:ea typeface="Microsoft JhengHei"/>
                <a:cs typeface="Microsoft JhengHei"/>
                <a:ea typeface="Arial" pitchFamily="34" charset="-122"/>
                <a:cs typeface="Arial" pitchFamily="34" charset="-120"/>
              </a:rPr>
              <a:t>這不是試用，是有驗收標準的履約。</a:t>
            </a:r>
            <a:endParaRPr lang="en-US" sz="3100" dirty="0"/>
          </a:p>
        </p:txBody>
      </p:sp>
      <p:sp>
        <p:nvSpPr>
          <p:cNvPr id="6" name="Text 4"/>
          <p:cNvSpPr/>
          <p:nvPr/>
        </p:nvSpPr>
        <p:spPr>
          <a:xfrm>
            <a:off x="658368" y="1481328"/>
            <a:ext cx="10874959" cy="292608"/>
          </a:xfrm>
          <a:prstGeom prst="rect">
            <a:avLst/>
          </a:prstGeom>
          <a:noFill/>
          <a:ln/>
        </p:spPr>
        <p:txBody>
          <a:bodyPr wrap="square" lIns="0" tIns="0" rIns="0" bIns="0" rtlCol="0" anchor="ctr"/>
          <a:lstStyle/>
          <a:p>
            <a:pPr indent="0" marL="0">
              <a:buNone/>
            </a:pPr>
            <a:r>
              <a:rPr lang="en-US" sz="1250" dirty="0">
                <a:solidFill>
                  <a:srgbClr val="4E5F70"/>
                </a:solidFill>
                <a:latin typeface="Arial" pitchFamily="34" charset="0"/>
                <a:ea typeface="Microsoft JhengHei"/>
                <a:cs typeface="Microsoft JhengHei"/>
                <a:ea typeface="Arial" pitchFamily="34" charset="-122"/>
                <a:cs typeface="Arial" pitchFamily="34" charset="-120"/>
              </a:rPr>
              <a:t>政府採購沒有「不想用就退掉」這種事。以下六項擬全部寫進服務契約，成為可被檢核的義務。</a:t>
            </a:r>
            <a:endParaRPr lang="en-US" sz="1250" dirty="0"/>
          </a:p>
        </p:txBody>
      </p:sp>
      <p:sp>
        <p:nvSpPr>
          <p:cNvPr id="7" name="Shape 5"/>
          <p:cNvSpPr/>
          <p:nvPr/>
        </p:nvSpPr>
        <p:spPr>
          <a:xfrm>
            <a:off x="658368" y="1883664"/>
            <a:ext cx="3442106" cy="1298448"/>
          </a:xfrm>
          <a:prstGeom prst="roundRect">
            <a:avLst>
              <a:gd name="adj" fmla="val 2465"/>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8" name="Text 6"/>
          <p:cNvSpPr/>
          <p:nvPr/>
        </p:nvSpPr>
        <p:spPr>
          <a:xfrm>
            <a:off x="877824" y="2048256"/>
            <a:ext cx="3003194" cy="274320"/>
          </a:xfrm>
          <a:prstGeom prst="rect">
            <a:avLst/>
          </a:prstGeom>
          <a:noFill/>
          <a:ln/>
        </p:spPr>
        <p:txBody>
          <a:bodyPr wrap="square" lIns="0" tIns="0" rIns="0" bIns="0" rtlCol="0" anchor="ctr"/>
          <a:lstStyle/>
          <a:p>
            <a:pPr indent="0" marL="0">
              <a:buNone/>
            </a:pPr>
            <a:r>
              <a:rPr lang="en-US" sz="1450" b="1" dirty="0">
                <a:solidFill>
                  <a:srgbClr val="1D2B39"/>
                </a:solidFill>
                <a:latin typeface="Arial" pitchFamily="34" charset="0"/>
                <a:ea typeface="Microsoft JhengHei"/>
                <a:cs typeface="Microsoft JhengHei"/>
                <a:ea typeface="Arial" pitchFamily="34" charset="-122"/>
                <a:cs typeface="Arial" pitchFamily="34" charset="-120"/>
              </a:rPr>
              <a:t>服務可用率</a:t>
            </a:r>
            <a:endParaRPr lang="en-US" sz="1450" dirty="0"/>
          </a:p>
        </p:txBody>
      </p:sp>
      <p:sp>
        <p:nvSpPr>
          <p:cNvPr id="9" name="Text 7"/>
          <p:cNvSpPr/>
          <p:nvPr/>
        </p:nvSpPr>
        <p:spPr>
          <a:xfrm>
            <a:off x="877824" y="2395728"/>
            <a:ext cx="3003194" cy="640080"/>
          </a:xfrm>
          <a:prstGeom prst="rect">
            <a:avLst/>
          </a:prstGeom>
          <a:noFill/>
          <a:ln/>
        </p:spPr>
        <p:txBody>
          <a:bodyPr wrap="square" lIns="0" tIns="0" rIns="0" bIns="0" rtlCol="0" anchor="t"/>
          <a:lstStyle/>
          <a:p>
            <a:pPr indent="0" marL="0">
              <a:lnSpc>
                <a:spcPts val="1584"/>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月可用率 99% 以上（不含預告維護）。未達標時，當月服務費按比例折抵次期費用。</a:t>
            </a:r>
            <a:endParaRPr lang="en-US" sz="1100" dirty="0"/>
          </a:p>
        </p:txBody>
      </p:sp>
      <p:sp>
        <p:nvSpPr>
          <p:cNvPr id="10" name="Shape 8"/>
          <p:cNvSpPr/>
          <p:nvPr/>
        </p:nvSpPr>
        <p:spPr>
          <a:xfrm>
            <a:off x="4374794" y="1883664"/>
            <a:ext cx="3442106" cy="1298448"/>
          </a:xfrm>
          <a:prstGeom prst="roundRect">
            <a:avLst>
              <a:gd name="adj" fmla="val 2465"/>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1" name="Text 9"/>
          <p:cNvSpPr/>
          <p:nvPr/>
        </p:nvSpPr>
        <p:spPr>
          <a:xfrm>
            <a:off x="4594250" y="2048256"/>
            <a:ext cx="3003194" cy="274320"/>
          </a:xfrm>
          <a:prstGeom prst="rect">
            <a:avLst/>
          </a:prstGeom>
          <a:noFill/>
          <a:ln/>
        </p:spPr>
        <p:txBody>
          <a:bodyPr wrap="square" lIns="0" tIns="0" rIns="0" bIns="0" rtlCol="0" anchor="ctr"/>
          <a:lstStyle/>
          <a:p>
            <a:pPr indent="0" marL="0">
              <a:buNone/>
            </a:pPr>
            <a:r>
              <a:rPr lang="en-US" sz="1450" b="1" dirty="0">
                <a:solidFill>
                  <a:srgbClr val="1D2B39"/>
                </a:solidFill>
                <a:latin typeface="Arial" pitchFamily="34" charset="0"/>
                <a:ea typeface="Microsoft JhengHei"/>
                <a:cs typeface="Microsoft JhengHei"/>
                <a:ea typeface="Arial" pitchFamily="34" charset="-122"/>
                <a:cs typeface="Arial" pitchFamily="34" charset="-120"/>
              </a:rPr>
              <a:t>回應時限</a:t>
            </a:r>
            <a:endParaRPr lang="en-US" sz="1450" dirty="0"/>
          </a:p>
        </p:txBody>
      </p:sp>
      <p:sp>
        <p:nvSpPr>
          <p:cNvPr id="12" name="Text 10"/>
          <p:cNvSpPr/>
          <p:nvPr/>
        </p:nvSpPr>
        <p:spPr>
          <a:xfrm>
            <a:off x="4594250" y="2395728"/>
            <a:ext cx="3003194" cy="640080"/>
          </a:xfrm>
          <a:prstGeom prst="rect">
            <a:avLst/>
          </a:prstGeom>
          <a:noFill/>
          <a:ln/>
        </p:spPr>
        <p:txBody>
          <a:bodyPr wrap="square" lIns="0" tIns="0" rIns="0" bIns="0" rtlCol="0" anchor="t"/>
          <a:lstStyle/>
          <a:p>
            <a:pPr indent="0" marL="0">
              <a:lnSpc>
                <a:spcPts val="1584"/>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一般問題一個工作日內回覆；影響貴組作業之障礙四小時內回應，並於當日提出處置方式。</a:t>
            </a:r>
            <a:endParaRPr lang="en-US" sz="1100" dirty="0"/>
          </a:p>
        </p:txBody>
      </p:sp>
      <p:sp>
        <p:nvSpPr>
          <p:cNvPr id="13" name="Shape 11"/>
          <p:cNvSpPr/>
          <p:nvPr/>
        </p:nvSpPr>
        <p:spPr>
          <a:xfrm>
            <a:off x="8091221" y="1883664"/>
            <a:ext cx="3442106" cy="1298448"/>
          </a:xfrm>
          <a:prstGeom prst="roundRect">
            <a:avLst>
              <a:gd name="adj" fmla="val 2465"/>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4" name="Text 12"/>
          <p:cNvSpPr/>
          <p:nvPr/>
        </p:nvSpPr>
        <p:spPr>
          <a:xfrm>
            <a:off x="8310677" y="2048256"/>
            <a:ext cx="3003194" cy="274320"/>
          </a:xfrm>
          <a:prstGeom prst="rect">
            <a:avLst/>
          </a:prstGeom>
          <a:noFill/>
          <a:ln/>
        </p:spPr>
        <p:txBody>
          <a:bodyPr wrap="square" lIns="0" tIns="0" rIns="0" bIns="0" rtlCol="0" anchor="ctr"/>
          <a:lstStyle/>
          <a:p>
            <a:pPr indent="0" marL="0">
              <a:buNone/>
            </a:pPr>
            <a:r>
              <a:rPr lang="en-US" sz="1450" b="1" dirty="0">
                <a:solidFill>
                  <a:srgbClr val="1D2B39"/>
                </a:solidFill>
                <a:latin typeface="Arial" pitchFamily="34" charset="0"/>
                <a:ea typeface="Microsoft JhengHei"/>
                <a:cs typeface="Microsoft JhengHei"/>
                <a:ea typeface="Arial" pitchFamily="34" charset="-122"/>
                <a:cs typeface="Arial" pitchFamily="34" charset="-120"/>
              </a:rPr>
              <a:t>資料可攜</a:t>
            </a:r>
            <a:endParaRPr lang="en-US" sz="1450" dirty="0"/>
          </a:p>
        </p:txBody>
      </p:sp>
      <p:sp>
        <p:nvSpPr>
          <p:cNvPr id="15" name="Text 13"/>
          <p:cNvSpPr/>
          <p:nvPr/>
        </p:nvSpPr>
        <p:spPr>
          <a:xfrm>
            <a:off x="8310677" y="2395728"/>
            <a:ext cx="3003194" cy="640080"/>
          </a:xfrm>
          <a:prstGeom prst="rect">
            <a:avLst/>
          </a:prstGeom>
          <a:noFill/>
          <a:ln/>
        </p:spPr>
        <p:txBody>
          <a:bodyPr wrap="square" lIns="0" tIns="0" rIns="0" bIns="0" rtlCol="0" anchor="t"/>
          <a:lstStyle/>
          <a:p>
            <a:pPr indent="0" marL="0">
              <a:lnSpc>
                <a:spcPts val="1584"/>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貴組隨時可自行完整匯出（含工項、估驗、日誌、佐證與 agent 動作紀錄），格式為通用試算表。</a:t>
            </a:r>
            <a:endParaRPr lang="en-US" sz="1100" dirty="0"/>
          </a:p>
        </p:txBody>
      </p:sp>
      <p:sp>
        <p:nvSpPr>
          <p:cNvPr id="16" name="Shape 14"/>
          <p:cNvSpPr/>
          <p:nvPr/>
        </p:nvSpPr>
        <p:spPr>
          <a:xfrm>
            <a:off x="658368" y="3346704"/>
            <a:ext cx="3442106" cy="1298448"/>
          </a:xfrm>
          <a:prstGeom prst="roundRect">
            <a:avLst>
              <a:gd name="adj" fmla="val 2465"/>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17" name="Text 15"/>
          <p:cNvSpPr/>
          <p:nvPr/>
        </p:nvSpPr>
        <p:spPr>
          <a:xfrm>
            <a:off x="877824" y="3511296"/>
            <a:ext cx="3003194" cy="274320"/>
          </a:xfrm>
          <a:prstGeom prst="rect">
            <a:avLst/>
          </a:prstGeom>
          <a:noFill/>
          <a:ln/>
        </p:spPr>
        <p:txBody>
          <a:bodyPr wrap="square" lIns="0" tIns="0" rIns="0" bIns="0" rtlCol="0" anchor="ctr"/>
          <a:lstStyle/>
          <a:p>
            <a:pPr indent="0" marL="0">
              <a:buNone/>
            </a:pPr>
            <a:r>
              <a:rPr lang="en-US" sz="1450" b="1" dirty="0">
                <a:solidFill>
                  <a:srgbClr val="1D2B39"/>
                </a:solidFill>
                <a:latin typeface="Arial" pitchFamily="34" charset="0"/>
                <a:ea typeface="Microsoft JhengHei"/>
                <a:cs typeface="Microsoft JhengHei"/>
                <a:ea typeface="Arial" pitchFamily="34" charset="-122"/>
                <a:cs typeface="Arial" pitchFamily="34" charset="-120"/>
              </a:rPr>
              <a:t>期滿或終止</a:t>
            </a:r>
            <a:endParaRPr lang="en-US" sz="1450" dirty="0"/>
          </a:p>
        </p:txBody>
      </p:sp>
      <p:sp>
        <p:nvSpPr>
          <p:cNvPr id="18" name="Text 16"/>
          <p:cNvSpPr/>
          <p:nvPr/>
        </p:nvSpPr>
        <p:spPr>
          <a:xfrm>
            <a:off x="877824" y="3858768"/>
            <a:ext cx="3003194" cy="640080"/>
          </a:xfrm>
          <a:prstGeom prst="rect">
            <a:avLst/>
          </a:prstGeom>
          <a:noFill/>
          <a:ln/>
        </p:spPr>
        <p:txBody>
          <a:bodyPr wrap="square" lIns="0" tIns="0" rIns="0" bIns="0" rtlCol="0" anchor="t"/>
          <a:lstStyle/>
          <a:p>
            <a:pPr indent="0" marL="0">
              <a:lnSpc>
                <a:spcPts val="1584"/>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完整交付資料後依約刪除，並出具資料刪除與銷毀切結書。不以任何形式扣留機關資料。</a:t>
            </a:r>
            <a:endParaRPr lang="en-US" sz="1100" dirty="0"/>
          </a:p>
        </p:txBody>
      </p:sp>
      <p:sp>
        <p:nvSpPr>
          <p:cNvPr id="19" name="Shape 17"/>
          <p:cNvSpPr/>
          <p:nvPr/>
        </p:nvSpPr>
        <p:spPr>
          <a:xfrm>
            <a:off x="4374794" y="3346704"/>
            <a:ext cx="3442106" cy="1298448"/>
          </a:xfrm>
          <a:prstGeom prst="roundRect">
            <a:avLst>
              <a:gd name="adj" fmla="val 2465"/>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20" name="Text 18"/>
          <p:cNvSpPr/>
          <p:nvPr/>
        </p:nvSpPr>
        <p:spPr>
          <a:xfrm>
            <a:off x="4594250" y="3511296"/>
            <a:ext cx="3003194" cy="274320"/>
          </a:xfrm>
          <a:prstGeom prst="rect">
            <a:avLst/>
          </a:prstGeom>
          <a:noFill/>
          <a:ln/>
        </p:spPr>
        <p:txBody>
          <a:bodyPr wrap="square" lIns="0" tIns="0" rIns="0" bIns="0" rtlCol="0" anchor="ctr"/>
          <a:lstStyle/>
          <a:p>
            <a:pPr indent="0" marL="0">
              <a:buNone/>
            </a:pPr>
            <a:r>
              <a:rPr lang="en-US" sz="1450" b="1" dirty="0">
                <a:solidFill>
                  <a:srgbClr val="1D2B39"/>
                </a:solidFill>
                <a:latin typeface="Arial" pitchFamily="34" charset="0"/>
                <a:ea typeface="Microsoft JhengHei"/>
                <a:cs typeface="Microsoft JhengHei"/>
                <a:ea typeface="Arial" pitchFamily="34" charset="-122"/>
                <a:cs typeface="Arial" pitchFamily="34" charset="-120"/>
              </a:rPr>
              <a:t>資料不作訓練</a:t>
            </a:r>
            <a:endParaRPr lang="en-US" sz="1450" dirty="0"/>
          </a:p>
        </p:txBody>
      </p:sp>
      <p:sp>
        <p:nvSpPr>
          <p:cNvPr id="21" name="Text 19"/>
          <p:cNvSpPr/>
          <p:nvPr/>
        </p:nvSpPr>
        <p:spPr>
          <a:xfrm>
            <a:off x="4594250" y="3858768"/>
            <a:ext cx="3003194" cy="640080"/>
          </a:xfrm>
          <a:prstGeom prst="rect">
            <a:avLst/>
          </a:prstGeom>
          <a:noFill/>
          <a:ln/>
        </p:spPr>
        <p:txBody>
          <a:bodyPr wrap="square" lIns="0" tIns="0" rIns="0" bIns="0" rtlCol="0" anchor="t"/>
          <a:lstStyle/>
          <a:p>
            <a:pPr indent="0" marL="0">
              <a:lnSpc>
                <a:spcPts val="1584"/>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不以貴校資料訓練或改良模型。AI 模組可整組關閉，關閉後不對外送出任何內容。</a:t>
            </a:r>
            <a:endParaRPr lang="en-US" sz="1100" dirty="0"/>
          </a:p>
        </p:txBody>
      </p:sp>
      <p:sp>
        <p:nvSpPr>
          <p:cNvPr id="22" name="Shape 20"/>
          <p:cNvSpPr/>
          <p:nvPr/>
        </p:nvSpPr>
        <p:spPr>
          <a:xfrm>
            <a:off x="8091221" y="3346704"/>
            <a:ext cx="3442106" cy="1298448"/>
          </a:xfrm>
          <a:prstGeom prst="roundRect">
            <a:avLst>
              <a:gd name="adj" fmla="val 2465"/>
            </a:avLst>
          </a:prstGeom>
          <a:solidFill>
            <a:srgbClr val="FFFFFF"/>
          </a:solidFill>
          <a:ln w="9525">
            <a:solidFill>
              <a:srgbClr val="E6EBF0"/>
            </a:solidFill>
            <a:prstDash val="solid"/>
          </a:ln>
          <a:effectLst>
            <a:outerShdw sx="100000" sy="100000" kx="0" ky="0" algn="bl" rotWithShape="0" blurRad="88900" dist="445" dir="5400000">
              <a:srgbClr val="93A3B2">
                <a:alpha val="16000"/>
              </a:srgbClr>
            </a:outerShdw>
          </a:effectLst>
        </p:spPr>
      </p:sp>
      <p:sp>
        <p:nvSpPr>
          <p:cNvPr id="23" name="Text 21"/>
          <p:cNvSpPr/>
          <p:nvPr/>
        </p:nvSpPr>
        <p:spPr>
          <a:xfrm>
            <a:off x="8310677" y="3511296"/>
            <a:ext cx="3003194" cy="274320"/>
          </a:xfrm>
          <a:prstGeom prst="rect">
            <a:avLst/>
          </a:prstGeom>
          <a:noFill/>
          <a:ln/>
        </p:spPr>
        <p:txBody>
          <a:bodyPr wrap="square" lIns="0" tIns="0" rIns="0" bIns="0" rtlCol="0" anchor="ctr"/>
          <a:lstStyle/>
          <a:p>
            <a:pPr indent="0" marL="0">
              <a:buNone/>
            </a:pPr>
            <a:r>
              <a:rPr lang="en-US" sz="1450" b="1" dirty="0">
                <a:solidFill>
                  <a:srgbClr val="1D2B39"/>
                </a:solidFill>
                <a:latin typeface="Arial" pitchFamily="34" charset="0"/>
                <a:ea typeface="Microsoft JhengHei"/>
                <a:cs typeface="Microsoft JhengHei"/>
                <a:ea typeface="Arial" pitchFamily="34" charset="-122"/>
                <a:cs typeface="Arial" pitchFamily="34" charset="-120"/>
              </a:rPr>
              <a:t>每月服務報告</a:t>
            </a:r>
            <a:endParaRPr lang="en-US" sz="1450" dirty="0"/>
          </a:p>
        </p:txBody>
      </p:sp>
      <p:sp>
        <p:nvSpPr>
          <p:cNvPr id="24" name="Text 22"/>
          <p:cNvSpPr/>
          <p:nvPr/>
        </p:nvSpPr>
        <p:spPr>
          <a:xfrm>
            <a:off x="8310677" y="3858768"/>
            <a:ext cx="3003194" cy="640080"/>
          </a:xfrm>
          <a:prstGeom prst="rect">
            <a:avLst/>
          </a:prstGeom>
          <a:noFill/>
          <a:ln/>
        </p:spPr>
        <p:txBody>
          <a:bodyPr wrap="square" lIns="0" tIns="0" rIns="0" bIns="0" rtlCol="0" anchor="t"/>
          <a:lstStyle/>
          <a:p>
            <a:pPr indent="0" marL="0">
              <a:lnSpc>
                <a:spcPts val="1584"/>
              </a:lnSpc>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每月提供用量、事件與已處理問題之書面報告，可直接作為履約管理與驗收之佐證。</a:t>
            </a:r>
            <a:endParaRPr lang="en-US" sz="1100" dirty="0"/>
          </a:p>
        </p:txBody>
      </p:sp>
      <p:sp>
        <p:nvSpPr>
          <p:cNvPr id="25" name="Shape 23"/>
          <p:cNvSpPr/>
          <p:nvPr/>
        </p:nvSpPr>
        <p:spPr>
          <a:xfrm>
            <a:off x="658368" y="4773168"/>
            <a:ext cx="10874959" cy="841248"/>
          </a:xfrm>
          <a:prstGeom prst="roundRect">
            <a:avLst>
              <a:gd name="adj" fmla="val 3804"/>
            </a:avLst>
          </a:prstGeom>
          <a:solidFill>
            <a:srgbClr val="E1F1E9"/>
          </a:solidFill>
          <a:ln w="12700">
            <a:solidFill>
              <a:srgbClr val="E1F1E9"/>
            </a:solidFill>
            <a:prstDash val="solid"/>
          </a:ln>
        </p:spPr>
      </p:sp>
      <p:sp>
        <p:nvSpPr>
          <p:cNvPr id="26" name="Text 24"/>
          <p:cNvSpPr/>
          <p:nvPr/>
        </p:nvSpPr>
        <p:spPr>
          <a:xfrm>
            <a:off x="932688" y="4773168"/>
            <a:ext cx="10326319" cy="841248"/>
          </a:xfrm>
          <a:prstGeom prst="rect">
            <a:avLst/>
          </a:prstGeom>
          <a:noFill/>
          <a:ln/>
        </p:spPr>
        <p:txBody>
          <a:bodyPr wrap="square" lIns="0" tIns="0" rIns="0" bIns="0" rtlCol="0" anchor="ctr"/>
          <a:lstStyle/>
          <a:p>
            <a:pPr indent="0" marL="0">
              <a:lnSpc>
                <a:spcPts val="1900"/>
              </a:lnSpc>
              <a:buNone/>
            </a:pPr>
            <a:r>
              <a:rPr lang="en-US" sz="1250" b="1" dirty="0">
                <a:solidFill>
                  <a:srgbClr val="1D2B39"/>
                </a:solidFill>
                <a:latin typeface="Arial" pitchFamily="34" charset="0"/>
                <a:ea typeface="Microsoft JhengHei"/>
                <a:cs typeface="Microsoft JhengHei"/>
                <a:ea typeface="Arial" pitchFamily="34" charset="-122"/>
                <a:cs typeface="Arial" pitchFamily="34" charset="-120"/>
              </a:rPr>
              <a:t>為什麼敢這樣寫：</a:t>
            </a:r>
            <a:pPr indent="0" marL="0">
              <a:lnSpc>
                <a:spcPts val="1900"/>
              </a:lnSpc>
              <a:buNone/>
            </a:pPr>
            <a:r>
              <a:rPr lang="en-US" sz="1250" dirty="0">
                <a:solidFill>
                  <a:srgbClr val="4E5F70"/>
                </a:solidFill>
                <a:latin typeface="Arial" pitchFamily="34" charset="0"/>
                <a:ea typeface="Microsoft JhengHei"/>
                <a:cs typeface="Microsoft JhengHei"/>
                <a:ea typeface="Arial" pitchFamily="34" charset="-122"/>
                <a:cs typeface="Arial" pitchFamily="34" charset="-120"/>
              </a:rPr>
              <a:t>系統已經上線並有自有網域，弱點掃描無高風險，權限在資料庫層逐表實測，每個動作都留痕。這不是等簽約後才要開始做的東西——是已經在跑的東西。</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參 · 簽辦</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22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C05209"/>
                </a:solidFill>
                <a:latin typeface="Arial" pitchFamily="34" charset="0"/>
                <a:ea typeface="Microsoft JhengHei"/>
                <a:cs typeface="Microsoft JhengHei"/>
                <a:ea typeface="Arial" pitchFamily="34" charset="-122"/>
                <a:cs typeface="Arial" pitchFamily="34" charset="-120"/>
              </a:rPr>
              <a:t>簽稿骨架</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2700" b="1" dirty="0">
                <a:solidFill>
                  <a:srgbClr val="1D2B39"/>
                </a:solidFill>
                <a:latin typeface="Arial" pitchFamily="34" charset="0"/>
                <a:ea typeface="Microsoft JhengHei"/>
                <a:cs typeface="Microsoft JhengHei"/>
                <a:ea typeface="Arial" pitchFamily="34" charset="-122"/>
                <a:cs typeface="Arial" pitchFamily="34" charset="-120"/>
              </a:rPr>
              <a:t>七段說明，每一段都有對應的依據。</a:t>
            </a:r>
            <a:endParaRPr lang="en-US" sz="2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58368" y="1645920"/>
          <a:ext cx="10874959" cy="914400"/>
        </p:xfrm>
        <a:graphic>
          <a:graphicData uri="http://schemas.openxmlformats.org/drawingml/2006/table">
            <a:tbl>
              <a:tblPr/>
              <a:tblGrid>
                <a:gridCol w="502920"/>
                <a:gridCol w="2468880"/>
                <a:gridCol w="8086039"/>
              </a:tblGrid>
              <a:tr h="0">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段</a:t>
                      </a:r>
                      <a:endParaRPr lang="en-US" sz="9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寫什麼</a:t>
                      </a:r>
                      <a:endParaRPr lang="en-US" sz="9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依據／要點</a:t>
                      </a:r>
                      <a:endParaRPr lang="en-US" sz="9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r>
              <a:tr h="0">
                <a:tc>
                  <a:txBody>
                    <a:bodyPr/>
                    <a:lstStyle/>
                    <a:p>
                      <a:pPr algn="ctr" indent="0" marL="0">
                        <a:buNone/>
                      </a:pPr>
                      <a:r>
                        <a:rPr lang="en-US" sz="1050" b="1" dirty="0">
                          <a:solidFill>
                            <a:srgbClr val="1B5480"/>
                          </a:solidFill>
                          <a:latin typeface="Arial" pitchFamily="34" charset="0"/>
                          <a:ea typeface="Microsoft JhengHei"/>
                          <a:cs typeface="Microsoft JhengHei"/>
                          <a:ea typeface="Arial" pitchFamily="34" charset="-122"/>
                          <a:cs typeface="Arial" pitchFamily="34" charset="-120"/>
                        </a:rPr>
                        <a:t>一</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D2B39"/>
                          </a:solidFill>
                          <a:latin typeface="Arial" pitchFamily="34" charset="0"/>
                          <a:ea typeface="Microsoft JhengHei"/>
                          <a:cs typeface="Microsoft JhengHei"/>
                          <a:ea typeface="Arial" pitchFamily="34" charset="-122"/>
                          <a:cs typeface="Arial" pitchFamily="34" charset="-120"/>
                        </a:rPr>
                        <a:t>需求緣由</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現行以紙本與 Excel 彙整進度、估驗、日誌與查驗紀錄，人工重複登打、佐證散落；以某工程為試辦標的，載明服務期間</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r>
              <a:tr h="0">
                <a:tc>
                  <a:txBody>
                    <a:bodyPr/>
                    <a:lstStyle/>
                    <a:p>
                      <a:pPr algn="ctr" indent="0" marL="0">
                        <a:buNone/>
                      </a:pPr>
                      <a:r>
                        <a:rPr lang="en-US" sz="1050" b="1" dirty="0">
                          <a:solidFill>
                            <a:srgbClr val="1B5480"/>
                          </a:solidFill>
                          <a:latin typeface="Arial" pitchFamily="34" charset="0"/>
                          <a:ea typeface="Microsoft JhengHei"/>
                          <a:cs typeface="Microsoft JhengHei"/>
                          <a:ea typeface="Arial" pitchFamily="34" charset="-122"/>
                          <a:cs typeface="Arial" pitchFamily="34" charset="-120"/>
                        </a:rPr>
                        <a:t>二</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D2B39"/>
                          </a:solidFill>
                          <a:latin typeface="Arial" pitchFamily="34" charset="0"/>
                          <a:ea typeface="Microsoft JhengHei"/>
                          <a:cs typeface="Microsoft JhengHei"/>
                          <a:ea typeface="Arial" pitchFamily="34" charset="-122"/>
                          <a:cs typeface="Arial" pitchFamily="34" charset="-120"/>
                        </a:rPr>
                        <a:t>採購方式</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小額採購逕洽（15 萬元以下，得不經公告程序，免提供報價或企劃書）；敘明無須三家比價</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r>
              <a:tr h="0">
                <a:tc>
                  <a:txBody>
                    <a:bodyPr/>
                    <a:lstStyle/>
                    <a:p>
                      <a:pPr algn="ctr" indent="0" marL="0">
                        <a:buNone/>
                      </a:pPr>
                      <a:r>
                        <a:rPr lang="en-US" sz="1050" b="1" dirty="0">
                          <a:solidFill>
                            <a:srgbClr val="1B5480"/>
                          </a:solidFill>
                          <a:latin typeface="Arial" pitchFamily="34" charset="0"/>
                          <a:ea typeface="Microsoft JhengHei"/>
                          <a:cs typeface="Microsoft JhengHei"/>
                          <a:ea typeface="Arial" pitchFamily="34" charset="-122"/>
                          <a:cs typeface="Arial" pitchFamily="34" charset="-120"/>
                        </a:rPr>
                        <a:t>三</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D2B39"/>
                          </a:solidFill>
                          <a:latin typeface="Arial" pitchFamily="34" charset="0"/>
                          <a:ea typeface="Microsoft JhengHei"/>
                          <a:cs typeface="Microsoft JhengHei"/>
                          <a:ea typeface="Arial" pitchFamily="34" charset="-122"/>
                          <a:cs typeface="Arial" pitchFamily="34" charset="-120"/>
                        </a:rPr>
                        <a:t>資安要求之依據及辦理情形</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工程會 112/9/25 工程企字第 1120022701 號函；敘明歸屬「SaaS 套裝型」及排除理由；系統防護需求等級評估為普級，請計網中心卓核；廠商逐項回覆詳附件二</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r>
              <a:tr h="0">
                <a:tc>
                  <a:txBody>
                    <a:bodyPr/>
                    <a:lstStyle/>
                    <a:p>
                      <a:pPr algn="ctr" indent="0" marL="0">
                        <a:buNone/>
                      </a:pPr>
                      <a:r>
                        <a:rPr lang="en-US" sz="1050" b="1" dirty="0">
                          <a:solidFill>
                            <a:srgbClr val="1B5480"/>
                          </a:solidFill>
                          <a:latin typeface="Arial" pitchFamily="34" charset="0"/>
                          <a:ea typeface="Microsoft JhengHei"/>
                          <a:cs typeface="Microsoft JhengHei"/>
                          <a:ea typeface="Arial" pitchFamily="34" charset="-122"/>
                          <a:cs typeface="Arial" pitchFamily="34" charset="-120"/>
                        </a:rPr>
                        <a:t>四</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D2B39"/>
                          </a:solidFill>
                          <a:latin typeface="Arial" pitchFamily="34" charset="0"/>
                          <a:ea typeface="Microsoft JhengHei"/>
                          <a:cs typeface="Microsoft JhengHei"/>
                          <a:ea typeface="Arial" pitchFamily="34" charset="-122"/>
                          <a:cs typeface="Arial" pitchFamily="34" charset="-120"/>
                        </a:rPr>
                        <a:t>境外資料之審查同意</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一覽表資料安全欄；資料庫位於日本（非大陸地區），廠商提出落地說明（附件四），請計網中心審查，經同意後於契約載明</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r>
              <a:tr h="0">
                <a:tc>
                  <a:txBody>
                    <a:bodyPr/>
                    <a:lstStyle/>
                    <a:p>
                      <a:pPr algn="ctr" indent="0" marL="0">
                        <a:buNone/>
                      </a:pPr>
                      <a:r>
                        <a:rPr lang="en-US" sz="1050" b="1" dirty="0">
                          <a:solidFill>
                            <a:srgbClr val="1B5480"/>
                          </a:solidFill>
                          <a:latin typeface="Arial" pitchFamily="34" charset="0"/>
                          <a:ea typeface="Microsoft JhengHei"/>
                          <a:cs typeface="Microsoft JhengHei"/>
                          <a:ea typeface="Arial" pitchFamily="34" charset="-122"/>
                          <a:cs typeface="Arial" pitchFamily="34" charset="-120"/>
                        </a:rPr>
                        <a:t>五</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D2B39"/>
                          </a:solidFill>
                          <a:latin typeface="Arial" pitchFamily="34" charset="0"/>
                          <a:ea typeface="Microsoft JhengHei"/>
                          <a:cs typeface="Microsoft JhengHei"/>
                          <a:ea typeface="Arial" pitchFamily="34" charset="-122"/>
                          <a:cs typeface="Arial" pitchFamily="34" charset="-120"/>
                        </a:rPr>
                        <a:t>個人資料委外</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個資法施行細則 §8；契約附個資委外處理附約（附件五）</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r>
              <a:tr h="0">
                <a:tc>
                  <a:txBody>
                    <a:bodyPr/>
                    <a:lstStyle/>
                    <a:p>
                      <a:pPr algn="ctr" indent="0" marL="0">
                        <a:buNone/>
                      </a:pPr>
                      <a:r>
                        <a:rPr lang="en-US" sz="1050" b="1" dirty="0">
                          <a:solidFill>
                            <a:srgbClr val="1B5480"/>
                          </a:solidFill>
                          <a:latin typeface="Arial" pitchFamily="34" charset="0"/>
                          <a:ea typeface="Microsoft JhengHei"/>
                          <a:cs typeface="Microsoft JhengHei"/>
                          <a:ea typeface="Arial" pitchFamily="34" charset="-122"/>
                          <a:cs typeface="Arial" pitchFamily="34" charset="-120"/>
                        </a:rPr>
                        <a:t>六</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D2B39"/>
                          </a:solidFill>
                          <a:latin typeface="Arial" pitchFamily="34" charset="0"/>
                          <a:ea typeface="Microsoft JhengHei"/>
                          <a:cs typeface="Microsoft JhengHei"/>
                          <a:ea typeface="Arial" pitchFamily="34" charset="-122"/>
                          <a:cs typeface="Arial" pitchFamily="34" charset="-120"/>
                        </a:rPr>
                        <a:t>資安經費</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4E5F70"/>
                          </a:solidFill>
                          <a:latin typeface="Arial" pitchFamily="34" charset="0"/>
                          <a:ea typeface="Microsoft JhengHei"/>
                          <a:cs typeface="Microsoft JhengHei"/>
                          <a:ea typeface="Arial" pitchFamily="34" charset="-122"/>
                          <a:cs typeface="Arial" pitchFamily="34" charset="-120"/>
                        </a:rPr>
                        <a:t>「資訊服務採購作業指引」要求估算並單獨計列；本案為標準訂閱服務，資安措施已內含於訂閱費用無法拆分，敘明原因</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r>
              <a:tr h="0">
                <a:tc>
                  <a:txBody>
                    <a:bodyPr/>
                    <a:lstStyle/>
                    <a:p>
                      <a:pPr algn="ctr" indent="0" marL="0">
                        <a:buNone/>
                      </a:pPr>
                      <a:r>
                        <a:rPr lang="en-US" sz="1050" b="1" dirty="0">
                          <a:solidFill>
                            <a:srgbClr val="1B5480"/>
                          </a:solidFill>
                          <a:latin typeface="Arial" pitchFamily="34" charset="0"/>
                          <a:ea typeface="Microsoft JhengHei"/>
                          <a:cs typeface="Microsoft JhengHei"/>
                          <a:ea typeface="Arial" pitchFamily="34" charset="-122"/>
                          <a:cs typeface="Arial" pitchFamily="34" charset="-120"/>
                        </a:rPr>
                        <a:t>七</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1D2B39"/>
                          </a:solidFill>
                          <a:latin typeface="Arial" pitchFamily="34" charset="0"/>
                          <a:ea typeface="Microsoft JhengHei"/>
                          <a:cs typeface="Microsoft JhengHei"/>
                          <a:ea typeface="Arial" pitchFamily="34" charset="-122"/>
                          <a:cs typeface="Arial" pitchFamily="34" charset="-120"/>
                        </a:rPr>
                        <a:t>履約期間與驗收</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C05209"/>
                          </a:solidFill>
                          <a:latin typeface="Arial" pitchFamily="34" charset="0"/>
                          <a:ea typeface="Microsoft JhengHei"/>
                          <a:cs typeface="Microsoft JhengHei"/>
                          <a:ea typeface="Arial" pitchFamily="34" charset="-122"/>
                          <a:cs typeface="Arial" pitchFamily="34" charset="-120"/>
                        </a:rPr>
                        <a:t>服務期間；驗收時點依前頁方案擇一並寫明；勞務採購採書面驗收；服務承諾條款納入契約；不涉財產登記</a:t>
                      </a:r>
                      <a:endParaRPr lang="en-US" sz="1050" dirty="0">
                        <a:latin typeface="Arial" charset="0"/>
                        <a:ea typeface="Microsoft JhengHei"/>
                        <a:cs typeface="Microsoft JhengHei"/>
                        <a:ea typeface="Arial" charset="0"/>
                        <a:cs typeface="Arial" charset="0"/>
                      </a:endParaRPr>
                    </a:p>
                  </a:txBody>
                  <a:tcPr marL="127000" marR="127000" marT="114300" marB="1143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r>
            </a:tbl>
          </a:graphicData>
        </a:graphic>
      </p:graphicFrame>
      <p:sp>
        <p:nvSpPr>
          <p:cNvPr id="7" name="Text 4"/>
          <p:cNvSpPr/>
          <p:nvPr/>
        </p:nvSpPr>
        <p:spPr>
          <a:xfrm>
            <a:off x="658368" y="5358384"/>
            <a:ext cx="10874959" cy="310896"/>
          </a:xfrm>
          <a:prstGeom prst="rect">
            <a:avLst/>
          </a:prstGeom>
          <a:noFill/>
          <a:ln/>
        </p:spPr>
        <p:txBody>
          <a:bodyPr wrap="square" lIns="0" tIns="0" rIns="0" bIns="0" rtlCol="0" anchor="ctr"/>
          <a:lstStyle/>
          <a:p>
            <a:pPr indent="0" marL="0">
              <a:buNone/>
            </a:pPr>
            <a:r>
              <a:rPr lang="en-US" sz="1150" b="1" dirty="0">
                <a:solidFill>
                  <a:srgbClr val="1D2B39"/>
                </a:solidFill>
                <a:latin typeface="Arial" pitchFamily="34" charset="0"/>
                <a:ea typeface="Microsoft JhengHei"/>
                <a:cs typeface="Microsoft JhengHei"/>
                <a:ea typeface="Arial" pitchFamily="34" charset="-122"/>
                <a:cs typeface="Arial" pitchFamily="34" charset="-120"/>
              </a:rPr>
              <a:t>擬辦：</a:t>
            </a:r>
            <a:pPr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一、同意依上開方式辦理小額採購並簽訂服務契約。二、</a:t>
            </a:r>
            <a:pPr indent="0" marL="0">
              <a:buNone/>
            </a:pPr>
            <a:r>
              <a:rPr lang="en-US" sz="1150" b="1" dirty="0">
                <a:solidFill>
                  <a:srgbClr val="C05209"/>
                </a:solidFill>
                <a:latin typeface="Arial" pitchFamily="34" charset="0"/>
                <a:ea typeface="Microsoft JhengHei"/>
                <a:cs typeface="Microsoft JhengHei"/>
                <a:ea typeface="Arial" pitchFamily="34" charset="-122"/>
                <a:cs typeface="Arial" pitchFamily="34" charset="-120"/>
              </a:rPr>
              <a:t>會辦電子計算機中心</a:t>
            </a:r>
            <a:pPr indent="0" marL="0">
              <a:buNone/>
            </a:pPr>
            <a:r>
              <a:rPr lang="en-US" sz="1150" dirty="0">
                <a:solidFill>
                  <a:srgbClr val="4E5F70"/>
                </a:solidFill>
                <a:latin typeface="Arial" pitchFamily="34" charset="0"/>
                <a:ea typeface="Microsoft JhengHei"/>
                <a:cs typeface="Microsoft JhengHei"/>
                <a:ea typeface="Arial" pitchFamily="34" charset="-122"/>
                <a:cs typeface="Arial" pitchFamily="34" charset="-120"/>
              </a:rPr>
              <a:t>（第三、四點）。三、會辦個資業務單位／法制（第五點）。四、奉核後續辦請購。</a:t>
            </a:r>
            <a:endParaRPr lang="en-US" sz="1150" dirty="0"/>
          </a:p>
        </p:txBody>
      </p:sp>
      <p:sp>
        <p:nvSpPr>
          <p:cNvPr id="8" name="Text 5"/>
          <p:cNvSpPr/>
          <p:nvPr/>
        </p:nvSpPr>
        <p:spPr>
          <a:xfrm>
            <a:off x="658368" y="5724144"/>
            <a:ext cx="10874959" cy="274320"/>
          </a:xfrm>
          <a:prstGeom prst="rect">
            <a:avLst/>
          </a:prstGeom>
          <a:noFill/>
          <a:ln/>
        </p:spPr>
        <p:txBody>
          <a:bodyPr wrap="square" lIns="0" tIns="0" rIns="0" bIns="0" rtlCol="0" anchor="ctr"/>
          <a:lstStyle/>
          <a:p>
            <a:pPr indent="0" marL="0">
              <a:buNone/>
            </a:pPr>
            <a:r>
              <a:rPr lang="en-US" sz="1050" dirty="0">
                <a:solidFill>
                  <a:srgbClr val="7A8794"/>
                </a:solidFill>
                <a:latin typeface="Arial" pitchFamily="34" charset="0"/>
                <a:ea typeface="Microsoft JhengHei"/>
                <a:cs typeface="Microsoft JhengHei"/>
                <a:ea typeface="Arial" pitchFamily="34" charset="-122"/>
                <a:cs typeface="Arial" pitchFamily="34" charset="-120"/>
              </a:rPr>
              <a:t>以上為廠商整理的參考骨架，實際簽稿文字仍由貴組承辦人依校內格式撰擬。</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參 · 簽辦</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23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C05209"/>
                </a:solidFill>
                <a:latin typeface="Arial" pitchFamily="34" charset="0"/>
                <a:ea typeface="Microsoft JhengHei"/>
                <a:cs typeface="Microsoft JhengHei"/>
                <a:ea typeface="Arial" pitchFamily="34" charset="-122"/>
                <a:cs typeface="Arial" pitchFamily="34" charset="-120"/>
              </a:rPr>
              <a:t>附件</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3100" b="1" dirty="0">
                <a:solidFill>
                  <a:srgbClr val="1D2B39"/>
                </a:solidFill>
                <a:latin typeface="Arial" pitchFamily="34" charset="0"/>
                <a:ea typeface="Microsoft JhengHei"/>
                <a:cs typeface="Microsoft JhengHei"/>
                <a:ea typeface="Arial" pitchFamily="34" charset="-122"/>
                <a:cs typeface="Arial" pitchFamily="34" charset="-120"/>
              </a:rPr>
              <a:t>七份附件，六份在我這邊。</a:t>
            </a:r>
            <a:endParaRPr lang="en-US" sz="3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58368" y="1645920"/>
          <a:ext cx="10874959" cy="914400"/>
        </p:xfrm>
        <a:graphic>
          <a:graphicData uri="http://schemas.openxmlformats.org/drawingml/2006/table">
            <a:tbl>
              <a:tblPr/>
              <a:tblGrid>
                <a:gridCol w="640080"/>
                <a:gridCol w="3657600"/>
                <a:gridCol w="4709160"/>
                <a:gridCol w="2050999"/>
              </a:tblGrid>
              <a:tr h="0">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附件</a:t>
                      </a:r>
                      <a:endParaRPr lang="en-US" sz="95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文件</a:t>
                      </a:r>
                      <a:endParaRPr lang="en-US" sz="95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用途</a:t>
                      </a:r>
                      <a:endParaRPr lang="en-US" sz="95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c>
                  <a:txBody>
                    <a:bodyPr/>
                    <a:lstStyle/>
                    <a:p>
                      <a:pPr algn="l" indent="0" marL="0">
                        <a:buNone/>
                      </a:pPr>
                      <a:r>
                        <a:rPr lang="en-US" sz="950" b="1" spc="120" kern="0" dirty="0">
                          <a:solidFill>
                            <a:srgbClr val="1B5480"/>
                          </a:solidFill>
                          <a:latin typeface="Arial" pitchFamily="34" charset="0"/>
                          <a:ea typeface="Microsoft JhengHei"/>
                          <a:cs typeface="Microsoft JhengHei"/>
                          <a:ea typeface="Arial" pitchFamily="34" charset="-122"/>
                          <a:cs typeface="Arial" pitchFamily="34" charset="-120"/>
                        </a:rPr>
                        <a:t>狀態</a:t>
                      </a:r>
                      <a:endParaRPr lang="en-US" sz="95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4EDF5"/>
                    </a:solidFill>
                  </a:tcPr>
                </a:tc>
              </a:tr>
              <a:tr h="0">
                <a:tc>
                  <a:txBody>
                    <a:bodyPr/>
                    <a:lstStyle/>
                    <a:p>
                      <a:pPr algn="ctr" indent="0" marL="0">
                        <a:buNone/>
                      </a:pPr>
                      <a:r>
                        <a:rPr lang="en-US" sz="1100" b="1" dirty="0">
                          <a:solidFill>
                            <a:srgbClr val="1B5480"/>
                          </a:solidFill>
                          <a:latin typeface="Arial" pitchFamily="34" charset="0"/>
                          <a:ea typeface="Microsoft JhengHei"/>
                          <a:cs typeface="Microsoft JhengHei"/>
                          <a:ea typeface="Arial" pitchFamily="34" charset="-122"/>
                          <a:cs typeface="Arial" pitchFamily="34" charset="-120"/>
                        </a:rPr>
                        <a:t>一</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D2B39"/>
                          </a:solidFill>
                          <a:latin typeface="Arial" pitchFamily="34" charset="0"/>
                          <a:ea typeface="Microsoft JhengHei"/>
                          <a:cs typeface="Microsoft JhengHei"/>
                          <a:ea typeface="Arial" pitchFamily="34" charset="-122"/>
                          <a:cs typeface="Arial" pitchFamily="34" charset="-120"/>
                        </a:rPr>
                        <a:t>廠商估價單</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金額與服務期間</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05209"/>
                          </a:solidFill>
                          <a:latin typeface="Arial" pitchFamily="34" charset="0"/>
                          <a:ea typeface="Microsoft JhengHei"/>
                          <a:cs typeface="Microsoft JhengHei"/>
                          <a:ea typeface="Arial" pitchFamily="34" charset="-122"/>
                          <a:cs typeface="Arial" pitchFamily="34" charset="-120"/>
                        </a:rPr>
                        <a:t>商業登記核准後即送</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CE9DC"/>
                    </a:solidFill>
                  </a:tcPr>
                </a:tc>
              </a:tr>
              <a:tr h="0">
                <a:tc>
                  <a:txBody>
                    <a:bodyPr/>
                    <a:lstStyle/>
                    <a:p>
                      <a:pPr algn="ctr" indent="0" marL="0">
                        <a:buNone/>
                      </a:pPr>
                      <a:r>
                        <a:rPr lang="en-US" sz="1100" b="1" dirty="0">
                          <a:solidFill>
                            <a:srgbClr val="1B5480"/>
                          </a:solidFill>
                          <a:latin typeface="Arial" pitchFamily="34" charset="0"/>
                          <a:ea typeface="Microsoft JhengHei"/>
                          <a:cs typeface="Microsoft JhengHei"/>
                          <a:ea typeface="Arial" pitchFamily="34" charset="-122"/>
                          <a:cs typeface="Arial" pitchFamily="34" charset="-120"/>
                        </a:rPr>
                        <a:t>二</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D2B39"/>
                          </a:solidFill>
                          <a:latin typeface="Arial" pitchFamily="34" charset="0"/>
                          <a:ea typeface="Microsoft JhengHei"/>
                          <a:cs typeface="Microsoft JhengHei"/>
                          <a:ea typeface="Arial" pitchFamily="34" charset="-122"/>
                          <a:cs typeface="Arial" pitchFamily="34" charset="-120"/>
                        </a:rPr>
                        <a:t>資安要求逐項回覆表</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SaaS 套裝型・普級 11 列（本簡報 P12）</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7F4E"/>
                          </a:solidFill>
                          <a:latin typeface="Arial" pitchFamily="34" charset="0"/>
                          <a:ea typeface="Microsoft JhengHei"/>
                          <a:cs typeface="Microsoft JhengHei"/>
                          <a:ea typeface="Arial" pitchFamily="34" charset="-122"/>
                          <a:cs typeface="Arial" pitchFamily="34" charset="-120"/>
                        </a:rPr>
                        <a:t>已定稿</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1F1E9"/>
                    </a:solidFill>
                  </a:tcPr>
                </a:tc>
              </a:tr>
              <a:tr h="0">
                <a:tc>
                  <a:txBody>
                    <a:bodyPr/>
                    <a:lstStyle/>
                    <a:p>
                      <a:pPr algn="ctr" indent="0" marL="0">
                        <a:buNone/>
                      </a:pPr>
                      <a:r>
                        <a:rPr lang="en-US" sz="1100" b="1" dirty="0">
                          <a:solidFill>
                            <a:srgbClr val="1B5480"/>
                          </a:solidFill>
                          <a:latin typeface="Arial" pitchFamily="34" charset="0"/>
                          <a:ea typeface="Microsoft JhengHei"/>
                          <a:cs typeface="Microsoft JhengHei"/>
                          <a:ea typeface="Arial" pitchFamily="34" charset="-122"/>
                          <a:cs typeface="Arial" pitchFamily="34" charset="-120"/>
                        </a:rPr>
                        <a:t>三</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D2B39"/>
                          </a:solidFill>
                          <a:latin typeface="Arial" pitchFamily="34" charset="0"/>
                          <a:ea typeface="Microsoft JhengHei"/>
                          <a:cs typeface="Microsoft JhengHei"/>
                          <a:ea typeface="Arial" pitchFamily="34" charset="-122"/>
                          <a:cs typeface="Arial" pitchFamily="34" charset="-120"/>
                        </a:rPr>
                        <a:t>非陸資廠商聲明書</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對應第 3、10 列</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05209"/>
                          </a:solidFill>
                          <a:latin typeface="Arial" pitchFamily="34" charset="0"/>
                          <a:ea typeface="Microsoft JhengHei"/>
                          <a:cs typeface="Microsoft JhengHei"/>
                          <a:ea typeface="Arial" pitchFamily="34" charset="-122"/>
                          <a:cs typeface="Arial" pitchFamily="34" charset="-120"/>
                        </a:rPr>
                        <a:t>具結中</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CE9DC"/>
                    </a:solidFill>
                  </a:tcPr>
                </a:tc>
              </a:tr>
              <a:tr h="0">
                <a:tc>
                  <a:txBody>
                    <a:bodyPr/>
                    <a:lstStyle/>
                    <a:p>
                      <a:pPr algn="ctr" indent="0" marL="0">
                        <a:buNone/>
                      </a:pPr>
                      <a:r>
                        <a:rPr lang="en-US" sz="1100" b="1" dirty="0">
                          <a:solidFill>
                            <a:srgbClr val="1B5480"/>
                          </a:solidFill>
                          <a:latin typeface="Arial" pitchFamily="34" charset="0"/>
                          <a:ea typeface="Microsoft JhengHei"/>
                          <a:cs typeface="Microsoft JhengHei"/>
                          <a:ea typeface="Arial" pitchFamily="34" charset="-122"/>
                          <a:cs typeface="Arial" pitchFamily="34" charset="-120"/>
                        </a:rPr>
                        <a:t>四</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D2B39"/>
                          </a:solidFill>
                          <a:latin typeface="Arial" pitchFamily="34" charset="0"/>
                          <a:ea typeface="Microsoft JhengHei"/>
                          <a:cs typeface="Microsoft JhengHei"/>
                          <a:ea typeface="Arial" pitchFamily="34" charset="-122"/>
                          <a:cs typeface="Arial" pitchFamily="34" charset="-120"/>
                        </a:rPr>
                        <a:t>資料落地與境外傳輸說明書</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供計網中心審查同意（第 9 列）</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7F4E"/>
                          </a:solidFill>
                          <a:latin typeface="Arial" pitchFamily="34" charset="0"/>
                          <a:ea typeface="Microsoft JhengHei"/>
                          <a:cs typeface="Microsoft JhengHei"/>
                          <a:ea typeface="Arial" pitchFamily="34" charset="-122"/>
                          <a:cs typeface="Arial" pitchFamily="34" charset="-120"/>
                        </a:rPr>
                        <a:t>材料齊備</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1F1E9"/>
                    </a:solidFill>
                  </a:tcPr>
                </a:tc>
              </a:tr>
              <a:tr h="0">
                <a:tc>
                  <a:txBody>
                    <a:bodyPr/>
                    <a:lstStyle/>
                    <a:p>
                      <a:pPr algn="ctr" indent="0" marL="0">
                        <a:buNone/>
                      </a:pPr>
                      <a:r>
                        <a:rPr lang="en-US" sz="1100" b="1" dirty="0">
                          <a:solidFill>
                            <a:srgbClr val="1B5480"/>
                          </a:solidFill>
                          <a:latin typeface="Arial" pitchFamily="34" charset="0"/>
                          <a:ea typeface="Microsoft JhengHei"/>
                          <a:cs typeface="Microsoft JhengHei"/>
                          <a:ea typeface="Arial" pitchFamily="34" charset="-122"/>
                          <a:cs typeface="Arial" pitchFamily="34" charset="-120"/>
                        </a:rPr>
                        <a:t>五</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D2B39"/>
                          </a:solidFill>
                          <a:latin typeface="Arial" pitchFamily="34" charset="0"/>
                          <a:ea typeface="Microsoft JhengHei"/>
                          <a:cs typeface="Microsoft JhengHei"/>
                          <a:ea typeface="Arial" pitchFamily="34" charset="-122"/>
                          <a:cs typeface="Arial" pitchFamily="34" charset="-120"/>
                        </a:rPr>
                        <a:t>個人資料委外處理附約（草案）</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個資法施行細則 §8</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7F4E"/>
                          </a:solidFill>
                          <a:latin typeface="Arial" pitchFamily="34" charset="0"/>
                          <a:ea typeface="Microsoft JhengHei"/>
                          <a:cs typeface="Microsoft JhengHei"/>
                          <a:ea typeface="Arial" pitchFamily="34" charset="-122"/>
                          <a:cs typeface="Arial" pitchFamily="34" charset="-120"/>
                        </a:rPr>
                        <a:t>草案可提供</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1F1E9"/>
                    </a:solidFill>
                  </a:tcPr>
                </a:tc>
              </a:tr>
              <a:tr h="0">
                <a:tc>
                  <a:txBody>
                    <a:bodyPr/>
                    <a:lstStyle/>
                    <a:p>
                      <a:pPr algn="ctr" indent="0" marL="0">
                        <a:buNone/>
                      </a:pPr>
                      <a:r>
                        <a:rPr lang="en-US" sz="1100" b="1" dirty="0">
                          <a:solidFill>
                            <a:srgbClr val="1B5480"/>
                          </a:solidFill>
                          <a:latin typeface="Arial" pitchFamily="34" charset="0"/>
                          <a:ea typeface="Microsoft JhengHei"/>
                          <a:cs typeface="Microsoft JhengHei"/>
                          <a:ea typeface="Arial" pitchFamily="34" charset="-122"/>
                          <a:cs typeface="Arial" pitchFamily="34" charset="-120"/>
                        </a:rPr>
                        <a:t>六</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D2B39"/>
                          </a:solidFill>
                          <a:latin typeface="Arial" pitchFamily="34" charset="0"/>
                          <a:ea typeface="Microsoft JhengHei"/>
                          <a:cs typeface="Microsoft JhengHei"/>
                          <a:ea typeface="Arial" pitchFamily="34" charset="-122"/>
                          <a:cs typeface="Arial" pitchFamily="34" charset="-120"/>
                        </a:rPr>
                        <a:t>服務條款與隱私權政策</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含個資申訴窗口</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05209"/>
                          </a:solidFill>
                          <a:latin typeface="Arial" pitchFamily="34" charset="0"/>
                          <a:ea typeface="Microsoft JhengHei"/>
                          <a:cs typeface="Microsoft JhengHei"/>
                          <a:ea typeface="Arial" pitchFamily="34" charset="-122"/>
                          <a:cs typeface="Arial" pitchFamily="34" charset="-120"/>
                        </a:rPr>
                        <a:t>整理中</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CE9DC"/>
                    </a:solidFill>
                  </a:tcPr>
                </a:tc>
              </a:tr>
              <a:tr h="0">
                <a:tc>
                  <a:txBody>
                    <a:bodyPr/>
                    <a:lstStyle/>
                    <a:p>
                      <a:pPr algn="ctr" indent="0" marL="0">
                        <a:buNone/>
                      </a:pPr>
                      <a:r>
                        <a:rPr lang="en-US" sz="1100" b="1" dirty="0">
                          <a:solidFill>
                            <a:srgbClr val="1B5480"/>
                          </a:solidFill>
                          <a:latin typeface="Arial" pitchFamily="34" charset="0"/>
                          <a:ea typeface="Microsoft JhengHei"/>
                          <a:cs typeface="Microsoft JhengHei"/>
                          <a:ea typeface="Arial" pitchFamily="34" charset="-122"/>
                          <a:cs typeface="Arial" pitchFamily="34" charset="-120"/>
                        </a:rPr>
                        <a:t>七</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D2B39"/>
                          </a:solidFill>
                          <a:latin typeface="Arial" pitchFamily="34" charset="0"/>
                          <a:ea typeface="Microsoft JhengHei"/>
                          <a:cs typeface="Microsoft JhengHei"/>
                          <a:ea typeface="Arial" pitchFamily="34" charset="-122"/>
                          <a:cs typeface="Arial" pitchFamily="34" charset="-120"/>
                        </a:rPr>
                        <a:t>資通系統防護基準普通級符合性對照表</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4E5F70"/>
                          </a:solidFill>
                          <a:latin typeface="Arial" pitchFamily="34" charset="0"/>
                          <a:ea typeface="Microsoft JhengHei"/>
                          <a:cs typeface="Microsoft JhengHei"/>
                          <a:ea typeface="Arial" pitchFamily="34" charset="-122"/>
                          <a:cs typeface="Arial" pitchFamily="34" charset="-120"/>
                        </a:rPr>
                        <a:t>對應第 1 列（走「完善資通安全管理措施」）</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A7F4E"/>
                          </a:solidFill>
                          <a:latin typeface="Arial" pitchFamily="34" charset="0"/>
                          <a:ea typeface="Microsoft JhengHei"/>
                          <a:cs typeface="Microsoft JhengHei"/>
                          <a:ea typeface="Arial" pitchFamily="34" charset="-122"/>
                          <a:cs typeface="Arial" pitchFamily="34" charset="-120"/>
                        </a:rPr>
                        <a:t>已完成</a:t>
                      </a:r>
                      <a:endParaRPr lang="en-US" sz="1100" dirty="0">
                        <a:latin typeface="Arial" charset="0"/>
                        <a:ea typeface="Microsoft JhengHei"/>
                        <a:cs typeface="Microsoft JhengHei"/>
                        <a:ea typeface="Arial" charset="0"/>
                        <a:cs typeface="Arial" charset="0"/>
                      </a:endParaRPr>
                    </a:p>
                  </a:txBody>
                  <a:tcPr marL="127000" marR="127000" marT="101600" marB="101600" anchor="ctr">
                    <a:lnL w="6350" cap="flat" cmpd="sng" algn="ctr">
                      <a:solidFill>
                        <a:srgbClr val="E6EBF0"/>
                      </a:solidFill>
                      <a:prstDash val="solid"/>
                      <a:round/>
                      <a:headEnd type="none" w="med" len="med"/>
                      <a:tailEnd type="none" w="med" len="med"/>
                    </a:lnL>
                    <a:lnR w="6350" cap="flat" cmpd="sng" algn="ctr">
                      <a:solidFill>
                        <a:srgbClr val="E6EBF0"/>
                      </a:solidFill>
                      <a:prstDash val="solid"/>
                      <a:round/>
                      <a:headEnd type="none" w="med" len="med"/>
                      <a:tailEnd type="none" w="med" len="med"/>
                    </a:lnR>
                    <a:lnT w="6350" cap="flat" cmpd="sng" algn="ctr">
                      <a:solidFill>
                        <a:srgbClr val="E6EBF0"/>
                      </a:solidFill>
                      <a:prstDash val="solid"/>
                      <a:round/>
                      <a:headEnd type="none" w="med" len="med"/>
                      <a:tailEnd type="none" w="med" len="med"/>
                    </a:lnT>
                    <a:lnB w="6350" cap="flat" cmpd="sng" algn="ctr">
                      <a:solidFill>
                        <a:srgbClr val="E6EBF0"/>
                      </a:solidFill>
                      <a:prstDash val="solid"/>
                      <a:round/>
                      <a:headEnd type="none" w="med" len="med"/>
                      <a:tailEnd type="none" w="med" len="med"/>
                    </a:lnB>
                    <a:solidFill>
                      <a:srgbClr val="E1F1E9"/>
                    </a:solidFill>
                  </a:tcPr>
                </a:tc>
              </a:tr>
            </a:tbl>
          </a:graphicData>
        </a:graphic>
      </p:graphicFrame>
      <p:sp>
        <p:nvSpPr>
          <p:cNvPr id="7" name="Shape 4"/>
          <p:cNvSpPr/>
          <p:nvPr/>
        </p:nvSpPr>
        <p:spPr>
          <a:xfrm>
            <a:off x="658368" y="5184648"/>
            <a:ext cx="10874959" cy="822960"/>
          </a:xfrm>
          <a:prstGeom prst="roundRect">
            <a:avLst>
              <a:gd name="adj" fmla="val 3889"/>
            </a:avLst>
          </a:prstGeom>
          <a:solidFill>
            <a:srgbClr val="FCE9DC"/>
          </a:solidFill>
          <a:ln w="12700">
            <a:solidFill>
              <a:srgbClr val="FCE9DC"/>
            </a:solidFill>
            <a:prstDash val="solid"/>
          </a:ln>
        </p:spPr>
      </p:sp>
      <p:sp>
        <p:nvSpPr>
          <p:cNvPr id="8" name="Text 5"/>
          <p:cNvSpPr/>
          <p:nvPr/>
        </p:nvSpPr>
        <p:spPr>
          <a:xfrm>
            <a:off x="932688" y="5184648"/>
            <a:ext cx="10326319" cy="822960"/>
          </a:xfrm>
          <a:prstGeom prst="rect">
            <a:avLst/>
          </a:prstGeom>
          <a:noFill/>
          <a:ln/>
        </p:spPr>
        <p:txBody>
          <a:bodyPr wrap="square" lIns="0" tIns="0" rIns="0" bIns="0" rtlCol="0" anchor="ctr"/>
          <a:lstStyle/>
          <a:p>
            <a:pPr indent="0" marL="0">
              <a:lnSpc>
                <a:spcPts val="1800"/>
              </a:lnSpc>
              <a:buNone/>
            </a:pPr>
            <a:r>
              <a:rPr lang="en-US" sz="1200" b="1" dirty="0">
                <a:solidFill>
                  <a:srgbClr val="1D2B39"/>
                </a:solidFill>
                <a:latin typeface="Arial" pitchFamily="34" charset="0"/>
                <a:ea typeface="Microsoft JhengHei"/>
                <a:cs typeface="Microsoft JhengHei"/>
                <a:ea typeface="Arial" pitchFamily="34" charset="-122"/>
                <a:cs typeface="Arial" pitchFamily="34" charset="-120"/>
              </a:rPr>
              <a:t>唯一會影響時程的是附件一。</a:t>
            </a:r>
            <a:pPr indent="0" marL="0">
              <a:lnSpc>
                <a:spcPts val="1800"/>
              </a:lnSpc>
              <a:buNone/>
            </a:pPr>
            <a:r>
              <a:rPr lang="en-US" sz="1200" dirty="0">
                <a:solidFill>
                  <a:srgbClr val="4E5F70"/>
                </a:solidFill>
                <a:latin typeface="Arial" pitchFamily="34" charset="0"/>
                <a:ea typeface="Microsoft JhengHei"/>
                <a:cs typeface="Microsoft JhengHei"/>
                <a:ea typeface="Arial" pitchFamily="34" charset="-122"/>
                <a:cs typeface="Arial" pitchFamily="34" charset="-120"/>
              </a:rPr>
              <a:t>　本公司商業登記正在辦理中，核准後統一編號、商業登記證明與估價單會一併送達。其餘六份不受影響，可先行提供貴組與計網中心預覽。</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5F8"/>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參 · 簽辦</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7A8794"/>
                </a:solidFill>
                <a:latin typeface="Arial" pitchFamily="34" charset="0"/>
                <a:ea typeface="Microsoft JhengHei"/>
                <a:cs typeface="Microsoft JhengHei"/>
                <a:ea typeface="Arial" pitchFamily="34" charset="-122"/>
                <a:cs typeface="Arial" pitchFamily="34" charset="-120"/>
              </a:rPr>
              <a:t>24 / 25</a:t>
            </a:r>
            <a:endParaRPr lang="en-US" sz="900" dirty="0"/>
          </a:p>
        </p:txBody>
      </p:sp>
      <p:sp>
        <p:nvSpPr>
          <p:cNvPr id="4" name="Text 2"/>
          <p:cNvSpPr/>
          <p:nvPr/>
        </p:nvSpPr>
        <p:spPr>
          <a:xfrm>
            <a:off x="658368" y="475488"/>
            <a:ext cx="10874959" cy="237744"/>
          </a:xfrm>
          <a:prstGeom prst="rect">
            <a:avLst/>
          </a:prstGeom>
          <a:noFill/>
          <a:ln/>
        </p:spPr>
        <p:txBody>
          <a:bodyPr wrap="square" lIns="0" tIns="0" rIns="0" bIns="0" rtlCol="0" anchor="ctr"/>
          <a:lstStyle/>
          <a:p>
            <a:pPr indent="0" marL="0">
              <a:buNone/>
            </a:pPr>
            <a:r>
              <a:rPr lang="en-US" sz="950" b="1" spc="240" kern="0" dirty="0">
                <a:solidFill>
                  <a:srgbClr val="C05209"/>
                </a:solidFill>
                <a:latin typeface="Arial" pitchFamily="34" charset="0"/>
                <a:ea typeface="Microsoft JhengHei"/>
                <a:cs typeface="Microsoft JhengHei"/>
                <a:ea typeface="Arial" pitchFamily="34" charset="-122"/>
                <a:cs typeface="Arial" pitchFamily="34" charset="-120"/>
              </a:rPr>
              <a:t>動線</a:t>
            </a:r>
            <a:endParaRPr lang="en-US" sz="950" dirty="0"/>
          </a:p>
        </p:txBody>
      </p:sp>
      <p:sp>
        <p:nvSpPr>
          <p:cNvPr id="5" name="Text 3"/>
          <p:cNvSpPr/>
          <p:nvPr/>
        </p:nvSpPr>
        <p:spPr>
          <a:xfrm>
            <a:off x="658368" y="768096"/>
            <a:ext cx="10874959" cy="585216"/>
          </a:xfrm>
          <a:prstGeom prst="rect">
            <a:avLst/>
          </a:prstGeom>
          <a:noFill/>
          <a:ln/>
        </p:spPr>
        <p:txBody>
          <a:bodyPr wrap="square" lIns="0" tIns="0" rIns="0" bIns="0" rtlCol="0" anchor="ctr"/>
          <a:lstStyle/>
          <a:p>
            <a:pPr indent="0" marL="0">
              <a:buNone/>
            </a:pPr>
            <a:r>
              <a:rPr lang="en-US" sz="2700" b="1" dirty="0">
                <a:solidFill>
                  <a:srgbClr val="1D2B39"/>
                </a:solidFill>
                <a:latin typeface="Arial" pitchFamily="34" charset="0"/>
                <a:ea typeface="Microsoft JhengHei"/>
                <a:cs typeface="Microsoft JhengHei"/>
                <a:ea typeface="Arial" pitchFamily="34" charset="-122"/>
                <a:cs typeface="Arial" pitchFamily="34" charset="-120"/>
              </a:rPr>
              <a:t>核定在組長，真正的關卡在計網中心。</a:t>
            </a:r>
            <a:endParaRPr lang="en-US" sz="2700" dirty="0"/>
          </a:p>
        </p:txBody>
      </p:sp>
      <p:sp>
        <p:nvSpPr>
          <p:cNvPr id="6" name="Shape 4"/>
          <p:cNvSpPr/>
          <p:nvPr/>
        </p:nvSpPr>
        <p:spPr>
          <a:xfrm>
            <a:off x="658368" y="1700784"/>
            <a:ext cx="1926275" cy="804672"/>
          </a:xfrm>
          <a:prstGeom prst="roundRect">
            <a:avLst>
              <a:gd name="adj" fmla="val 3977"/>
            </a:avLst>
          </a:prstGeom>
          <a:solidFill>
            <a:srgbClr val="FFFFFF"/>
          </a:solidFill>
          <a:ln w="9525">
            <a:solidFill>
              <a:srgbClr val="E6EBF0"/>
            </a:solidFill>
            <a:prstDash val="solid"/>
          </a:ln>
        </p:spPr>
      </p:sp>
      <p:sp>
        <p:nvSpPr>
          <p:cNvPr id="7" name="Text 5"/>
          <p:cNvSpPr/>
          <p:nvPr/>
        </p:nvSpPr>
        <p:spPr>
          <a:xfrm>
            <a:off x="658368" y="1819656"/>
            <a:ext cx="1926275" cy="201168"/>
          </a:xfrm>
          <a:prstGeom prst="rect">
            <a:avLst/>
          </a:prstGeom>
          <a:noFill/>
          <a:ln/>
        </p:spPr>
        <p:txBody>
          <a:bodyPr wrap="square" lIns="0" tIns="0" rIns="0" bIns="0" rtlCol="0" anchor="ctr"/>
          <a:lstStyle/>
          <a:p>
            <a:pPr algn="ctr" indent="0" marL="0">
              <a:buNone/>
            </a:pPr>
            <a:r>
              <a:rPr lang="en-US" sz="850" b="1" spc="140" kern="0" dirty="0">
                <a:solidFill>
                  <a:srgbClr val="7A8794"/>
                </a:solidFill>
                <a:latin typeface="Arial" pitchFamily="34" charset="0"/>
                <a:ea typeface="Microsoft JhengHei"/>
                <a:cs typeface="Microsoft JhengHei"/>
                <a:ea typeface="Arial" pitchFamily="34" charset="-122"/>
                <a:cs typeface="Arial" pitchFamily="34" charset="-120"/>
              </a:rPr>
              <a:t>使用單位</a:t>
            </a:r>
            <a:endParaRPr lang="en-US" sz="850" dirty="0"/>
          </a:p>
        </p:txBody>
      </p:sp>
      <p:sp>
        <p:nvSpPr>
          <p:cNvPr id="8" name="Text 6"/>
          <p:cNvSpPr/>
          <p:nvPr/>
        </p:nvSpPr>
        <p:spPr>
          <a:xfrm>
            <a:off x="658368" y="2039112"/>
            <a:ext cx="1926275" cy="310896"/>
          </a:xfrm>
          <a:prstGeom prst="rect">
            <a:avLst/>
          </a:prstGeom>
          <a:noFill/>
          <a:ln/>
        </p:spPr>
        <p:txBody>
          <a:bodyPr wrap="square" lIns="0" tIns="0" rIns="0" bIns="0" rtlCol="0" anchor="ctr"/>
          <a:lstStyle/>
          <a:p>
            <a:pPr algn="ctr" indent="0" marL="0">
              <a:buNone/>
            </a:pPr>
            <a:r>
              <a:rPr lang="en-US" sz="1350" b="1" dirty="0">
                <a:solidFill>
                  <a:srgbClr val="1D2B39"/>
                </a:solidFill>
                <a:latin typeface="Arial" pitchFamily="34" charset="0"/>
                <a:ea typeface="Microsoft JhengHei"/>
                <a:cs typeface="Microsoft JhengHei"/>
                <a:ea typeface="Arial" pitchFamily="34" charset="-122"/>
                <a:cs typeface="Arial" pitchFamily="34" charset="-120"/>
              </a:rPr>
              <a:t>營繕組擬簽</a:t>
            </a:r>
            <a:endParaRPr lang="en-US" sz="1350" dirty="0"/>
          </a:p>
        </p:txBody>
      </p:sp>
      <p:sp>
        <p:nvSpPr>
          <p:cNvPr id="9" name="Shape 7"/>
          <p:cNvSpPr/>
          <p:nvPr/>
        </p:nvSpPr>
        <p:spPr>
          <a:xfrm>
            <a:off x="2639507" y="2103120"/>
            <a:ext cx="201168" cy="0"/>
          </a:xfrm>
          <a:prstGeom prst="line">
            <a:avLst/>
          </a:prstGeom>
          <a:noFill/>
          <a:ln w="15875">
            <a:solidFill>
              <a:srgbClr val="1E5A85"/>
            </a:solidFill>
            <a:prstDash val="solid"/>
            <a:tailEnd type="triangle"/>
          </a:ln>
        </p:spPr>
      </p:sp>
      <p:sp>
        <p:nvSpPr>
          <p:cNvPr id="10" name="Shape 8"/>
          <p:cNvSpPr/>
          <p:nvPr/>
        </p:nvSpPr>
        <p:spPr>
          <a:xfrm>
            <a:off x="2895539" y="1700784"/>
            <a:ext cx="1926275" cy="804672"/>
          </a:xfrm>
          <a:prstGeom prst="roundRect">
            <a:avLst>
              <a:gd name="adj" fmla="val 3977"/>
            </a:avLst>
          </a:prstGeom>
          <a:solidFill>
            <a:srgbClr val="FCE9DC"/>
          </a:solidFill>
          <a:ln w="19050">
            <a:solidFill>
              <a:srgbClr val="E8630C"/>
            </a:solidFill>
            <a:prstDash val="solid"/>
          </a:ln>
        </p:spPr>
      </p:sp>
      <p:sp>
        <p:nvSpPr>
          <p:cNvPr id="11" name="Text 9"/>
          <p:cNvSpPr/>
          <p:nvPr/>
        </p:nvSpPr>
        <p:spPr>
          <a:xfrm>
            <a:off x="2895539" y="1819656"/>
            <a:ext cx="1926275" cy="201168"/>
          </a:xfrm>
          <a:prstGeom prst="rect">
            <a:avLst/>
          </a:prstGeom>
          <a:noFill/>
          <a:ln/>
        </p:spPr>
        <p:txBody>
          <a:bodyPr wrap="square" lIns="0" tIns="0" rIns="0" bIns="0" rtlCol="0" anchor="ctr"/>
          <a:lstStyle/>
          <a:p>
            <a:pPr algn="ctr" indent="0" marL="0">
              <a:buNone/>
            </a:pPr>
            <a:r>
              <a:rPr lang="en-US" sz="850" b="1" spc="140" kern="0" dirty="0">
                <a:solidFill>
                  <a:srgbClr val="C05209"/>
                </a:solidFill>
                <a:latin typeface="Arial" pitchFamily="34" charset="0"/>
                <a:ea typeface="Microsoft JhengHei"/>
                <a:cs typeface="Microsoft JhengHei"/>
                <a:ea typeface="Arial" pitchFamily="34" charset="-122"/>
                <a:cs typeface="Arial" pitchFamily="34" charset="-120"/>
              </a:rPr>
              <a:t>會辦 · 資安</a:t>
            </a:r>
            <a:endParaRPr lang="en-US" sz="850" dirty="0"/>
          </a:p>
        </p:txBody>
      </p:sp>
      <p:sp>
        <p:nvSpPr>
          <p:cNvPr id="12" name="Text 10"/>
          <p:cNvSpPr/>
          <p:nvPr/>
        </p:nvSpPr>
        <p:spPr>
          <a:xfrm>
            <a:off x="2895539" y="2039112"/>
            <a:ext cx="1926275" cy="310896"/>
          </a:xfrm>
          <a:prstGeom prst="rect">
            <a:avLst/>
          </a:prstGeom>
          <a:noFill/>
          <a:ln/>
        </p:spPr>
        <p:txBody>
          <a:bodyPr wrap="square" lIns="0" tIns="0" rIns="0" bIns="0" rtlCol="0" anchor="ctr"/>
          <a:lstStyle/>
          <a:p>
            <a:pPr algn="ctr" indent="0" marL="0">
              <a:buNone/>
            </a:pPr>
            <a:r>
              <a:rPr lang="en-US" sz="1350" b="1" dirty="0">
                <a:solidFill>
                  <a:srgbClr val="1D2B39"/>
                </a:solidFill>
                <a:latin typeface="Arial" pitchFamily="34" charset="0"/>
                <a:ea typeface="Microsoft JhengHei"/>
                <a:cs typeface="Microsoft JhengHei"/>
                <a:ea typeface="Arial" pitchFamily="34" charset="-122"/>
                <a:cs typeface="Arial" pitchFamily="34" charset="-120"/>
              </a:rPr>
              <a:t>電子計算機中心</a:t>
            </a:r>
            <a:endParaRPr lang="en-US" sz="1350" dirty="0"/>
          </a:p>
        </p:txBody>
      </p:sp>
      <p:sp>
        <p:nvSpPr>
          <p:cNvPr id="13" name="Shape 11"/>
          <p:cNvSpPr/>
          <p:nvPr/>
        </p:nvSpPr>
        <p:spPr>
          <a:xfrm>
            <a:off x="4876678" y="2103120"/>
            <a:ext cx="201168" cy="0"/>
          </a:xfrm>
          <a:prstGeom prst="line">
            <a:avLst/>
          </a:prstGeom>
          <a:noFill/>
          <a:ln w="15875">
            <a:solidFill>
              <a:srgbClr val="1E5A85"/>
            </a:solidFill>
            <a:prstDash val="solid"/>
            <a:tailEnd type="triangle"/>
          </a:ln>
        </p:spPr>
      </p:sp>
      <p:sp>
        <p:nvSpPr>
          <p:cNvPr id="14" name="Shape 12"/>
          <p:cNvSpPr/>
          <p:nvPr/>
        </p:nvSpPr>
        <p:spPr>
          <a:xfrm>
            <a:off x="5132710" y="1700784"/>
            <a:ext cx="1926275" cy="804672"/>
          </a:xfrm>
          <a:prstGeom prst="roundRect">
            <a:avLst>
              <a:gd name="adj" fmla="val 3977"/>
            </a:avLst>
          </a:prstGeom>
          <a:solidFill>
            <a:srgbClr val="FFFFFF"/>
          </a:solidFill>
          <a:ln w="9525">
            <a:solidFill>
              <a:srgbClr val="E6EBF0"/>
            </a:solidFill>
            <a:prstDash val="solid"/>
          </a:ln>
        </p:spPr>
      </p:sp>
      <p:sp>
        <p:nvSpPr>
          <p:cNvPr id="15" name="Text 13"/>
          <p:cNvSpPr/>
          <p:nvPr/>
        </p:nvSpPr>
        <p:spPr>
          <a:xfrm>
            <a:off x="5132710" y="1819656"/>
            <a:ext cx="1926275" cy="201168"/>
          </a:xfrm>
          <a:prstGeom prst="rect">
            <a:avLst/>
          </a:prstGeom>
          <a:noFill/>
          <a:ln/>
        </p:spPr>
        <p:txBody>
          <a:bodyPr wrap="square" lIns="0" tIns="0" rIns="0" bIns="0" rtlCol="0" anchor="ctr"/>
          <a:lstStyle/>
          <a:p>
            <a:pPr algn="ctr" indent="0" marL="0">
              <a:buNone/>
            </a:pPr>
            <a:r>
              <a:rPr lang="en-US" sz="850" b="1" spc="140" kern="0" dirty="0">
                <a:solidFill>
                  <a:srgbClr val="7A8794"/>
                </a:solidFill>
                <a:latin typeface="Arial" pitchFamily="34" charset="0"/>
                <a:ea typeface="Microsoft JhengHei"/>
                <a:cs typeface="Microsoft JhengHei"/>
                <a:ea typeface="Arial" pitchFamily="34" charset="-122"/>
                <a:cs typeface="Arial" pitchFamily="34" charset="-120"/>
              </a:rPr>
              <a:t>會辦 · 個資</a:t>
            </a:r>
            <a:endParaRPr lang="en-US" sz="850" dirty="0"/>
          </a:p>
        </p:txBody>
      </p:sp>
      <p:sp>
        <p:nvSpPr>
          <p:cNvPr id="16" name="Text 14"/>
          <p:cNvSpPr/>
          <p:nvPr/>
        </p:nvSpPr>
        <p:spPr>
          <a:xfrm>
            <a:off x="5132710" y="2039112"/>
            <a:ext cx="1926275" cy="310896"/>
          </a:xfrm>
          <a:prstGeom prst="rect">
            <a:avLst/>
          </a:prstGeom>
          <a:noFill/>
          <a:ln/>
        </p:spPr>
        <p:txBody>
          <a:bodyPr wrap="square" lIns="0" tIns="0" rIns="0" bIns="0" rtlCol="0" anchor="ctr"/>
          <a:lstStyle/>
          <a:p>
            <a:pPr algn="ctr" indent="0" marL="0">
              <a:buNone/>
            </a:pPr>
            <a:r>
              <a:rPr lang="en-US" sz="1350" b="1" dirty="0">
                <a:solidFill>
                  <a:srgbClr val="1D2B39"/>
                </a:solidFill>
                <a:latin typeface="Arial" pitchFamily="34" charset="0"/>
                <a:ea typeface="Microsoft JhengHei"/>
                <a:cs typeface="Microsoft JhengHei"/>
                <a:ea typeface="Arial" pitchFamily="34" charset="-122"/>
                <a:cs typeface="Arial" pitchFamily="34" charset="-120"/>
              </a:rPr>
              <a:t>個資／法制單位</a:t>
            </a:r>
            <a:endParaRPr lang="en-US" sz="1350" dirty="0"/>
          </a:p>
        </p:txBody>
      </p:sp>
      <p:sp>
        <p:nvSpPr>
          <p:cNvPr id="17" name="Shape 15"/>
          <p:cNvSpPr/>
          <p:nvPr/>
        </p:nvSpPr>
        <p:spPr>
          <a:xfrm>
            <a:off x="7113849" y="2103120"/>
            <a:ext cx="201168" cy="0"/>
          </a:xfrm>
          <a:prstGeom prst="line">
            <a:avLst/>
          </a:prstGeom>
          <a:noFill/>
          <a:ln w="15875">
            <a:solidFill>
              <a:srgbClr val="1E5A85"/>
            </a:solidFill>
            <a:prstDash val="solid"/>
            <a:tailEnd type="triangle"/>
          </a:ln>
        </p:spPr>
      </p:sp>
      <p:sp>
        <p:nvSpPr>
          <p:cNvPr id="18" name="Shape 16"/>
          <p:cNvSpPr/>
          <p:nvPr/>
        </p:nvSpPr>
        <p:spPr>
          <a:xfrm>
            <a:off x="7369881" y="1700784"/>
            <a:ext cx="1926275" cy="804672"/>
          </a:xfrm>
          <a:prstGeom prst="roundRect">
            <a:avLst>
              <a:gd name="adj" fmla="val 3977"/>
            </a:avLst>
          </a:prstGeom>
          <a:solidFill>
            <a:srgbClr val="FFFFFF"/>
          </a:solidFill>
          <a:ln w="9525">
            <a:solidFill>
              <a:srgbClr val="E6EBF0"/>
            </a:solidFill>
            <a:prstDash val="solid"/>
          </a:ln>
        </p:spPr>
      </p:sp>
      <p:sp>
        <p:nvSpPr>
          <p:cNvPr id="19" name="Text 17"/>
          <p:cNvSpPr/>
          <p:nvPr/>
        </p:nvSpPr>
        <p:spPr>
          <a:xfrm>
            <a:off x="7369881" y="1819656"/>
            <a:ext cx="1926275" cy="201168"/>
          </a:xfrm>
          <a:prstGeom prst="rect">
            <a:avLst/>
          </a:prstGeom>
          <a:noFill/>
          <a:ln/>
        </p:spPr>
        <p:txBody>
          <a:bodyPr wrap="square" lIns="0" tIns="0" rIns="0" bIns="0" rtlCol="0" anchor="ctr"/>
          <a:lstStyle/>
          <a:p>
            <a:pPr algn="ctr" indent="0" marL="0">
              <a:buNone/>
            </a:pPr>
            <a:r>
              <a:rPr lang="en-US" sz="850" b="1" spc="140" kern="0" dirty="0">
                <a:solidFill>
                  <a:srgbClr val="7A8794"/>
                </a:solidFill>
                <a:latin typeface="Arial" pitchFamily="34" charset="0"/>
                <a:ea typeface="Microsoft JhengHei"/>
                <a:cs typeface="Microsoft JhengHei"/>
                <a:ea typeface="Arial" pitchFamily="34" charset="-122"/>
                <a:cs typeface="Arial" pitchFamily="34" charset="-120"/>
              </a:rPr>
              <a:t>核定</a:t>
            </a:r>
            <a:endParaRPr lang="en-US" sz="850" dirty="0"/>
          </a:p>
        </p:txBody>
      </p:sp>
      <p:sp>
        <p:nvSpPr>
          <p:cNvPr id="20" name="Text 18"/>
          <p:cNvSpPr/>
          <p:nvPr/>
        </p:nvSpPr>
        <p:spPr>
          <a:xfrm>
            <a:off x="7369881" y="2039112"/>
            <a:ext cx="1926275" cy="310896"/>
          </a:xfrm>
          <a:prstGeom prst="rect">
            <a:avLst/>
          </a:prstGeom>
          <a:noFill/>
          <a:ln/>
        </p:spPr>
        <p:txBody>
          <a:bodyPr wrap="square" lIns="0" tIns="0" rIns="0" bIns="0" rtlCol="0" anchor="ctr"/>
          <a:lstStyle/>
          <a:p>
            <a:pPr algn="ctr" indent="0" marL="0">
              <a:buNone/>
            </a:pPr>
            <a:r>
              <a:rPr lang="en-US" sz="1350" b="1" dirty="0">
                <a:solidFill>
                  <a:srgbClr val="1D2B39"/>
                </a:solidFill>
                <a:latin typeface="Arial" pitchFamily="34" charset="0"/>
                <a:ea typeface="Microsoft JhengHei"/>
                <a:cs typeface="Microsoft JhengHei"/>
                <a:ea typeface="Arial" pitchFamily="34" charset="-122"/>
                <a:cs typeface="Arial" pitchFamily="34" charset="-120"/>
              </a:rPr>
              <a:t>組長</a:t>
            </a:r>
            <a:endParaRPr lang="en-US" sz="1350" dirty="0"/>
          </a:p>
        </p:txBody>
      </p:sp>
      <p:sp>
        <p:nvSpPr>
          <p:cNvPr id="21" name="Shape 19"/>
          <p:cNvSpPr/>
          <p:nvPr/>
        </p:nvSpPr>
        <p:spPr>
          <a:xfrm>
            <a:off x="9351020" y="2103120"/>
            <a:ext cx="201168" cy="0"/>
          </a:xfrm>
          <a:prstGeom prst="line">
            <a:avLst/>
          </a:prstGeom>
          <a:noFill/>
          <a:ln w="15875">
            <a:solidFill>
              <a:srgbClr val="1E5A85"/>
            </a:solidFill>
            <a:prstDash val="solid"/>
            <a:tailEnd type="triangle"/>
          </a:ln>
        </p:spPr>
      </p:sp>
      <p:sp>
        <p:nvSpPr>
          <p:cNvPr id="22" name="Shape 20"/>
          <p:cNvSpPr/>
          <p:nvPr/>
        </p:nvSpPr>
        <p:spPr>
          <a:xfrm>
            <a:off x="9607052" y="1700784"/>
            <a:ext cx="1926275" cy="804672"/>
          </a:xfrm>
          <a:prstGeom prst="roundRect">
            <a:avLst>
              <a:gd name="adj" fmla="val 3977"/>
            </a:avLst>
          </a:prstGeom>
          <a:solidFill>
            <a:srgbClr val="FFFFFF"/>
          </a:solidFill>
          <a:ln w="9525">
            <a:solidFill>
              <a:srgbClr val="E6EBF0"/>
            </a:solidFill>
            <a:prstDash val="solid"/>
          </a:ln>
        </p:spPr>
      </p:sp>
      <p:sp>
        <p:nvSpPr>
          <p:cNvPr id="23" name="Text 21"/>
          <p:cNvSpPr/>
          <p:nvPr/>
        </p:nvSpPr>
        <p:spPr>
          <a:xfrm>
            <a:off x="9607052" y="1819656"/>
            <a:ext cx="1926275" cy="201168"/>
          </a:xfrm>
          <a:prstGeom prst="rect">
            <a:avLst/>
          </a:prstGeom>
          <a:noFill/>
          <a:ln/>
        </p:spPr>
        <p:txBody>
          <a:bodyPr wrap="square" lIns="0" tIns="0" rIns="0" bIns="0" rtlCol="0" anchor="ctr"/>
          <a:lstStyle/>
          <a:p>
            <a:pPr algn="ctr" indent="0" marL="0">
              <a:buNone/>
            </a:pPr>
            <a:r>
              <a:rPr lang="en-US" sz="850" b="1" spc="140" kern="0" dirty="0">
                <a:solidFill>
                  <a:srgbClr val="7A8794"/>
                </a:solidFill>
                <a:latin typeface="Arial" pitchFamily="34" charset="0"/>
                <a:ea typeface="Microsoft JhengHei"/>
                <a:cs typeface="Microsoft JhengHei"/>
                <a:ea typeface="Arial" pitchFamily="34" charset="-122"/>
                <a:cs typeface="Arial" pitchFamily="34" charset="-120"/>
              </a:rPr>
              <a:t>續辦</a:t>
            </a:r>
            <a:endParaRPr lang="en-US" sz="850" dirty="0"/>
          </a:p>
        </p:txBody>
      </p:sp>
      <p:sp>
        <p:nvSpPr>
          <p:cNvPr id="24" name="Text 22"/>
          <p:cNvSpPr/>
          <p:nvPr/>
        </p:nvSpPr>
        <p:spPr>
          <a:xfrm>
            <a:off x="9607052" y="2039112"/>
            <a:ext cx="1926275" cy="310896"/>
          </a:xfrm>
          <a:prstGeom prst="rect">
            <a:avLst/>
          </a:prstGeom>
          <a:noFill/>
          <a:ln/>
        </p:spPr>
        <p:txBody>
          <a:bodyPr wrap="square" lIns="0" tIns="0" rIns="0" bIns="0" rtlCol="0" anchor="ctr"/>
          <a:lstStyle/>
          <a:p>
            <a:pPr algn="ctr" indent="0" marL="0">
              <a:buNone/>
            </a:pPr>
            <a:r>
              <a:rPr lang="en-US" sz="1350" b="1" dirty="0">
                <a:solidFill>
                  <a:srgbClr val="1D2B39"/>
                </a:solidFill>
                <a:latin typeface="Arial" pitchFamily="34" charset="0"/>
                <a:ea typeface="Microsoft JhengHei"/>
                <a:cs typeface="Microsoft JhengHei"/>
                <a:ea typeface="Arial" pitchFamily="34" charset="-122"/>
                <a:cs typeface="Arial" pitchFamily="34" charset="-120"/>
              </a:rPr>
              <a:t>請購 · 簽約</a:t>
            </a:r>
            <a:endParaRPr lang="en-US" sz="1350" dirty="0"/>
          </a:p>
        </p:txBody>
      </p:sp>
      <p:sp>
        <p:nvSpPr>
          <p:cNvPr id="25" name="Shape 23"/>
          <p:cNvSpPr/>
          <p:nvPr/>
        </p:nvSpPr>
        <p:spPr>
          <a:xfrm>
            <a:off x="658368" y="2980944"/>
            <a:ext cx="5245456" cy="2011680"/>
          </a:xfrm>
          <a:prstGeom prst="roundRect">
            <a:avLst>
              <a:gd name="adj" fmla="val 1591"/>
            </a:avLst>
          </a:prstGeom>
          <a:solidFill>
            <a:srgbClr val="FCE9DC"/>
          </a:solidFill>
          <a:ln w="12700">
            <a:solidFill>
              <a:srgbClr val="FCE9DC"/>
            </a:solidFill>
            <a:prstDash val="solid"/>
          </a:ln>
        </p:spPr>
      </p:sp>
      <p:sp>
        <p:nvSpPr>
          <p:cNvPr id="26" name="Text 24"/>
          <p:cNvSpPr/>
          <p:nvPr/>
        </p:nvSpPr>
        <p:spPr>
          <a:xfrm>
            <a:off x="877824" y="3145536"/>
            <a:ext cx="4806544"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關鍵推論</a:t>
            </a:r>
            <a:endParaRPr lang="en-US" sz="1500" dirty="0"/>
          </a:p>
        </p:txBody>
      </p:sp>
      <p:sp>
        <p:nvSpPr>
          <p:cNvPr id="27" name="Text 25"/>
          <p:cNvSpPr/>
          <p:nvPr/>
        </p:nvSpPr>
        <p:spPr>
          <a:xfrm>
            <a:off x="877824" y="3493008"/>
            <a:ext cx="4806544" cy="1353312"/>
          </a:xfrm>
          <a:prstGeom prst="rect">
            <a:avLst/>
          </a:prstGeom>
          <a:noFill/>
          <a:ln/>
        </p:spPr>
        <p:txBody>
          <a:bodyPr wrap="square" lIns="0" tIns="0" rIns="0" bIns="0" rtlCol="0" anchor="t"/>
          <a:lstStyle/>
          <a:p>
            <a:pPr indent="0" marL="0">
              <a:lnSpc>
                <a:spcPts val="1728"/>
              </a:lnSpc>
              <a:buNone/>
            </a:pPr>
            <a:r>
              <a:rPr lang="en-US" sz="1200" dirty="0">
                <a:solidFill>
                  <a:srgbClr val="4E5F70"/>
                </a:solidFill>
                <a:latin typeface="Arial" pitchFamily="34" charset="0"/>
                <a:ea typeface="Microsoft JhengHei"/>
                <a:cs typeface="Microsoft JhengHei"/>
                <a:ea typeface="Arial" pitchFamily="34" charset="-122"/>
                <a:cs typeface="Arial" pitchFamily="34" charset="-120"/>
              </a:rPr>
              <a:t>會辦是必然，所以簽送出去的那一刻，資安文件就必須完整——不能先簽再補，一退件就是一輪時間。</a:t>
            </a:r>
            <a:endParaRPr lang="en-US" sz="1200" dirty="0"/>
          </a:p>
          <a:p>
            <a:pPr indent="0" marL="0">
              <a:lnSpc>
                <a:spcPts val="1728"/>
              </a:lnSpc>
              <a:buNone/>
            </a:pPr>
            <a:endParaRPr lang="en-US" sz="1200" dirty="0"/>
          </a:p>
          <a:p>
            <a:pPr indent="0" marL="0">
              <a:lnSpc>
                <a:spcPts val="1728"/>
              </a:lnSpc>
              <a:buNone/>
            </a:pPr>
            <a:r>
              <a:rPr lang="en-US" sz="1200" dirty="0">
                <a:solidFill>
                  <a:srgbClr val="4E5F70"/>
                </a:solidFill>
                <a:latin typeface="Arial" pitchFamily="34" charset="0"/>
                <a:ea typeface="Microsoft JhengHei"/>
                <a:cs typeface="Microsoft JhengHei"/>
                <a:ea typeface="Arial" pitchFamily="34" charset="-122"/>
                <a:cs typeface="Arial" pitchFamily="34" charset="-120"/>
              </a:rPr>
              <a:t>附件二、三、四、七要一次到位，讓會辦是「核對」而不是「索資」。</a:t>
            </a:r>
            <a:endParaRPr lang="en-US" sz="1200" dirty="0"/>
          </a:p>
        </p:txBody>
      </p:sp>
      <p:sp>
        <p:nvSpPr>
          <p:cNvPr id="28" name="Shape 26"/>
          <p:cNvSpPr/>
          <p:nvPr/>
        </p:nvSpPr>
        <p:spPr>
          <a:xfrm>
            <a:off x="6287872" y="2980944"/>
            <a:ext cx="5245456" cy="2011680"/>
          </a:xfrm>
          <a:prstGeom prst="roundRect">
            <a:avLst>
              <a:gd name="adj" fmla="val 1591"/>
            </a:avLst>
          </a:prstGeom>
          <a:solidFill>
            <a:srgbClr val="E4EDF5"/>
          </a:solidFill>
          <a:ln w="12700">
            <a:solidFill>
              <a:srgbClr val="E4EDF5"/>
            </a:solidFill>
            <a:prstDash val="solid"/>
          </a:ln>
        </p:spPr>
      </p:sp>
      <p:sp>
        <p:nvSpPr>
          <p:cNvPr id="29" name="Text 27"/>
          <p:cNvSpPr/>
          <p:nvPr/>
        </p:nvSpPr>
        <p:spPr>
          <a:xfrm>
            <a:off x="6507328" y="3145536"/>
            <a:ext cx="4806544" cy="274320"/>
          </a:xfrm>
          <a:prstGeom prst="rect">
            <a:avLst/>
          </a:prstGeom>
          <a:noFill/>
          <a:ln/>
        </p:spPr>
        <p:txBody>
          <a:bodyPr wrap="square" lIns="0" tIns="0" rIns="0" bIns="0" rtlCol="0" anchor="ctr"/>
          <a:lstStyle/>
          <a:p>
            <a:pPr indent="0" marL="0">
              <a:buNone/>
            </a:pPr>
            <a:r>
              <a:rPr lang="en-US" sz="1500" b="1" dirty="0">
                <a:solidFill>
                  <a:srgbClr val="1D2B39"/>
                </a:solidFill>
                <a:latin typeface="Arial" pitchFamily="34" charset="0"/>
                <a:ea typeface="Microsoft JhengHei"/>
                <a:cs typeface="Microsoft JhengHei"/>
                <a:ea typeface="Arial" pitchFamily="34" charset="-122"/>
                <a:cs typeface="Arial" pitchFamily="34" charset="-120"/>
              </a:rPr>
              <a:t>想請組長幫的一件事</a:t>
            </a:r>
            <a:endParaRPr lang="en-US" sz="1500" dirty="0"/>
          </a:p>
        </p:txBody>
      </p:sp>
      <p:sp>
        <p:nvSpPr>
          <p:cNvPr id="30" name="Text 28"/>
          <p:cNvSpPr/>
          <p:nvPr/>
        </p:nvSpPr>
        <p:spPr>
          <a:xfrm>
            <a:off x="6507328" y="3493008"/>
            <a:ext cx="4806544" cy="1353312"/>
          </a:xfrm>
          <a:prstGeom prst="rect">
            <a:avLst/>
          </a:prstGeom>
          <a:noFill/>
          <a:ln/>
        </p:spPr>
        <p:txBody>
          <a:bodyPr wrap="square" lIns="0" tIns="0" rIns="0" bIns="0" rtlCol="0" anchor="t"/>
          <a:lstStyle/>
          <a:p>
            <a:pPr indent="0" marL="0">
              <a:lnSpc>
                <a:spcPts val="1728"/>
              </a:lnSpc>
              <a:buNone/>
            </a:pPr>
            <a:r>
              <a:rPr lang="en-US" sz="1200" dirty="0">
                <a:solidFill>
                  <a:srgbClr val="4E5F70"/>
                </a:solidFill>
                <a:latin typeface="Arial" pitchFamily="34" charset="0"/>
                <a:ea typeface="Microsoft JhengHei"/>
                <a:cs typeface="Microsoft JhengHei"/>
                <a:ea typeface="Arial" pitchFamily="34" charset="-122"/>
                <a:cs typeface="Arial" pitchFamily="34" charset="-120"/>
              </a:rPr>
              <a:t>與其等會辦時計網中心來要資料，想在正式送簽前先與他們對一次要求。若他們有自己的委外資安檢核表，我照他們的表逐欄對映，不另編一份。</a:t>
            </a:r>
            <a:endParaRPr lang="en-US" sz="1200" dirty="0"/>
          </a:p>
          <a:p>
            <a:pPr indent="0" marL="0">
              <a:lnSpc>
                <a:spcPts val="1728"/>
              </a:lnSpc>
              <a:buNone/>
            </a:pPr>
            <a:endParaRPr lang="en-US" sz="1200" dirty="0"/>
          </a:p>
          <a:p>
            <a:pPr indent="0" marL="0">
              <a:lnSpc>
                <a:spcPts val="1728"/>
              </a:lnSpc>
              <a:buNone/>
            </a:pPr>
            <a:r>
              <a:rPr lang="en-US" sz="1200" dirty="0">
                <a:solidFill>
                  <a:srgbClr val="4E5F70"/>
                </a:solidFill>
                <a:latin typeface="Arial" pitchFamily="34" charset="0"/>
                <a:ea typeface="Microsoft JhengHei"/>
                <a:cs typeface="Microsoft JhengHei"/>
                <a:ea typeface="Arial" pitchFamily="34" charset="-122"/>
                <a:cs typeface="Arial" pitchFamily="34" charset="-120"/>
              </a:rPr>
              <a:t>方便請組長幫忙引薦窗口嗎？</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54C74"/>
        </a:solidFill>
      </p:bgPr>
    </p:bg>
    <p:spTree>
      <p:nvGrpSpPr>
        <p:cNvPr id="1" name=""/>
        <p:cNvGrpSpPr/>
        <p:nvPr/>
      </p:nvGrpSpPr>
      <p:grpSpPr>
        <a:xfrm>
          <a:off x="0" y="0"/>
          <a:ext cx="0" cy="0"/>
          <a:chOff x="0" y="0"/>
          <a:chExt cx="0" cy="0"/>
        </a:xfrm>
      </p:grpSpPr>
      <p:sp>
        <p:nvSpPr>
          <p:cNvPr id="2" name="Text 0"/>
          <p:cNvSpPr/>
          <p:nvPr/>
        </p:nvSpPr>
        <p:spPr>
          <a:xfrm>
            <a:off x="658368" y="6327648"/>
            <a:ext cx="6400800" cy="274320"/>
          </a:xfrm>
          <a:prstGeom prst="rect">
            <a:avLst/>
          </a:prstGeom>
          <a:noFill/>
          <a:ln/>
        </p:spPr>
        <p:txBody>
          <a:bodyPr wrap="square" lIns="0" tIns="0" rIns="0" bIns="0" rtlCol="0" anchor="ctr"/>
          <a:lstStyle/>
          <a:p>
            <a:pPr algn="l" indent="0" marL="0">
              <a:buNone/>
            </a:pPr>
            <a:r>
              <a:rPr lang="en-US" sz="900" spc="180" kern="0" dirty="0">
                <a:solidFill>
                  <a:srgbClr val="A9C8DE"/>
                </a:solidFill>
                <a:latin typeface="Arial" pitchFamily="34" charset="0"/>
                <a:ea typeface="Microsoft JhengHei"/>
                <a:cs typeface="Microsoft JhengHei"/>
                <a:ea typeface="Arial" pitchFamily="34" charset="-122"/>
                <a:cs typeface="Arial" pitchFamily="34" charset="-120"/>
              </a:rPr>
              <a:t>結尾</a:t>
            </a:r>
            <a:endParaRPr lang="en-US" sz="900" dirty="0"/>
          </a:p>
        </p:txBody>
      </p:sp>
      <p:sp>
        <p:nvSpPr>
          <p:cNvPr id="3" name="Text 1"/>
          <p:cNvSpPr/>
          <p:nvPr/>
        </p:nvSpPr>
        <p:spPr>
          <a:xfrm>
            <a:off x="9704527" y="6327648"/>
            <a:ext cx="1828800" cy="274320"/>
          </a:xfrm>
          <a:prstGeom prst="rect">
            <a:avLst/>
          </a:prstGeom>
          <a:noFill/>
          <a:ln/>
        </p:spPr>
        <p:txBody>
          <a:bodyPr wrap="square" lIns="0" tIns="0" rIns="0" bIns="0" rtlCol="0" anchor="ctr"/>
          <a:lstStyle/>
          <a:p>
            <a:pPr algn="r" indent="0" marL="0">
              <a:buNone/>
            </a:pPr>
            <a:r>
              <a:rPr lang="en-US" sz="900" spc="180" kern="0" dirty="0">
                <a:solidFill>
                  <a:srgbClr val="A9C8DE"/>
                </a:solidFill>
                <a:latin typeface="Arial" pitchFamily="34" charset="0"/>
                <a:ea typeface="Microsoft JhengHei"/>
                <a:cs typeface="Microsoft JhengHei"/>
                <a:ea typeface="Arial" pitchFamily="34" charset="-122"/>
                <a:cs typeface="Arial" pitchFamily="34" charset="-120"/>
              </a:rPr>
              <a:t>25 / 25</a:t>
            </a:r>
            <a:endParaRPr lang="en-US" sz="900" dirty="0"/>
          </a:p>
        </p:txBody>
      </p:sp>
      <p:sp>
        <p:nvSpPr>
          <p:cNvPr id="4" name="Text 2"/>
          <p:cNvSpPr/>
          <p:nvPr/>
        </p:nvSpPr>
        <p:spPr>
          <a:xfrm>
            <a:off x="658368" y="777240"/>
            <a:ext cx="10874959" cy="274320"/>
          </a:xfrm>
          <a:prstGeom prst="rect">
            <a:avLst/>
          </a:prstGeom>
          <a:noFill/>
          <a:ln/>
        </p:spPr>
        <p:txBody>
          <a:bodyPr wrap="square" lIns="0" tIns="0" rIns="0" bIns="0" rtlCol="0" anchor="ctr"/>
          <a:lstStyle/>
          <a:p>
            <a:pPr indent="0" marL="0">
              <a:buNone/>
            </a:pPr>
            <a:r>
              <a:rPr lang="en-US" sz="1100" b="1" spc="260" kern="0" dirty="0">
                <a:solidFill>
                  <a:srgbClr val="E8630C"/>
                </a:solidFill>
                <a:latin typeface="Arial" pitchFamily="34" charset="0"/>
                <a:ea typeface="Microsoft JhengHei"/>
                <a:cs typeface="Microsoft JhengHei"/>
                <a:ea typeface="Arial" pitchFamily="34" charset="-122"/>
                <a:cs typeface="Arial" pitchFamily="34" charset="-120"/>
              </a:rPr>
              <a:t>下一步</a:t>
            </a:r>
            <a:endParaRPr lang="en-US" sz="1100" dirty="0"/>
          </a:p>
        </p:txBody>
      </p:sp>
      <p:sp>
        <p:nvSpPr>
          <p:cNvPr id="5" name="Text 3"/>
          <p:cNvSpPr/>
          <p:nvPr/>
        </p:nvSpPr>
        <p:spPr>
          <a:xfrm>
            <a:off x="658368" y="1207008"/>
            <a:ext cx="5654979" cy="1554480"/>
          </a:xfrm>
          <a:prstGeom prst="rect">
            <a:avLst/>
          </a:prstGeom>
          <a:noFill/>
          <a:ln/>
        </p:spPr>
        <p:txBody>
          <a:bodyPr wrap="square" lIns="0" tIns="0" rIns="0" bIns="0" rtlCol="0" anchor="t"/>
          <a:lstStyle/>
          <a:p>
            <a:pPr indent="0" marL="0">
              <a:lnSpc>
                <a:spcPts val="4800"/>
              </a:lnSpc>
              <a:buNone/>
            </a:pPr>
            <a:r>
              <a:rPr lang="en-US" sz="3700" b="1" dirty="0">
                <a:solidFill>
                  <a:srgbClr val="FFFFFF"/>
                </a:solidFill>
                <a:latin typeface="Arial" pitchFamily="34" charset="0"/>
                <a:ea typeface="Microsoft JhengHei"/>
                <a:cs typeface="Microsoft JhengHei"/>
                <a:ea typeface="Arial" pitchFamily="34" charset="-122"/>
                <a:cs typeface="Arial" pitchFamily="34" charset="-120"/>
              </a:rPr>
              <a:t>挑一個在建案，</a:t>
            </a:r>
            <a:endParaRPr lang="en-US" sz="3700" dirty="0"/>
          </a:p>
          <a:p>
            <a:pPr indent="0" marL="0">
              <a:lnSpc>
                <a:spcPts val="4800"/>
              </a:lnSpc>
              <a:buNone/>
            </a:pPr>
            <a:r>
              <a:rPr lang="en-US" sz="3700" b="1" dirty="0">
                <a:solidFill>
                  <a:srgbClr val="FFFFFF"/>
                </a:solidFill>
                <a:latin typeface="Arial" pitchFamily="34" charset="0"/>
                <a:ea typeface="Microsoft JhengHei"/>
                <a:cs typeface="Microsoft JhengHei"/>
                <a:ea typeface="Arial" pitchFamily="34" charset="-122"/>
                <a:cs typeface="Arial" pitchFamily="34" charset="-120"/>
              </a:rPr>
              <a:t>把它從頭跑到底。</a:t>
            </a:r>
            <a:endParaRPr lang="en-US" sz="3700" dirty="0"/>
          </a:p>
        </p:txBody>
      </p:sp>
      <p:sp>
        <p:nvSpPr>
          <p:cNvPr id="6" name="Text 4"/>
          <p:cNvSpPr/>
          <p:nvPr/>
        </p:nvSpPr>
        <p:spPr>
          <a:xfrm>
            <a:off x="658368" y="2971800"/>
            <a:ext cx="5437480" cy="822960"/>
          </a:xfrm>
          <a:prstGeom prst="rect">
            <a:avLst/>
          </a:prstGeom>
          <a:noFill/>
          <a:ln/>
        </p:spPr>
        <p:txBody>
          <a:bodyPr wrap="square" lIns="0" tIns="0" rIns="0" bIns="0" rtlCol="0" anchor="t"/>
          <a:lstStyle/>
          <a:p>
            <a:pPr indent="0" marL="0">
              <a:lnSpc>
                <a:spcPts val="2200"/>
              </a:lnSpc>
              <a:buNone/>
            </a:pPr>
            <a:r>
              <a:rPr lang="en-US" sz="1400" dirty="0">
                <a:solidFill>
                  <a:srgbClr val="A9C8DE"/>
                </a:solidFill>
                <a:latin typeface="Arial" pitchFamily="34" charset="0"/>
                <a:ea typeface="Microsoft JhengHei"/>
                <a:cs typeface="Microsoft JhengHei"/>
                <a:ea typeface="Arial" pitchFamily="34" charset="-122"/>
                <a:cs typeface="Arial" pitchFamily="34" charset="-120"/>
              </a:rPr>
              <a:t>本案不是試用，是有驗收標準、有服務承諾的履約。契約載明的每一項，我都做得到才寫上去。</a:t>
            </a:r>
            <a:endParaRPr lang="en-US" sz="1400" dirty="0"/>
          </a:p>
        </p:txBody>
      </p:sp>
      <p:sp>
        <p:nvSpPr>
          <p:cNvPr id="7" name="Text 5"/>
          <p:cNvSpPr/>
          <p:nvPr/>
        </p:nvSpPr>
        <p:spPr>
          <a:xfrm>
            <a:off x="658368" y="3931920"/>
            <a:ext cx="543748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Microsoft JhengHei"/>
                <a:cs typeface="Microsoft JhengHei"/>
                <a:ea typeface="Arial" pitchFamily="34" charset="-122"/>
                <a:cs typeface="Arial" pitchFamily="34" charset="-120"/>
              </a:rPr>
              <a:t>貴組需要投入的</a:t>
            </a:r>
            <a:endParaRPr lang="en-US" sz="1300" dirty="0"/>
          </a:p>
        </p:txBody>
      </p:sp>
      <p:sp>
        <p:nvSpPr>
          <p:cNvPr id="8" name="Text 6"/>
          <p:cNvSpPr/>
          <p:nvPr/>
        </p:nvSpPr>
        <p:spPr>
          <a:xfrm>
            <a:off x="658368" y="4279392"/>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9" name="Text 7"/>
          <p:cNvSpPr/>
          <p:nvPr/>
        </p:nvSpPr>
        <p:spPr>
          <a:xfrm>
            <a:off x="877824" y="4279392"/>
            <a:ext cx="5000524"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一位承辦人，每週約一小時</a:t>
            </a:r>
            <a:endParaRPr lang="en-US" sz="1250" dirty="0"/>
          </a:p>
        </p:txBody>
      </p:sp>
      <p:sp>
        <p:nvSpPr>
          <p:cNvPr id="10" name="Text 8"/>
          <p:cNvSpPr/>
          <p:nvPr/>
        </p:nvSpPr>
        <p:spPr>
          <a:xfrm>
            <a:off x="658368" y="4572000"/>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1" name="Text 9"/>
          <p:cNvSpPr/>
          <p:nvPr/>
        </p:nvSpPr>
        <p:spPr>
          <a:xfrm>
            <a:off x="877824" y="4572000"/>
            <a:ext cx="5000524"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一個進行中的案子（契約＋標單）</a:t>
            </a:r>
            <a:endParaRPr lang="en-US" sz="1250" dirty="0"/>
          </a:p>
        </p:txBody>
      </p:sp>
      <p:sp>
        <p:nvSpPr>
          <p:cNvPr id="12" name="Text 10"/>
          <p:cNvSpPr/>
          <p:nvPr/>
        </p:nvSpPr>
        <p:spPr>
          <a:xfrm>
            <a:off x="658368" y="4864608"/>
            <a:ext cx="219456" cy="292608"/>
          </a:xfrm>
          <a:prstGeom prst="rect">
            <a:avLst/>
          </a:prstGeom>
          <a:noFill/>
          <a:ln/>
        </p:spPr>
        <p:txBody>
          <a:bodyPr wrap="square" lIns="0" tIns="0" rIns="0" bIns="0" rtlCol="0" anchor="ctr"/>
          <a:lstStyle/>
          <a:p>
            <a:pPr indent="0" marL="0">
              <a:buNone/>
            </a:pPr>
            <a:r>
              <a:rPr lang="en-US" sz="800" b="1" dirty="0">
                <a:solidFill>
                  <a:srgbClr val="7A8794"/>
                </a:solidFill>
                <a:latin typeface="Arial" pitchFamily="34" charset="0"/>
                <a:ea typeface="Microsoft JhengHei"/>
                <a:cs typeface="Microsoft JhengHei"/>
                <a:ea typeface="Arial" pitchFamily="34" charset="-122"/>
                <a:cs typeface="Arial" pitchFamily="34" charset="-120"/>
              </a:rPr>
              <a:t>—</a:t>
            </a:r>
            <a:endParaRPr lang="en-US" sz="800" dirty="0"/>
          </a:p>
        </p:txBody>
      </p:sp>
      <p:sp>
        <p:nvSpPr>
          <p:cNvPr id="13" name="Text 11"/>
          <p:cNvSpPr/>
          <p:nvPr/>
        </p:nvSpPr>
        <p:spPr>
          <a:xfrm>
            <a:off x="877824" y="4864608"/>
            <a:ext cx="5000524" cy="292608"/>
          </a:xfrm>
          <a:prstGeom prst="rect">
            <a:avLst/>
          </a:prstGeom>
          <a:noFill/>
          <a:ln/>
        </p:spPr>
        <p:txBody>
          <a:bodyPr wrap="square" lIns="0" tIns="0" rIns="0" bIns="0" rtlCol="0" anchor="ctr"/>
          <a:lstStyle/>
          <a:p>
            <a:pPr indent="0" marL="0">
              <a:buNone/>
            </a:pPr>
            <a:r>
              <a:rPr lang="en-US" sz="1250" dirty="0">
                <a:solidFill>
                  <a:srgbClr val="A9C8DE"/>
                </a:solidFill>
                <a:latin typeface="Arial" pitchFamily="34" charset="0"/>
                <a:ea typeface="Microsoft JhengHei"/>
                <a:cs typeface="Microsoft JhengHei"/>
                <a:ea typeface="Arial" pitchFamily="34" charset="-122"/>
                <a:cs typeface="Arial" pitchFamily="34" charset="-120"/>
              </a:rPr>
              <a:t>廠商與監造各一位聯絡人</a:t>
            </a:r>
            <a:endParaRPr lang="en-US" sz="1250" dirty="0"/>
          </a:p>
        </p:txBody>
      </p:sp>
      <p:sp>
        <p:nvSpPr>
          <p:cNvPr id="14" name="Shape 12"/>
          <p:cNvSpPr/>
          <p:nvPr/>
        </p:nvSpPr>
        <p:spPr>
          <a:xfrm>
            <a:off x="6748345" y="1207008"/>
            <a:ext cx="4784982" cy="3657600"/>
          </a:xfrm>
          <a:prstGeom prst="roundRect">
            <a:avLst>
              <a:gd name="adj" fmla="val 1000"/>
            </a:avLst>
          </a:prstGeom>
          <a:solidFill>
            <a:srgbClr val="10405F"/>
          </a:solidFill>
          <a:ln w="12700">
            <a:solidFill>
              <a:srgbClr val="2A6997"/>
            </a:solidFill>
            <a:prstDash val="solid"/>
          </a:ln>
        </p:spPr>
      </p:sp>
      <p:sp>
        <p:nvSpPr>
          <p:cNvPr id="15" name="Text 13"/>
          <p:cNvSpPr/>
          <p:nvPr/>
        </p:nvSpPr>
        <p:spPr>
          <a:xfrm>
            <a:off x="7059241" y="1481328"/>
            <a:ext cx="4163190" cy="31089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Microsoft JhengHei"/>
                <a:cs typeface="Microsoft JhengHei"/>
                <a:ea typeface="Arial" pitchFamily="34" charset="-122"/>
                <a:cs typeface="Arial" pitchFamily="34" charset="-120"/>
              </a:rPr>
              <a:t>今天想請組長決定的三件事</a:t>
            </a:r>
            <a:endParaRPr lang="en-US" sz="1600" dirty="0"/>
          </a:p>
        </p:txBody>
      </p:sp>
      <p:sp>
        <p:nvSpPr>
          <p:cNvPr id="16" name="Text 14"/>
          <p:cNvSpPr/>
          <p:nvPr/>
        </p:nvSpPr>
        <p:spPr>
          <a:xfrm>
            <a:off x="7059241" y="2048256"/>
            <a:ext cx="274320" cy="274320"/>
          </a:xfrm>
          <a:prstGeom prst="rect">
            <a:avLst/>
          </a:prstGeom>
          <a:noFill/>
          <a:ln/>
        </p:spPr>
        <p:txBody>
          <a:bodyPr wrap="square" lIns="0" tIns="0" rIns="0" bIns="0" rtlCol="0" anchor="ctr"/>
          <a:lstStyle/>
          <a:p>
            <a:pPr indent="0" marL="0">
              <a:buNone/>
            </a:pPr>
            <a:r>
              <a:rPr lang="en-US" sz="1300" b="1" dirty="0">
                <a:solidFill>
                  <a:srgbClr val="E8630C"/>
                </a:solidFill>
                <a:latin typeface="Arial" pitchFamily="34" charset="0"/>
                <a:ea typeface="Microsoft JhengHei"/>
                <a:cs typeface="Microsoft JhengHei"/>
                <a:ea typeface="Arial" pitchFamily="34" charset="-122"/>
                <a:cs typeface="Arial" pitchFamily="34" charset="-120"/>
              </a:rPr>
              <a:t>1</a:t>
            </a:r>
            <a:endParaRPr lang="en-US" sz="1300" dirty="0"/>
          </a:p>
        </p:txBody>
      </p:sp>
      <p:sp>
        <p:nvSpPr>
          <p:cNvPr id="17" name="Text 15"/>
          <p:cNvSpPr/>
          <p:nvPr/>
        </p:nvSpPr>
        <p:spPr>
          <a:xfrm>
            <a:off x="7388425" y="2048256"/>
            <a:ext cx="3834006"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Microsoft JhengHei"/>
                <a:cs typeface="Microsoft JhengHei"/>
                <a:ea typeface="Arial" pitchFamily="34" charset="-122"/>
                <a:cs typeface="Arial" pitchFamily="34" charset="-120"/>
              </a:rPr>
              <a:t>驗收時點</a:t>
            </a:r>
            <a:endParaRPr lang="en-US" sz="1400" dirty="0"/>
          </a:p>
        </p:txBody>
      </p:sp>
      <p:sp>
        <p:nvSpPr>
          <p:cNvPr id="18" name="Text 16"/>
          <p:cNvSpPr/>
          <p:nvPr/>
        </p:nvSpPr>
        <p:spPr>
          <a:xfrm>
            <a:off x="7388425" y="2340864"/>
            <a:ext cx="3834006" cy="457200"/>
          </a:xfrm>
          <a:prstGeom prst="rect">
            <a:avLst/>
          </a:prstGeom>
          <a:noFill/>
          <a:ln/>
        </p:spPr>
        <p:txBody>
          <a:bodyPr wrap="square" lIns="0" tIns="0" rIns="0" bIns="0" rtlCol="0" anchor="t"/>
          <a:lstStyle/>
          <a:p>
            <a:pPr indent="0" marL="0">
              <a:lnSpc>
                <a:spcPts val="1600"/>
              </a:lnSpc>
              <a:buNone/>
            </a:pPr>
            <a:r>
              <a:rPr lang="en-US" sz="1150" dirty="0">
                <a:solidFill>
                  <a:srgbClr val="A9C8DE"/>
                </a:solidFill>
                <a:latin typeface="Arial" pitchFamily="34" charset="0"/>
                <a:ea typeface="Microsoft JhengHei"/>
                <a:cs typeface="Microsoft JhengHei"/>
                <a:ea typeface="Arial" pitchFamily="34" charset="-122"/>
                <a:cs typeface="Arial" pitchFamily="34" charset="-120"/>
              </a:rPr>
              <a:t>要用甲、乙、丙哪一個方案？（建議乙：開通驗收）</a:t>
            </a:r>
            <a:endParaRPr lang="en-US" sz="1150" dirty="0"/>
          </a:p>
        </p:txBody>
      </p:sp>
      <p:sp>
        <p:nvSpPr>
          <p:cNvPr id="19" name="Text 17"/>
          <p:cNvSpPr/>
          <p:nvPr/>
        </p:nvSpPr>
        <p:spPr>
          <a:xfrm>
            <a:off x="7059241" y="2889504"/>
            <a:ext cx="274320" cy="274320"/>
          </a:xfrm>
          <a:prstGeom prst="rect">
            <a:avLst/>
          </a:prstGeom>
          <a:noFill/>
          <a:ln/>
        </p:spPr>
        <p:txBody>
          <a:bodyPr wrap="square" lIns="0" tIns="0" rIns="0" bIns="0" rtlCol="0" anchor="ctr"/>
          <a:lstStyle/>
          <a:p>
            <a:pPr indent="0" marL="0">
              <a:buNone/>
            </a:pPr>
            <a:r>
              <a:rPr lang="en-US" sz="1300" b="1" dirty="0">
                <a:solidFill>
                  <a:srgbClr val="E8630C"/>
                </a:solidFill>
                <a:latin typeface="Arial" pitchFamily="34" charset="0"/>
                <a:ea typeface="Microsoft JhengHei"/>
                <a:cs typeface="Microsoft JhengHei"/>
                <a:ea typeface="Arial" pitchFamily="34" charset="-122"/>
                <a:cs typeface="Arial" pitchFamily="34" charset="-120"/>
              </a:rPr>
              <a:t>2</a:t>
            </a:r>
            <a:endParaRPr lang="en-US" sz="1300" dirty="0"/>
          </a:p>
        </p:txBody>
      </p:sp>
      <p:sp>
        <p:nvSpPr>
          <p:cNvPr id="20" name="Text 18"/>
          <p:cNvSpPr/>
          <p:nvPr/>
        </p:nvSpPr>
        <p:spPr>
          <a:xfrm>
            <a:off x="7388425" y="2889504"/>
            <a:ext cx="3834006"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Microsoft JhengHei"/>
                <a:cs typeface="Microsoft JhengHei"/>
                <a:ea typeface="Arial" pitchFamily="34" charset="-122"/>
                <a:cs typeface="Arial" pitchFamily="34" charset="-120"/>
              </a:rPr>
              <a:t>引薦計網中心</a:t>
            </a:r>
            <a:endParaRPr lang="en-US" sz="1400" dirty="0"/>
          </a:p>
        </p:txBody>
      </p:sp>
      <p:sp>
        <p:nvSpPr>
          <p:cNvPr id="21" name="Text 19"/>
          <p:cNvSpPr/>
          <p:nvPr/>
        </p:nvSpPr>
        <p:spPr>
          <a:xfrm>
            <a:off x="7388425" y="3182112"/>
            <a:ext cx="3834006" cy="457200"/>
          </a:xfrm>
          <a:prstGeom prst="rect">
            <a:avLst/>
          </a:prstGeom>
          <a:noFill/>
          <a:ln/>
        </p:spPr>
        <p:txBody>
          <a:bodyPr wrap="square" lIns="0" tIns="0" rIns="0" bIns="0" rtlCol="0" anchor="t"/>
          <a:lstStyle/>
          <a:p>
            <a:pPr indent="0" marL="0">
              <a:lnSpc>
                <a:spcPts val="1600"/>
              </a:lnSpc>
              <a:buNone/>
            </a:pPr>
            <a:r>
              <a:rPr lang="en-US" sz="1150" dirty="0">
                <a:solidFill>
                  <a:srgbClr val="A9C8DE"/>
                </a:solidFill>
                <a:latin typeface="Arial" pitchFamily="34" charset="0"/>
                <a:ea typeface="Microsoft JhengHei"/>
                <a:cs typeface="Microsoft JhengHei"/>
                <a:ea typeface="Arial" pitchFamily="34" charset="-122"/>
                <a:cs typeface="Arial" pitchFamily="34" charset="-120"/>
              </a:rPr>
              <a:t>送簽前先對一次資安要求，把退件風險降到最低。</a:t>
            </a:r>
            <a:endParaRPr lang="en-US" sz="1150" dirty="0"/>
          </a:p>
        </p:txBody>
      </p:sp>
      <p:sp>
        <p:nvSpPr>
          <p:cNvPr id="22" name="Text 20"/>
          <p:cNvSpPr/>
          <p:nvPr/>
        </p:nvSpPr>
        <p:spPr>
          <a:xfrm>
            <a:off x="7059241" y="3730752"/>
            <a:ext cx="274320" cy="274320"/>
          </a:xfrm>
          <a:prstGeom prst="rect">
            <a:avLst/>
          </a:prstGeom>
          <a:noFill/>
          <a:ln/>
        </p:spPr>
        <p:txBody>
          <a:bodyPr wrap="square" lIns="0" tIns="0" rIns="0" bIns="0" rtlCol="0" anchor="ctr"/>
          <a:lstStyle/>
          <a:p>
            <a:pPr indent="0" marL="0">
              <a:buNone/>
            </a:pPr>
            <a:r>
              <a:rPr lang="en-US" sz="1300" b="1" dirty="0">
                <a:solidFill>
                  <a:srgbClr val="E8630C"/>
                </a:solidFill>
                <a:latin typeface="Arial" pitchFamily="34" charset="0"/>
                <a:ea typeface="Microsoft JhengHei"/>
                <a:cs typeface="Microsoft JhengHei"/>
                <a:ea typeface="Arial" pitchFamily="34" charset="-122"/>
                <a:cs typeface="Arial" pitchFamily="34" charset="-120"/>
              </a:rPr>
              <a:t>3</a:t>
            </a:r>
            <a:endParaRPr lang="en-US" sz="1300" dirty="0"/>
          </a:p>
        </p:txBody>
      </p:sp>
      <p:sp>
        <p:nvSpPr>
          <p:cNvPr id="23" name="Text 21"/>
          <p:cNvSpPr/>
          <p:nvPr/>
        </p:nvSpPr>
        <p:spPr>
          <a:xfrm>
            <a:off x="7388425" y="3730752"/>
            <a:ext cx="3834006"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Microsoft JhengHei"/>
                <a:cs typeface="Microsoft JhengHei"/>
                <a:ea typeface="Arial" pitchFamily="34" charset="-122"/>
                <a:cs typeface="Arial" pitchFamily="34" charset="-120"/>
              </a:rPr>
              <a:t>試辦標的</a:t>
            </a:r>
            <a:endParaRPr lang="en-US" sz="1400" dirty="0"/>
          </a:p>
        </p:txBody>
      </p:sp>
      <p:sp>
        <p:nvSpPr>
          <p:cNvPr id="24" name="Text 22"/>
          <p:cNvSpPr/>
          <p:nvPr/>
        </p:nvSpPr>
        <p:spPr>
          <a:xfrm>
            <a:off x="7388425" y="4023360"/>
            <a:ext cx="3834006" cy="457200"/>
          </a:xfrm>
          <a:prstGeom prst="rect">
            <a:avLst/>
          </a:prstGeom>
          <a:noFill/>
          <a:ln/>
        </p:spPr>
        <p:txBody>
          <a:bodyPr wrap="square" lIns="0" tIns="0" rIns="0" bIns="0" rtlCol="0" anchor="t"/>
          <a:lstStyle/>
          <a:p>
            <a:pPr indent="0" marL="0">
              <a:lnSpc>
                <a:spcPts val="1600"/>
              </a:lnSpc>
              <a:buNone/>
            </a:pPr>
            <a:r>
              <a:rPr lang="en-US" sz="1150" dirty="0">
                <a:solidFill>
                  <a:srgbClr val="A9C8DE"/>
                </a:solidFill>
                <a:latin typeface="Arial" pitchFamily="34" charset="0"/>
                <a:ea typeface="Microsoft JhengHei"/>
                <a:cs typeface="Microsoft JhengHei"/>
                <a:ea typeface="Arial" pitchFamily="34" charset="-122"/>
                <a:cs typeface="Arial" pitchFamily="34" charset="-120"/>
              </a:rPr>
              <a:t>哪一個在建工程案適合？契約與標單能否先給我。</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Microsoft JhengHei"/>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Microsoft JhengHei"/>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工程 Agent — 產品、資安與簽辦（組長版）</dc:title>
  <dc:subject>PptxGenJS Presentation</dc:subject>
  <dc:creator>gov-agent.ai</dc:creator>
  <cp:lastModifiedBy>gov-agent.ai</cp:lastModifiedBy>
  <cp:revision>1</cp:revision>
  <dcterms:created xsi:type="dcterms:W3CDTF">2026-08-12T03:21:19Z</dcterms:created>
  <dcterms:modified xsi:type="dcterms:W3CDTF">2026-08-12T03:21:19Z</dcterms:modified>
</cp:coreProperties>
</file>
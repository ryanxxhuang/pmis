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Microsoft JhengHei"/>
          <a:cs typeface="Microsoft JhengHei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Microsoft JhengHei"/>
          <a:cs typeface="Microsoft JhengHei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封面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01 / 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267093" cy="6858000"/>
          </a:xfrm>
          <a:prstGeom prst="rect">
            <a:avLst/>
          </a:prstGeom>
          <a:solidFill>
            <a:srgbClr val="10405F"/>
          </a:solidFill>
          <a:ln w="12700">
            <a:solidFill>
              <a:srgbClr val="1040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87168"/>
            <a:ext cx="29869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PMIS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66544" y="24871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.ai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29869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公共工程 AI Agent 平台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968496"/>
            <a:ext cx="2986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gov-agent.ai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44333" y="2029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40" kern="0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合作簡報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4333" y="2432304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監造與專管的每一位工程師，</a:t>
            </a:r>
            <a:endParaRPr lang="en-US" sz="3000" dirty="0"/>
          </a:p>
          <a:p>
            <a:pPr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配一個讀過本案契約的 Agent。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44333" y="39684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給建築師事務所與工程顧問公司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44333" y="43525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2026-08-19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關於我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02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為什麼是我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這三方，我都待過。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17722" cy="210312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64208"/>
            <a:ext cx="2978810" cy="274320"/>
          </a:xfrm>
          <a:prstGeom prst="roundRect">
            <a:avLst>
              <a:gd name="adj" fmla="val 10000"/>
            </a:avLst>
          </a:prstGeom>
          <a:solidFill>
            <a:srgbClr val="FCE9DC"/>
          </a:solidFill>
          <a:ln>
            <a:solidFill>
              <a:srgbClr val="FCE9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監造這一側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2029968"/>
            <a:ext cx="297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台灣世曦工程顧問｜監造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77824" y="245059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97280" y="2450592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查驗、送審、估驗覆核都自己做過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27157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715768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經手工程獲公共工程金質獎、金品獎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" y="29809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97280" y="2980944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土木本科出身，看得懂圖也看得懂標單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6986" y="1481328"/>
            <a:ext cx="3417722" cy="210312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06442" y="1664208"/>
            <a:ext cx="2978810" cy="274320"/>
          </a:xfrm>
          <a:prstGeom prst="roundRect">
            <a:avLst>
              <a:gd name="adj" fmla="val 10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機關這一側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6442" y="2029968"/>
            <a:ext cx="297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公務機關｜4 年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06442" y="245059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5898" y="2450592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走過簽辦、審查、發包到驗收的內部流程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6442" y="27157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5898" y="2715768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知道承辦人真正會被卡在哪一關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06442" y="29809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5898" y="2980944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也知道機關為什麼對 AI 特別謹慎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15605" y="1481328"/>
            <a:ext cx="3417722" cy="210312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5061" y="1664208"/>
            <a:ext cx="2978810" cy="274320"/>
          </a:xfrm>
          <a:prstGeom prst="roundRect">
            <a:avLst>
              <a:gd name="adj" fmla="val 10000"/>
            </a:avLst>
          </a:prstGeom>
          <a:solidFill>
            <a:srgbClr val="E3E9EF"/>
          </a:solidFill>
          <a:ln>
            <a:solidFill>
              <a:srgbClr val="E3E9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系統這一側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5061" y="2029968"/>
            <a:ext cx="297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Agent 新創｜產品經理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335061" y="245059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54517" y="2450592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這套系統是我自己做的，不是外包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35061" y="27157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54517" y="2715768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從資料模型到 AI 邊界都自己決定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35061" y="29809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54517" y="2980944"/>
            <a:ext cx="27593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土木出身，之後補了資工與商管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" y="3803904"/>
            <a:ext cx="10874959" cy="132588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77824" y="3968496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所以「這個痛點是不是真的」，我不用回去問人。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77824" y="4315968"/>
            <a:ext cx="1043604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監造的查驗與送審、機關的簽辦與驗收、系統的資料模型與 AI 邊界——這三件事平常分屬三種人，很少落在同一個人身上。這套系統之所以敢把 AI 鎖在草稿這一側、把判定與簽名留給人，正是因為我知道簽下去的人要承擔什麼。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8368" y="5248656"/>
            <a:ext cx="10874959" cy="54864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303520"/>
            <a:ext cx="103994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學歷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中央大學土木工程學士　·　交通大學土木工程碩士　·　Georgia Tech 資訊工程碩士（MSCS）　·　UCLA 企業管理碩士（MBA）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總覽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03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一頁講完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三種合作，共用同一套系統。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17722" cy="4114800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7007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322576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你們自己用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2724912"/>
            <a:ext cx="294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監造／專管導入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12724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查驗、送審、缺失、估驗覆核、監造報表在同一條資料線上。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只出草稿，判定與核准永遠是貴所的工程師按的。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4846320"/>
            <a:ext cx="2942234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95604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起手式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5193792"/>
            <a:ext cx="2942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挑一個案子，先只用一個功能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6986" y="1481328"/>
            <a:ext cx="3417722" cy="4114800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4730" y="17007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乙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4730" y="2322576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一起接案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24730" y="2724912"/>
            <a:ext cx="294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共同投標／技術合作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4730" y="312724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你們有機關關係與工程專業，我方有系統與資安合規文件。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組合起來投 PCM／專案管理標案，資訊系統那一段由我方負責。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4730" y="4846320"/>
            <a:ext cx="2942234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4730" y="495604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起手式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4730" y="5193792"/>
            <a:ext cx="2942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下一個要投的標，提早一個月談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15605" y="1481328"/>
            <a:ext cx="3417722" cy="4114800"/>
          </a:xfrm>
          <a:prstGeom prst="roundRect">
            <a:avLst>
              <a:gd name="adj" fmla="val 93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53349" y="17007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53349" y="2322576"/>
            <a:ext cx="29422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你們出 know-how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53349" y="2724912"/>
            <a:ext cx="2942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領域知識合作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3349" y="3127248"/>
            <a:ext cx="2942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真實案件的作業流程、表單與眉角由貴所提供，系統由我方建。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換取優先使用、共同掛名或其他對價——形狀可談。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53349" y="4846320"/>
            <a:ext cx="2942234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3349" y="4956048"/>
            <a:ext cx="29422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起手式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53349" y="5193792"/>
            <a:ext cx="29422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一份可去識別化的舊案文件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" y="5797296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852160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這場會的目的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不是要你今天決定買什麼。是要你看完系統之後，告訴我甲乙丙哪一條對貴所最有意義——或者三條都不是。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04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問題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資料不是沒有，是同一件事被記在四個地方。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LINE 群組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現場照片、口頭指示、臨時協調——找得到的當下有用，三個月後查不回來。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45688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5144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Excel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5144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估驗表、缺失追蹤表、進度表各一份，版本靠檔名，改了不會互相通知。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2464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紙本／PDF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52464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契約、規範、施工計畫、查驗表。期限藏在條文裡，沒有人再讀第二次。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20327" y="1481328"/>
            <a:ext cx="2513000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9783" y="1645920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信箱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39783" y="1993392"/>
            <a:ext cx="20740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送審往返與退回補正。審了幾次、上次退什麼理由，要往回翻信。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255264"/>
            <a:ext cx="10874959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3419856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結果不是「資料遺失」，是「對不起來」。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7824" y="3767328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報的數量，對不上施工日誌的完成量；缺失結案了，但佐證照片在誰的手機裡沒人知道；監造報表每個月重打一次，因為來源資料本來就不在同一個地方。這些是機關驗收與稽核最愛問、也最花貴所人力回答的問題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" y="484632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7824" y="4846320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貴所賣的是專業判斷，不是把同一筆數字抄到第四個檔案裡的工時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" y="513892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7824" y="5138928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同一批人力，能接的案量取決於「行政重工」佔掉多少小時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543153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77824" y="5431536"/>
            <a:ext cx="106555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機關近年要的佐證越來越完整——缺的不是能力，是把既有紀錄串起來的工具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05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導覽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六個工作面，不是二十二個選單。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側欄只有六格：今日待辦、現場與品質、審查與協作、進度與金流、文件與結案、專案。子頁收在工作面底下，需要時再展開。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以「一天要處理什麼」分組，不以資料表分組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同一套階層在手機抽屜完全一致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權限不足的頁面不會出現在側欄，也進不去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n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06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首頁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打開系統的第一眼：現在輪到誰。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不放統計圖表，只放三段：現在輪到我、等待對方、今天已完成。每一筆都標明還有幾天或逾期幾天。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待辦由既有業務狀態推導，不是另一張待辦表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草稿與未核定建議結構上進不了待辦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逾期天數用台北日曆日判斷，傍晚開頁不會少算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07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契約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契約裡的期限與罰則，被抽出來會自己到期。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整包契約與規範一次上傳，系統抽出履約要求；人工核定後進入義務時程，到期自動出現在提醒與待辦。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每一條都保留出處：契約第幾條、第幾頁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罰則原文一併帶出（例：逾期每日 0.5‰）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完成時可掛佐證，例如以核准的 SUB-001 品質計畫結案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08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Agent 做草稿，人做決定。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左邊問本案問題、答案附出處連結；右邊是 AI 草稿收件匣——日誌草稿、查驗表草稿都要人接受或拒絕才會生效。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照片可擬出日誌與自主檢查表草稿，實測值一律留空給人填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每筆草稿都能展開「為什麼這樣擬」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接受／拒絕都寫進稽核紀錄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示範站畫面（示範資料）｜監造身分。示範站無後端，答案走離線確定性引擎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09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品質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查驗到缺失到結案，是一條鎖住的鏈。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查驗申請 → 監造查驗 → 不合格開缺失 → 廠商改善 → 監造複查結案。已結案不可刪除，撤銷結案要附原因並留存稽核。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自主檢查表不合格會自動開缺失，且一組試體只開一筆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缺失逾期未結案會進機關端的風險稽核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缺失清單可直接匯出 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10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ITP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停留點沒叫驗就繼續施作，系統會亮紅。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H（停留點，未查驗不得續作）、W（見證點）、R（文審點）各自追蹤，來源可回溯到品質計畫或施工規範的條號。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H 點未申請查驗但工項已在施作 → 直接示警並進提醒中心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每個停留點記標準、頻率與出處（例：規範 03310）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之後可由 AI 從上傳規範自動擬停留點，監造審核後生效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i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11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送審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送審往返有版次，退回理由留在案上。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施工提送 → 監造受理審核 → 核准／核備／退回補正；退回後廠商修正再送，版次自動加一，前一次的審查意見留在同一串。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「AI 審查助手」逐項比對契約需求並擬審查意見草稿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意見只引用本案已核定的需求，不自行編造法規條號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判定仍由監造按，AI 沒有核准這個動作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submitt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12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估驗金額由引擎算，三方看同一份明細。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逐工項累計完成數量 → 本期金額、保留款、本期應付全部由確定性程式計算；廠商提送、監造核定、機關付款走同一份資料。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變更後契約金額自動反映已核准的追加減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可一鍵組請款佐證包（本期明細＋施工說明＋佐證照片）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估驗超前日誌完成量會被勾稽出來，不必等機關發現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sv-val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示範站畫面（示範資料）｜監造身分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13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機關端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機關看得到的，貴所最好先看得到。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機關端有跨案總覽與風險稽核：逐工項把估驗、日誌、查驗、試體對起來，標出值得複查的異常。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2487168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六項確定性對帳（例：估驗超前日誌逾 5%）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7523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7824" y="2752344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判定是算出來的，AI 只負責把它寫成人看得懂的意見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0175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3026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這頁是機關防弊工具——貴所提前自查，等於少一輪被退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1104" y="1453896"/>
            <a:ext cx="7299655" cy="458285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  <a:effectLst>
            <a:outerShdw sx="100000" sy="100000" kx="0" ky="0" algn="bl" rotWithShape="0" blurRad="127000" dist="635" dir="5400000">
              <a:srgbClr val="93A3B2">
                <a:alpha val="22000"/>
              </a:srgbClr>
            </a:outerShdw>
          </a:effectLst>
        </p:spPr>
      </p:sp>
      <p:pic>
        <p:nvPicPr>
          <p:cNvPr id="14" name="Image 0" descr="/Volumes/GameSSD/Projects/PMIS/docs/pitch/shots/ow-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481328"/>
            <a:ext cx="7244791" cy="452799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88536" y="6064186"/>
            <a:ext cx="72447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示範站畫面（示範資料）｜機關身分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產品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14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邊界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三條紅線，寫在架構裡，不是寫在簡報上。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17722" cy="2286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700784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AE8E6"/>
          </a:solidFill>
          <a:ln>
            <a:solidFill>
              <a:srgbClr val="FAE8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2942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只產生草稿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615184"/>
            <a:ext cx="294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核定、判定、結案、驗收、凍結——agent 的工具箱裡根本沒有這些工具。靠工具白名單保證，不是靠 prompt 約束。狀態轉移一律走資料庫 trigger 加人簽核。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6986" y="1481328"/>
            <a:ext cx="3417722" cy="2286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4730" y="1700784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AE8E6"/>
          </a:solidFill>
          <a:ln>
            <a:solidFill>
              <a:srgbClr val="FAE8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4730" y="2231136"/>
            <a:ext cx="2942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數字由確定性引擎算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4730" y="2615184"/>
            <a:ext cx="294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可以複述金額，但金額必須由計價程式算出、經工具回傳。AI 不准自己乘除，不准自己編法規條號。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15605" y="1481328"/>
            <a:ext cx="3417722" cy="2286000"/>
          </a:xfrm>
          <a:prstGeom prst="roundRect">
            <a:avLst>
              <a:gd name="adj" fmla="val 14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3349" y="1700784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AE8E6"/>
          </a:solidFill>
          <a:ln>
            <a:solidFill>
              <a:srgbClr val="FAE8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3349" y="2231136"/>
            <a:ext cx="29422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每個動作都留痕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53349" y="2615184"/>
            <a:ext cx="294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角色、種類、目標、理由、佐證、人的覆核結果全部寫進稽核表。機關要查「這個判定是誰按的、依據什麼」，答得出來。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986784"/>
            <a:ext cx="10874959" cy="1225296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4151376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為什麼要跟顧問公司特別講這三條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7824" y="4498848"/>
            <a:ext cx="104360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監造的簽名是有責任的。任何「AI 幫你判定合格」的產品，貴所都不能用——出事的時候簽名的是貴所的技師，不是模型。所以這套系統把 AI 放在草稿這一側，把責任留在人這一側；系統的價值是把佐證備齊、把該提醒的提醒到，不是替工程師承擔判斷。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413248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468112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第四條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每個 AI 功能都是可獨立開關的模組——機關若不接受把資料送到境外模型，整組關掉，其他功能照常運作。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一起接案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15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合規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資安這一段，我方已經備好可以交出去的東西。</a:t>
            </a:r>
            <a:endParaRPr lang="en-US" sz="3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1087495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217359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機關會要的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我方現況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20" kern="0" dirty="0">
                          <a:solidFill>
                            <a:srgbClr val="1B548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狀態</a:t>
                      </a:r>
                      <a:endParaRPr lang="en-US" sz="95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完善資通安全管理措施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資通系統防護基準（普通級）逐條符合性對照表；一覽表原文是「或 ISO 27001」，走前者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已備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公開漏洞回報應變機制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不需登入即可瀏覽的公開頁 ＋ security.txt（RFC 9116）＋ 內部應變流程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已上線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弱點掃描報告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OWASP ZAP baseline ＋ AJAX spider 對正式站掃描，High 風險 0 項，處置對照留檔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已完成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日誌保存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稽核事件含 IP 位址（伺服器端解析，前端不得傳參），保存政策六個月，無自動清除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已完成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伺服器端權限檢查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資料表全面 RLS ＋ 23 組資料庫測試；這一條多數同業是靠前端隱藏按鈕硬答的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可交報告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1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境外資料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資料庫在日本、不涉大陸地區。條文是「未經機關審查同意不得移出」，走審查同意，附資料落地說明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20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需逐案辦理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D2B3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個資保護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E5F70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系統內個資極少（姓名、職稱、聯絡方式）；送模型的內容不含個資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5209"/>
                          </a:solidFill>
                          <a:latin typeface="Arial" pitchFamily="34" charset="0"/>
                          <a:ea typeface="Microsoft JhengHei"/>
                          <a:cs typeface="Microsoft JhengHei"/>
                          <a:ea typeface="Arial" pitchFamily="34" charset="-122"/>
                          <a:cs typeface="Arial" pitchFamily="34" charset="-120"/>
                        </a:rPr>
                        <a:t>契約層處理</a:t>
                      </a:r>
                      <a:endParaRPr lang="en-US" sz="1000" dirty="0">
                        <a:latin typeface="Arial" charset="0"/>
                        <a:ea typeface="Microsoft JhengHei"/>
                        <a:cs typeface="Microsoft JhengHei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39700" marB="139700" anchor="ctr">
                    <a:lnL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D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5321808"/>
            <a:ext cx="10874959" cy="786384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5376672"/>
            <a:ext cx="1039947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依據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工程會 112 年 9 月 25 日工程企字第 1120022701 號函之《各類資訊(服務)採購之共通性資通安全基本要求參考一覽表》，「雲端微服務（SaaS）套裝型・普通級」共 11 列。這是參考一覽表，機關可視個案挑選；需第三方安全性檢測的門檻為委託金額一千萬以上。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一起接案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16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分工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一起投的時候，各出什麼。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5254600" cy="301752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64208"/>
            <a:ext cx="477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我方負責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1396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15568" y="21396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系統本體與雲端維運（正式站、備份、可用率）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4048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24048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資安文件：防護基準對照、弱點掃描、漏洞回報機制、日誌政策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267004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15568" y="267004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依本案契約與規範做的資料設定（標單匯入、期限與停留點）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293522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5568" y="293522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教育訓練與導入期間的技術窗口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320040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320040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AI 模組的開關、用量與成本控管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8728" y="1481328"/>
            <a:ext cx="5254600" cy="3017520"/>
          </a:xfrm>
          <a:prstGeom prst="roundRect">
            <a:avLst>
              <a:gd name="adj" fmla="val 1061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16472" y="1664208"/>
            <a:ext cx="477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貴所負責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6472" y="21396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35928" y="21396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機關關係、標案資訊與投標主導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16472" y="24048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35928" y="24048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工程專業與簽證責任（監造、專管、技師簽章）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6472" y="267004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35928" y="267004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本案的作業流程、表單格式與審查眉角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6472" y="293522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35928" y="293522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現場人力與實際履約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6472" y="320040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35928" y="320040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對機關的單一窗口（由貴所出面，我方在後）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" y="4718304"/>
            <a:ext cx="10874959" cy="115214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7824" y="4882896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兩件先講清楚，之後才不會卡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7824" y="5230368"/>
            <a:ext cx="104360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6"/>
              </a:lnSpc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、掛名與計費方式（分包、共同投標、或貴所直接向機關訂閱系統再由我方供應）三種都可以談，但要在投標前定，因為它會影響採購歸類與資安要求的層級。二、資料歸屬：案件資料屬於機關與貴所，我方不做跨案商業利用，契約可寫明期滿刪除與資料可攜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怎麼開始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17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階梯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合作可以從很小開始。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①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先看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77824" y="2578608"/>
            <a:ext cx="580644" cy="237744"/>
          </a:xfrm>
          <a:prstGeom prst="roundRect">
            <a:avLst>
              <a:gd name="adj" fmla="val 11538"/>
            </a:avLst>
          </a:prstGeom>
          <a:solidFill>
            <a:srgbClr val="E1F1E9"/>
          </a:solidFill>
          <a:ln>
            <a:solidFill>
              <a:srgbClr val="E1F1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零承諾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示範站現在就能打開，貴所自己點完整流程。要更深入的話，我方到貴所做一次一小時的操作說明。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30 分鐘，現在就可以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5688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6514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65144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用真文件跑一次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65144" y="2578608"/>
            <a:ext cx="580644" cy="237744"/>
          </a:xfrm>
          <a:prstGeom prst="roundRect">
            <a:avLst>
              <a:gd name="adj" fmla="val 11538"/>
            </a:avLst>
          </a:prstGeom>
          <a:solidFill>
            <a:srgbClr val="E1F1E9"/>
          </a:solidFill>
          <a:ln>
            <a:solidFill>
              <a:srgbClr val="E1F1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A7F4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零採購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65144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貴所挑一份手上的契約與規範（可去識別化），我方在測試環境跑一次抽取與期限建立，讓貴所看真文件出來的結果，不是示範資料。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65144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5144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貴所出一份文件，我方數小時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3008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5246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③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52464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單一功能先用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52464" y="2578608"/>
            <a:ext cx="580644" cy="237744"/>
          </a:xfrm>
          <a:prstGeom prst="roundRect">
            <a:avLst>
              <a:gd name="adj" fmla="val 11538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小範圍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52464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不必整套導入。例如只用契約期限追蹤，或只用送審審查助手，綁在一個案子上試三到六個月。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52464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2464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綁一個案子，三到六個月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20327" y="1481328"/>
            <a:ext cx="2513000" cy="3200400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39783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5A85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④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9239783" y="2176272"/>
            <a:ext cx="207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單案訂閱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239783" y="2578608"/>
            <a:ext cx="694944" cy="237744"/>
          </a:xfrm>
          <a:prstGeom prst="roundRect">
            <a:avLst>
              <a:gd name="adj" fmla="val 11538"/>
            </a:avLst>
          </a:prstGeom>
          <a:solidFill>
            <a:srgbClr val="E4EDF5"/>
          </a:solidFill>
          <a:ln>
            <a:solidFill>
              <a:srgbClr val="E4E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正式合作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39783" y="2962656"/>
            <a:ext cx="20740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一個專案一份訂閱，三方（廠商／監造／機關）都進來。此時才需要走採購程序，屆時再談甲乙丙哪種掛名方式。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39783" y="4279392"/>
            <a:ext cx="2074088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9783" y="4352544"/>
            <a:ext cx="207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依專案期程，走採購程序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" y="4901184"/>
            <a:ext cx="10874959" cy="786384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956048"/>
            <a:ext cx="1039947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為什麼建議從②開始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資料再漂亮，都回答不了貴所真正的問題：「我的契約丟進去，抽得出東西嗎？」跑一次真文件只花我方幾個小時，卻是唯一能讓雙方同時知道值不值得繼續的做法。貴所不必先付費、不必先簽約，只要願意提供一份文件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怎麼開始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18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丙案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你們出 know-how，我方出系統。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874959" cy="1133856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這條路對我方的價值高於前兩條，所以對價可以談得比較開。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104360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系統的骨架已經有了，缺的是「真正在做這件事的人怎麼做」——哪張表機關一定會退、哪個欄位其實沒人填、哪個順序在現場根本跑不動。這種東西買不到，也不是多寫幾行程式能補的。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2798064"/>
            <a:ext cx="5254600" cy="2432304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962656"/>
            <a:ext cx="477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貴所可能提供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34015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340156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一到兩個真實案件的完整文件（可去識別化）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36667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15568" y="366674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貴所實際在用的表單、檢核表與報表格式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39319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" y="393192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每兩週一次、一小時的意見回饋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6112" y="41970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15568" y="41970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被機關退件的真實案例與理由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44622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" y="44622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願意當第一個對外可提及的合作對象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2798064"/>
            <a:ext cx="5254600" cy="2432304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6472" y="2962656"/>
            <a:ext cx="477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我方可能提供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6472" y="3401568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35928" y="3401568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依貴所流程調整的功能，優先排進開發順序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16472" y="3666744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35928" y="3666744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導入期間的長期優惠或免費使用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16472" y="3931920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35928" y="3931920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共同掛名（對外案例、投標實績）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16472" y="4197096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35928" y="4197096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貴所案件的資料匯出權，隨時可帶走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6472" y="4462272"/>
            <a:ext cx="219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35928" y="4462272"/>
            <a:ext cx="4559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其他對價形式——包含股權，可談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5413248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468112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保密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任何文件在交付前先簽保密約定；去識別化程度由貴所決定，我方不需要真實的機關名稱與金額也能做。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怎麼開始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19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C0520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下一步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今天只要決定一件事就好。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874959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45920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貴所願不願意提供一份手上的契約與規範，讓我跑一次？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1993392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可以去識別化，可以是已結案的舊案。我方跑完之後把結果整理成一份對照給貴所看：抽到哪些期限、哪些罰則、出處對不對、漏了什麼。看完之後貴所再決定要不要繼續談甲乙丙。不需要簽約，不需要付費，保密約定我方先簽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072384"/>
            <a:ext cx="3417722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3218688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不急，但想問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7824" y="3493008"/>
            <a:ext cx="29788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貴所目前手上的監造／專管案，最花人力的是哪一段？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6986" y="3072384"/>
            <a:ext cx="3417722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6442" y="3218688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不急，但想問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06442" y="3493008"/>
            <a:ext cx="29788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機關近兩年要求貴所補的佐證，最常是哪一類？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5605" y="3072384"/>
            <a:ext cx="3417722" cy="13716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  <a:effectLst>
            <a:outerShdw sx="100000" sy="100000" kx="0" ky="0" algn="bl" rotWithShape="0" blurRad="88900" dist="445" dir="5400000">
              <a:srgbClr val="93A3B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35061" y="3218688"/>
            <a:ext cx="29788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A8794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真的不急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35061" y="3493008"/>
            <a:ext cx="29788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D2B39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如果未來要合作，貴所偏好甲、乙、丙哪一種形狀？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663440"/>
            <a:ext cx="10874959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718304"/>
            <a:ext cx="103994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1B548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示範站　</a:t>
            </a:r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E5F70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gov-agent.ai — 選任一角色即可進入，不需帳號、不必留資料。裡面是示範資料，流程與畫面都是真的。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4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封底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04527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20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PMIS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029968" y="27432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630C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.ai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5295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讓監造與專管的每一位工程師，配一個讀過本案契約的 Agent。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4114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gov-agent.ai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4791456"/>
            <a:ext cx="5120640" cy="0"/>
          </a:xfrm>
          <a:prstGeom prst="line">
            <a:avLst/>
          </a:prstGeom>
          <a:noFill/>
          <a:ln w="12700">
            <a:solidFill>
              <a:srgbClr val="2E6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974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8DE"/>
                </a:solidFill>
                <a:latin typeface="Arial" pitchFamily="34" charset="0"/>
                <a:ea typeface="Microsoft JhengHei"/>
                <a:cs typeface="Microsoft JhengHei"/>
                <a:ea typeface="Arial" pitchFamily="34" charset="-122"/>
                <a:cs typeface="Arial" pitchFamily="34" charset="-120"/>
              </a:rPr>
              <a:t>甲　你們自己用　·　乙　一起接案　·　丙　你們出 know-how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PMIS.ai — 合作簡報（事務所／工程顧問公司）</dc:title>
  <dc:subject>PptxGenJS Presentation</dc:subject>
  <dc:creator>PMIS.ai</dc:creator>
  <cp:lastModifiedBy>PMIS.ai</cp:lastModifiedBy>
  <cp:revision>1</cp:revision>
  <dcterms:created xsi:type="dcterms:W3CDTF">2026-08-19T10:27:09Z</dcterms:created>
  <dcterms:modified xsi:type="dcterms:W3CDTF">2026-08-19T10:27:09Z</dcterms:modified>
</cp:coreProperties>
</file>